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FF9114"/>
            </a:solidFill>
            <a:ln w="31750" cap="flat">
              <a:solidFill>
                <a:srgbClr val="FF91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A1E2D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114"/>
              </a:solidFill>
              <a:ln w="9525" cap="flat">
                <a:solidFill>
                  <a:srgbClr val="FF91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  <c:pt idx="5">
                    <c:v>Aug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200</c:v>
                </c:pt>
                <c:pt idx="1">
                  <c:v>244</c:v>
                </c:pt>
                <c:pt idx="2">
                  <c:v>298</c:v>
                </c:pt>
                <c:pt idx="3">
                  <c:v>363</c:v>
                </c:pt>
                <c:pt idx="4">
                  <c:v>443</c:v>
                </c:pt>
                <c:pt idx="5">
                  <c:v>540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A1E2D"/>
                  </a:solidFill>
                  <a:latin typeface="Poppins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7B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4DB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E7B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0A1E2D"/>
            </a:solidFill>
            <a:effectLst/>
          </c:spPr>
          <c:invertIfNegative val="0"/>
          <c:dLbls>
            <c:numFmt formatCode="&quot;$&quot;#,##0&quot;K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A1E2D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410</c:v>
                </c:pt>
                <c:pt idx="2">
                  <c:v>1200</c:v>
                </c:pt>
              </c:numCache>
            </c:numRef>
          </c:val>
        </c:ser>
        <c:dLbls>
          <c:numFmt formatCode="&quot;$&quot;#,##0&quot;K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A1E2D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B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(~15s): Jambo, I'm Amina Odhiambo, CEO of Mizani. We build bookkeeping that turns a duka's daily sales into a credit score banks actually recognise. Seven point four million shops run on paper; let me show you what that costs them, and the wedge it opens for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(~30s): Every duka runs on a notebook and memory. That costs the average owner around nine thousand shillings a month, illustrative here; source yours, in leakage and stockouts. Worse: when the owner needs stock financing, there is no record a lender can read, so eighty-four percent of applications are rejected. The tool they trust is the thing locking them out of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(~30s): Mizani is bookkeeping that pays for itself in credit. The owner snaps each sale, ten seconds, any phone, vernacular-first. Behind that, every entry feeds the Mizani Score, a credit signal our partner lenders recognise. Why now: smartphone penetration in this segment crossed sixty-one percent, and open-banking rails went live last year. The rails finally exist, we're the first ledger built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(~40s): Three steps. Record: snap or voice-note the sale. Reconcile: we build the P&amp;L and flag stock issues automatically. Get credit: the Score travels to lenders through our API. Capture, ledger and Score v1 are live today; the lender API ships next. If demoing live: this is Mary's shop in Kawangware, her Score unlocked a forty-thousand-shilling stock loan in March. Rehearse the demo path twice; never improvise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(~25s): We size this bottom-up. The wedge is one hundred eighty thousand smartphone-owning shops around Nairobi at two hundred fifty shillings a month, about four point two million dollars a year before loan referrals. The reachable market is two point one million retailers, ninety-six million dollars. Top-down numbers here are illustrative; cite your own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(~25s): Two revenue lines: subscription at two hundred fifty shillings a month, plus two percent of every loan placed. A shop costs eighteen dollars to acquire through agents and returns eighty-four, four point seven to one, payback inside three months, sixty-eight percent gross margin. Data licensing to lenders is the expansion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(~30s): Six months of paying customers: one thousand eight hundred forty shops, five hundred forty thousand shillings of MRR, compounding twenty-two percent month-on-month with four percent churn. The proof of the model: two lender pilots have placed eighteen million shillings through Mizani Scores, and a shop that gets its first loan doesn't churn.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(~25s): Our real competitor is the notebook, free and familiar, but invisible to lenders. POS systems need thirty-thousand-shilling hardware and English. We're zero-hardware, vernacular-first, and lender-integrated. The moat compounds: repayment data on thin-file borrowers that any copycat starts without.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(~25s): The machine today: twelve market agents, forty shops each per month, at an eighteen-dollar CAC that has held across every agent, not just the first two. A third of new signups now come from airtime-bonus referrals, which pushes blended CAC down as we grow. Next channel: SACCO partnerships across nine counties.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(~20s): I grew up keeping the books in my family's duka, then ran SME products at a telco. Brian spent eight years building lending infrastructure. Our advisor wrote central-bank credit policy. Every hard part of this company has an owner who has done it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(~20s): The illustrative path: ninety-two thousand ARR next year, four hundred ten, then one point two million by twenty twenty-nine, driven by a single assumption: twenty-two thousand shops across nine counties at three hundred ten shillings blended ARPU. We burn nine thousand a month; eleven months of runway.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(~25s): We're raising three hundred fifty thousand dollars: forty-five percent growth, thirty-five product, twenty ops. By month eighteen: ten thousand shops, forty-five thousand dollars of MRR, and three lender integrations, the milestones that price the next round. I'm Amina, amina at mizani dot example. Asante. Leave this slide up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0112" y="512064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0A1E2D"/>
          </a:solidFill>
          <a:ln w="15875">
            <a:solidFill>
              <a:srgbClr val="FF91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0112" y="4937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1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SAMPLE DECK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</a:t>
            </a:r>
            <a:pPr indent="0" marL="0">
              <a:buNone/>
            </a:pPr>
            <a:r>
              <a:rPr lang="en-US" sz="8400" b="1" dirty="0">
                <a:solidFill>
                  <a:srgbClr val="FF91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Bookkeeping that turns daily duka sales into bank-ready credit scores.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B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Amina Odhiambo, CEO   ·   Nairobi   ·   amina@mizani.example</a:t>
            </a:r>
            <a:endParaRPr lang="en-US" sz="1250" dirty="0"/>
          </a:p>
        </p:txBody>
      </p:sp>
      <p:pic>
        <p:nvPicPr>
          <p:cNvPr id="7" name="Image 0" descr="photos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17320"/>
            <a:ext cx="3959352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0" y="572414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DB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Nyeri County, Kenya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" y="638251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B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HackHouse Residency worked example: fictional company, illustrative figures.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537192" y="63459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HackHouse</a:t>
            </a:r>
            <a:pPr algn="r" indent="0" marL="0">
              <a:buNone/>
            </a:pPr>
            <a:r>
              <a:rPr lang="en-US" sz="1300" b="1" dirty="0">
                <a:solidFill>
                  <a:srgbClr val="FF91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120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·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Duka owners lose KES 9,000 a month to paper records.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04288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5" name="Image 0" descr="icons/store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91" y="2461199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226771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7.4M informal retailers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81328" y="25786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till on notebooks and memory.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9" name="Image 1" descr="icons/filex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91" y="3448751"/>
            <a:ext cx="289682" cy="28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81328" y="32552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84% of loan applications rejected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81328" y="3566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no record a lender can read.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279392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13" name="Image 2" descr="icons/down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91" y="4436303"/>
            <a:ext cx="289682" cy="2896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81328" y="424281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~12% of revenue lost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81328" y="455371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stock leakage and stockouts.</a:t>
            </a:r>
            <a:endParaRPr lang="en-US" sz="1250" dirty="0"/>
          </a:p>
        </p:txBody>
      </p:sp>
      <p:pic>
        <p:nvPicPr>
          <p:cNvPr id="16" name="Image 3" descr="photos/ledg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10912"/>
            <a:ext cx="6016752" cy="12070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178040" y="2240280"/>
            <a:ext cx="4370832" cy="3611880"/>
          </a:xfrm>
          <a:prstGeom prst="roundRect">
            <a:avLst>
              <a:gd name="adj" fmla="val 3544"/>
            </a:avLst>
          </a:prstGeom>
          <a:solidFill>
            <a:srgbClr val="0A1E2D"/>
          </a:solidFill>
          <a:ln/>
        </p:spPr>
      </p:sp>
      <p:sp>
        <p:nvSpPr>
          <p:cNvPr id="18" name="Text 12"/>
          <p:cNvSpPr/>
          <p:nvPr/>
        </p:nvSpPr>
        <p:spPr>
          <a:xfrm>
            <a:off x="75438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B0B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COST OF PAPER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7498080" y="28803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91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9,000</a:t>
            </a:r>
            <a:endParaRPr lang="en-US" sz="8800" dirty="0"/>
          </a:p>
        </p:txBody>
      </p:sp>
      <p:sp>
        <p:nvSpPr>
          <p:cNvPr id="20" name="Text 14"/>
          <p:cNvSpPr/>
          <p:nvPr/>
        </p:nvSpPr>
        <p:spPr>
          <a:xfrm>
            <a:off x="754380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 lost per shop, every month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54380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DB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*Illustrative. Replace with your sourced figure.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640080" y="6510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 · SAMPLE DECK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7434072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ILLUSTRATIVE FIGURES · 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120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·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Mizani: snap a sale, build a credit score.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10128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596896"/>
            <a:ext cx="658368" cy="658368"/>
          </a:xfrm>
          <a:prstGeom prst="ellipse">
            <a:avLst/>
          </a:prstGeom>
          <a:solidFill>
            <a:srgbClr val="F7F2E9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6" name="Image 0" descr="icons/boo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864" y="2768072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419856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32688" y="3657600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Paper ledger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32688" y="4023360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and familiar, but invisible to lenders.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286000"/>
            <a:ext cx="3310128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27448" y="2596896"/>
            <a:ext cx="658368" cy="658368"/>
          </a:xfrm>
          <a:prstGeom prst="ellipse">
            <a:avLst/>
          </a:prstGeom>
          <a:solidFill>
            <a:srgbClr val="F7F2E9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12" name="Image 1" descr="icons/zap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624" y="2768072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7448" y="3419856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727448" y="3657600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10-second capture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727448" y="4023360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 or voice-note every sale, on any phone.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0" y="2286000"/>
            <a:ext cx="3310128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22208" y="2596896"/>
            <a:ext cx="658368" cy="658368"/>
          </a:xfrm>
          <a:prstGeom prst="ellipse">
            <a:avLst/>
          </a:prstGeom>
          <a:solidFill>
            <a:srgbClr val="0A1E2D"/>
          </a:solidFill>
          <a:ln w="12700">
            <a:solidFill>
              <a:srgbClr val="0A1E2D"/>
            </a:solidFill>
            <a:prstDash val="solid"/>
          </a:ln>
        </p:spPr>
      </p:sp>
      <p:pic>
        <p:nvPicPr>
          <p:cNvPr id="18" name="Image 2" descr="icons/badge-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384" y="2768072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22208" y="3419856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PAYOFF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522208" y="3657600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Mizani Score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522208" y="4023360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credit signal partner lenders recognise.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037076" y="325983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7831836" y="325983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640080" y="516636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NOW: </a:t>
            </a:r>
            <a:pPr indent="0" marL="0">
              <a:buNone/>
            </a:pPr>
            <a:r>
              <a:rPr lang="en-US" sz="1450" dirty="0">
                <a:solidFill>
                  <a:srgbClr val="0A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61% smartphone penetration in the segment, and open-banking rails live since 2025.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40080" y="5614416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rails finally exist. Mizani is the first ledger built for them.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40080" y="6510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 · SAMPLE DECK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7434072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ILLUSTRATIVE FIGURES · 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120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·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Record. Reconcile. Get credit.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5" name="Image 0" descr="icons/camera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91" y="2488631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2441448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  </a:t>
            </a:r>
            <a:pPr indent="0" marL="0">
              <a:buNone/>
            </a:pPr>
            <a:r>
              <a:rPr lang="en-US" sz="130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 Snap or voice-note each sale in 10 seconds, on any phone.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3392424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8" name="Image 1" descr="icons/filetext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91" y="3549335"/>
            <a:ext cx="289682" cy="289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3502152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Reconcile  </a:t>
            </a:r>
            <a:pPr indent="0" marL="0">
              <a:buNone/>
            </a:pPr>
            <a:r>
              <a:rPr lang="en-US" sz="130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 Auto P&amp;L, stock alerts, clean monthly statements.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4453128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11" name="Image 2" descr="icons/ban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91" y="4610039"/>
            <a:ext cx="289682" cy="2896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81328" y="4562856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credit  </a:t>
            </a:r>
            <a:pPr indent="0" marL="0">
              <a:buNone/>
            </a:pPr>
            <a:r>
              <a:rPr lang="en-US" sz="130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 The Mizani Score travels to partner lenders via API.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5623560"/>
            <a:ext cx="35204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0080" y="560527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TODAY · CAPTURE · LEDGER · SCORE V1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343400" y="5623560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0A1E2D"/>
          </a:solidFill>
          <a:ln w="12700">
            <a:solidFill>
              <a:srgbClr val="0A1E2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343400" y="560527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· LENDER API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8732520" y="1463040"/>
            <a:ext cx="2788920" cy="4754880"/>
          </a:xfrm>
          <a:prstGeom prst="roundRect">
            <a:avLst>
              <a:gd name="adj" fmla="val 9836"/>
            </a:avLst>
          </a:prstGeom>
          <a:solidFill>
            <a:srgbClr val="0A1E2D"/>
          </a:solidFill>
          <a:ln/>
        </p:spPr>
      </p:sp>
      <p:sp>
        <p:nvSpPr>
          <p:cNvPr id="18" name="Shape 13"/>
          <p:cNvSpPr/>
          <p:nvPr/>
        </p:nvSpPr>
        <p:spPr>
          <a:xfrm>
            <a:off x="8860536" y="1618488"/>
            <a:ext cx="2532888" cy="4443984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/>
        </p:spPr>
      </p:sp>
      <p:sp>
        <p:nvSpPr>
          <p:cNvPr id="19" name="Text 14"/>
          <p:cNvSpPr/>
          <p:nvPr/>
        </p:nvSpPr>
        <p:spPr>
          <a:xfrm>
            <a:off x="9015984" y="179222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</a:t>
            </a:r>
            <a:pPr indent="0" marL="0">
              <a:buNone/>
            </a:pPr>
            <a:r>
              <a:rPr lang="en-US" sz="1200" b="1" dirty="0">
                <a:solidFill>
                  <a:srgbClr val="FF91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15984" y="2212848"/>
            <a:ext cx="2221992" cy="658368"/>
          </a:xfrm>
          <a:prstGeom prst="roundRect">
            <a:avLst>
              <a:gd name="adj" fmla="val 12500"/>
            </a:avLst>
          </a:prstGeom>
          <a:solidFill>
            <a:srgbClr val="F7F2E9"/>
          </a:solidFill>
          <a:ln/>
        </p:spPr>
      </p:sp>
      <p:sp>
        <p:nvSpPr>
          <p:cNvPr id="21" name="Text 16"/>
          <p:cNvSpPr/>
          <p:nvPr/>
        </p:nvSpPr>
        <p:spPr>
          <a:xfrm>
            <a:off x="9144000" y="228600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 captured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KES 1,240 · 10:42 am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15984" y="2999232"/>
            <a:ext cx="2221992" cy="658368"/>
          </a:xfrm>
          <a:prstGeom prst="roundRect">
            <a:avLst>
              <a:gd name="adj" fmla="val 12500"/>
            </a:avLst>
          </a:prstGeom>
          <a:solidFill>
            <a:srgbClr val="F7F2E9"/>
          </a:solidFill>
          <a:ln/>
        </p:spPr>
      </p:sp>
      <p:sp>
        <p:nvSpPr>
          <p:cNvPr id="23" name="Text 18"/>
          <p:cNvSpPr/>
          <p:nvPr/>
        </p:nvSpPr>
        <p:spPr>
          <a:xfrm>
            <a:off x="9144000" y="307238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 alert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Sugar: 2 days left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9015984" y="3785616"/>
            <a:ext cx="2221992" cy="896112"/>
          </a:xfrm>
          <a:prstGeom prst="roundRect">
            <a:avLst>
              <a:gd name="adj" fmla="val 9184"/>
            </a:avLst>
          </a:prstGeom>
          <a:solidFill>
            <a:srgbClr val="FF9114"/>
          </a:solidFill>
          <a:ln/>
        </p:spPr>
      </p:sp>
      <p:sp>
        <p:nvSpPr>
          <p:cNvPr id="25" name="Text 20"/>
          <p:cNvSpPr/>
          <p:nvPr/>
        </p:nvSpPr>
        <p:spPr>
          <a:xfrm>
            <a:off x="9144000" y="3858768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 SCORE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712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9015984" y="48097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with 2 partner lenders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9852660" y="5888736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4DBC9"/>
          </a:solidFill>
          <a:ln/>
        </p:spPr>
      </p:sp>
      <p:sp>
        <p:nvSpPr>
          <p:cNvPr id="28" name="Text 23"/>
          <p:cNvSpPr/>
          <p:nvPr/>
        </p:nvSpPr>
        <p:spPr>
          <a:xfrm>
            <a:off x="640080" y="6510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 · SAMPLE DECK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7434072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ILLUSTRATIVE FIGURES · 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120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·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180,000 Nairobi-area shops: our first wedge.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1554480" cy="3200400"/>
          </a:xfrm>
          <a:prstGeom prst="rect">
            <a:avLst/>
          </a:prstGeom>
          <a:solidFill>
            <a:srgbClr val="0A1E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39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$410M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5715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TAM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E. Africa SMB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money tools*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3794760"/>
            <a:ext cx="1554480" cy="1828800"/>
          </a:xfrm>
          <a:prstGeom prst="rect">
            <a:avLst/>
          </a:prstGeom>
          <a:solidFill>
            <a:srgbClr val="5E6E7B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3410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$96M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651760" y="5715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2.1M smartphone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retailers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4846320"/>
            <a:ext cx="1554480" cy="777240"/>
          </a:xfrm>
          <a:prstGeom prst="rect">
            <a:avLst/>
          </a:prstGeom>
          <a:solidFill>
            <a:srgbClr val="FF9114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44622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$4.2M/yr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5715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180K shops ×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KES 250/mo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2286000"/>
            <a:ext cx="4370832" cy="345643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2606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WEDGE MATH · BOTTOM-UP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0" y="29718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180,000 shops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A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KES 250 / month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 KES 540M a year  (~$4.2M)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498080" y="4434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 referrals lift ARPU beyond the subscription.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98080" y="5285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*Top-down sizes illustrative. Cite your sources.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510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 · SAMPLE DECK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34072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ILLUSTRATIVE FIGURES · 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120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· 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KES 250 a month, plus 2% of every loan we place.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3127248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487168"/>
            <a:ext cx="548640" cy="548640"/>
          </a:xfrm>
          <a:prstGeom prst="ellipse">
            <a:avLst/>
          </a:prstGeom>
          <a:solidFill>
            <a:srgbClr val="F7F2E9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6" name="Image 0" descr="icons/wallet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62981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523744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CAC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72768" y="274320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$18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96112" y="3511296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agent-led acquisition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71900" y="28986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142232" y="2212848"/>
            <a:ext cx="3127248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98264" y="2487168"/>
            <a:ext cx="548640" cy="548640"/>
          </a:xfrm>
          <a:prstGeom prst="ellipse">
            <a:avLst/>
          </a:prstGeom>
          <a:solidFill>
            <a:srgbClr val="F7F2E9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13" name="Image 1" descr="icons/clock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910" y="2629814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2523744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PAYBACK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074920" y="274320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~3 mo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398264" y="3511296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subscription alone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274052" y="28986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7644384" y="2212848"/>
            <a:ext cx="3127248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900416" y="2487168"/>
            <a:ext cx="548640" cy="548640"/>
          </a:xfrm>
          <a:prstGeom prst="ellipse">
            <a:avLst/>
          </a:prstGeom>
          <a:solidFill>
            <a:srgbClr val="F7F2E9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20" name="Image 2" descr="icons/up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062" y="2629814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77072" y="2523744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LTV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577072" y="274320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$84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7900416" y="3511296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 + loan referrals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0080" y="4434840"/>
            <a:ext cx="6720840" cy="1481328"/>
          </a:xfrm>
          <a:prstGeom prst="roundRect">
            <a:avLst>
              <a:gd name="adj" fmla="val 8642"/>
            </a:avLst>
          </a:prstGeom>
          <a:solidFill>
            <a:srgbClr val="0A1E2D"/>
          </a:solidFill>
          <a:ln/>
        </p:spPr>
      </p:sp>
      <p:sp>
        <p:nvSpPr>
          <p:cNvPr id="25" name="Text 20"/>
          <p:cNvSpPr/>
          <p:nvPr/>
        </p:nvSpPr>
        <p:spPr>
          <a:xfrm>
            <a:off x="1005840" y="464515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91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4.7×</a:t>
            </a:r>
            <a:endParaRPr lang="en-US" sz="5400" dirty="0"/>
          </a:p>
        </p:txBody>
      </p:sp>
      <p:sp>
        <p:nvSpPr>
          <p:cNvPr id="26" name="Text 21"/>
          <p:cNvSpPr/>
          <p:nvPr/>
        </p:nvSpPr>
        <p:spPr>
          <a:xfrm>
            <a:off x="3429000" y="4846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LTV to CAC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DB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payback inside three months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7680960" y="4434840"/>
            <a:ext cx="3867912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001000" y="477316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68% gross margin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Expansion: lender data licensing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40080" y="6510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 · SAMPLE DECK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7434072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ILLUSTRATIVE FIGURES · 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120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 · 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KES 540K MRR, growing </a:t>
            </a:r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B8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22% month-on-month</a:t>
            </a:r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933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Monthly recurring revenue, KES '000. Six months of paying customers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331720"/>
          <a:ext cx="66751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2331720"/>
            <a:ext cx="3913632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73568" y="26700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1,840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973568" y="31729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paying shops in 6 months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73568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973568" y="4343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churn; loans lock them 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73568" y="50109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KES 18M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973568" y="5513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placed via 2 lender pilots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6510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 · SAMPLE DECK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434072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ILLUSTRATIVE FIGURES · 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120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 · 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win the shops POS systems can't afford to serve.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0879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697480"/>
                <a:gridCol w="2697480"/>
                <a:gridCol w="322783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EFE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Notebooks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EFE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POS / ERP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E2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Mizani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11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E6E7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Price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A1E2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Free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A1E2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KES 30K+ hardware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E2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KES 250 / month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E6E7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Lender-visible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A1E2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No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A1E2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No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E2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Yes, via the Mizani Score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E6E7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Built for dukas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A1E2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Familiar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A1E2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English-first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E2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Vernacular-first, zero hardware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212080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6" name="Image 0" descr="icons/shield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91" y="5368991"/>
            <a:ext cx="289682" cy="2896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1328" y="526694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Moat forming: </a:t>
            </a:r>
            <a:pPr indent="0" marL="0">
              <a:buNone/>
            </a:pPr>
            <a:r>
              <a:rPr lang="en-US" sz="1400" dirty="0">
                <a:solidFill>
                  <a:srgbClr val="0A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repayment data on thin-file borrowers. Every cycle deepens it; a copycat starts at zero.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6510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 · SAMPLE DECK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434072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ILLUSTRATIVE FIGURES · 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120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 · 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Twelve agents sign 40 shops each, every month.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9572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5" name="Image 0" descr="icons/mega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2562149"/>
            <a:ext cx="307238" cy="3072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36192" y="242316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A1E2D"/>
          </a:solidFill>
          <a:ln w="12700">
            <a:solidFill>
              <a:srgbClr val="0A1E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36192" y="240487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651760" y="23774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agents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651760" y="276148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agents, 40 shops each per month; CAC steady across the whole team.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40680" y="23774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F9114"/>
          </a:solidFill>
          <a:ln w="12700">
            <a:solidFill>
              <a:srgbClr val="FF911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0680" y="23591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CAC $18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3621024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13" name="Image 1" descr="icons/repeat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3787445"/>
            <a:ext cx="307238" cy="30723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536192" y="364845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536192" y="36301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MOTION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2651760" y="36027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Referral loop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2651760" y="3986784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Market-day demos, paid forward with airtime referral bonuses.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40680" y="3602736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40680" y="3584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33% referrals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40080" y="4846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pic>
        <p:nvPicPr>
          <p:cNvPr id="21" name="Image 2" descr="icons/hand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5012741"/>
            <a:ext cx="307238" cy="30723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536192" y="487375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536192" y="485546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2651760" y="48280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SACCO partnerships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2651760" y="521208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Savings co-operatives as trusted distribution into new counties.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440680" y="4828032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40680" y="48097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counties</a:t>
            </a:r>
            <a:endParaRPr lang="en-US" sz="1000" dirty="0"/>
          </a:p>
        </p:txBody>
      </p:sp>
      <p:pic>
        <p:nvPicPr>
          <p:cNvPr id="28" name="Image 3" descr="photos/gt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395728"/>
            <a:ext cx="3959352" cy="34290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89520" y="5888736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onboarding at the hatch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640080" y="6510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 · SAMPLE DECK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7434072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ILLUSTRATIVE FIGURES · 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120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·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We've kept the books and built the rails.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56432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615184"/>
            <a:ext cx="841248" cy="841248"/>
          </a:xfrm>
          <a:prstGeom prst="ellipse">
            <a:avLst/>
          </a:prstGeom>
          <a:solidFill>
            <a:srgbClr val="0A1E2D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59689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50976" y="3657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Amina Odhiambo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0976" y="39867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CO-FOUNDER · CEO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50976" y="4279392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Grew up in her family's duka; ex-telco SME product lead.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2286000"/>
            <a:ext cx="3456432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72584" y="2615184"/>
            <a:ext cx="841248" cy="841248"/>
          </a:xfrm>
          <a:prstGeom prst="ellipse">
            <a:avLst/>
          </a:prstGeom>
          <a:solidFill>
            <a:srgbClr val="0A1E2D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259689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72584" y="3657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Brian Mutua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72584" y="39867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CO-FOUNDER · CTO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72584" y="4279392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years building lending infrastructure.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3296" y="2286000"/>
            <a:ext cx="3456432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94192" y="2615184"/>
            <a:ext cx="841248" cy="841248"/>
          </a:xfrm>
          <a:prstGeom prst="ellipse">
            <a:avLst/>
          </a:prstGeom>
          <a:solidFill>
            <a:srgbClr val="0A1E2D"/>
          </a:solidFill>
          <a:ln/>
        </p:spPr>
      </p:sp>
      <p:pic>
        <p:nvPicPr>
          <p:cNvPr id="18" name="Image 0" descr="icons/bank-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2834640"/>
            <a:ext cx="402336" cy="40233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394192" y="3657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Credit-policy advisor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94192" y="39867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ADVISOR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394192" y="4279392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Former central-bank credit-policy lead.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0080" y="54864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5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“Every hard part of this company has an owner who's done it before.”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0080" y="6510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 · SAMPLE DECK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434072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ILLUSTRATIVE FIGURES · 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120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· FINANCIALS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Path to </a:t>
            </a:r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B8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$1.2M ARR</a:t>
            </a:r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A1E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by 2029.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933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Projected ARR, $ '000, illustrative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331720"/>
          <a:ext cx="63093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2331720"/>
            <a:ext cx="4233672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ONE ASSUMPTION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635240" y="299923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A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22,000 shops across nine counties at KES 310 blended ARPU.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35240" y="3977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else is arithmetic. Challenge this number.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0" y="4800600"/>
            <a:ext cx="4233672" cy="1325880"/>
          </a:xfrm>
          <a:prstGeom prst="roundRect">
            <a:avLst>
              <a:gd name="adj" fmla="val 9655"/>
            </a:avLst>
          </a:prstGeom>
          <a:solidFill>
            <a:srgbClr val="0A1E2D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5074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Burn $9K / month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DB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months runway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6510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 · SAMPLE DECK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434072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6E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ILLUSTRATIVE FIGURES · 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120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B0B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· 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Raising </a:t>
            </a:r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91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$350K</a:t>
            </a:r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reach 10,000 shops.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762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B0B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4854092" cy="54864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23744"/>
            <a:ext cx="4854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Growth · 45%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907792"/>
            <a:ext cx="4598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&amp; referrals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49036" y="2834640"/>
            <a:ext cx="3763213" cy="548640"/>
          </a:xfrm>
          <a:prstGeom prst="rect">
            <a:avLst/>
          </a:prstGeom>
          <a:solidFill>
            <a:srgbClr val="8FA3B0"/>
          </a:solidFill>
          <a:ln/>
        </p:spPr>
      </p:sp>
      <p:sp>
        <p:nvSpPr>
          <p:cNvPr id="9" name="Text 7"/>
          <p:cNvSpPr/>
          <p:nvPr/>
        </p:nvSpPr>
        <p:spPr>
          <a:xfrm>
            <a:off x="5549036" y="2523744"/>
            <a:ext cx="37632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· 35%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77052" y="2907792"/>
            <a:ext cx="35071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lender API &amp; Score v2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67114" y="2834640"/>
            <a:ext cx="2126894" cy="548640"/>
          </a:xfrm>
          <a:prstGeom prst="rect">
            <a:avLst/>
          </a:prstGeom>
          <a:solidFill>
            <a:srgbClr val="5E6E7B"/>
          </a:solidFill>
          <a:ln/>
        </p:spPr>
      </p:sp>
      <p:sp>
        <p:nvSpPr>
          <p:cNvPr id="12" name="Text 10"/>
          <p:cNvSpPr/>
          <p:nvPr/>
        </p:nvSpPr>
        <p:spPr>
          <a:xfrm>
            <a:off x="9367114" y="2523744"/>
            <a:ext cx="2126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Ops · 20%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95130" y="2907792"/>
            <a:ext cx="18708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finance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41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B0B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MONTH 18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3456432" cy="786384"/>
          </a:xfrm>
          <a:prstGeom prst="roundRect">
            <a:avLst>
              <a:gd name="adj" fmla="val 13953"/>
            </a:avLst>
          </a:prstGeom>
          <a:solidFill>
            <a:srgbClr val="13293C"/>
          </a:solidFill>
          <a:ln w="12700">
            <a:solidFill>
              <a:srgbClr val="2A4257"/>
            </a:solidFill>
            <a:prstDash val="solid"/>
          </a:ln>
        </p:spPr>
      </p:sp>
      <p:pic>
        <p:nvPicPr>
          <p:cNvPr id="16" name="Image 0" descr="icons/store-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590288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44752" y="4389120"/>
            <a:ext cx="24963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10,000 shops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4361688" y="4389120"/>
            <a:ext cx="3456432" cy="786384"/>
          </a:xfrm>
          <a:prstGeom prst="roundRect">
            <a:avLst>
              <a:gd name="adj" fmla="val 13953"/>
            </a:avLst>
          </a:prstGeom>
          <a:solidFill>
            <a:srgbClr val="13293C"/>
          </a:solidFill>
          <a:ln w="12700">
            <a:solidFill>
              <a:srgbClr val="2A4257"/>
            </a:solidFill>
            <a:prstDash val="solid"/>
          </a:ln>
        </p:spPr>
      </p:sp>
      <p:pic>
        <p:nvPicPr>
          <p:cNvPr id="19" name="Image 1" descr="icons/up-p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4590288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66360" y="4389120"/>
            <a:ext cx="24963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$45K MRR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8083296" y="4389120"/>
            <a:ext cx="3456432" cy="786384"/>
          </a:xfrm>
          <a:prstGeom prst="roundRect">
            <a:avLst>
              <a:gd name="adj" fmla="val 13953"/>
            </a:avLst>
          </a:prstGeom>
          <a:solidFill>
            <a:srgbClr val="13293C"/>
          </a:solidFill>
          <a:ln w="12700">
            <a:solidFill>
              <a:srgbClr val="2A4257"/>
            </a:solidFill>
            <a:prstDash val="solid"/>
          </a:ln>
        </p:spPr>
      </p:sp>
      <p:pic>
        <p:nvPicPr>
          <p:cNvPr id="22" name="Image 2" descr="icons/bank-pap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90288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887968" y="4389120"/>
            <a:ext cx="24963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lender integrations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0080" y="54132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B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milestones price the next round.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40080" y="5870448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F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amina@mizani.example</a:t>
            </a:r>
            <a:pPr indent="0" marL="0">
              <a:buNone/>
            </a:pPr>
            <a:r>
              <a:rPr lang="en-US" sz="1250" dirty="0">
                <a:solidFill>
                  <a:srgbClr val="9DB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·    Demo Day, HackHouse Africa, Nairobi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0080" y="6510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DB0B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MIZANI · SAMPLE DECK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7434072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B0B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ILLUSTRATIVE FIGURES · 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2026-08-17T11:02:45Z</dcterms:created>
  <dcterms:modified xsi:type="dcterms:W3CDTF">2026-08-17T11:02:45Z</dcterms:modified>
</cp:coreProperties>
</file>