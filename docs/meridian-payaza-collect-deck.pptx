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 Collect lets Kenyan exporters send a payment link to a buyer anywhere. The buyer pays in their own currency and way. The exporter receives the exact shilling amount on the invoice, the same day. Payaza runs the money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problem in the hackathon's collections track. Chris ships avocados weekly and waits 2 to 3 days for European payments. Ann exports flowers to West and Southern Africa and waits 1 to 3 days, and loses money when the exchange rate moves. A third flower exporter, referred by an advisor, has the same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Fees are not the main pain for these exporters. Time and exchange-rate risk are. And the damage cascades: cold storage, paying farmers, missing a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exporter thinks in shillings. The buyer thinks in their own currency. Meridian sits in between. Because the invoice is fixed in shillings and converted at the moment the buyer pays, the exporter no longer carries the exchange-rate risk between invoice and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Payaza is not bolted on. It collects, confirms, splits and pays out. Meridian adds the exporter experience: invoices in shillings, compliance checks, a clear timeline and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concrete order. The buyer uses the mobile money they already have. Ann sees the payment confirmed within minutes and money arrives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exporters ready to try it. The hackathon build covers the full collection flow on Payaza. Revenue is a flat 1% per collection. Paying suppliers abroad comes after collection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624"/>
        </a:solidFill>
      </p:bgPr>
    </p:bg>
    <p:spTree>
      <p:nvGrpSpPr>
        <p:cNvPr id="1" name=""/>
        <p:cNvGrpSpPr/>
        <p:nvPr/>
      </p:nvGrpSpPr>
      <p:grpSpPr>
        <a:xfrm>
          <a:off x="0" y="0"/>
          <a:ext cx="0" cy="0"/>
          <a:chOff x="0" y="0"/>
          <a:chExt cx="0" cy="0"/>
        </a:xfrm>
      </p:grpSpPr>
      <p:sp>
        <p:nvSpPr>
          <p:cNvPr id="2" name="Shape 0"/>
          <p:cNvSpPr/>
          <p:nvPr/>
        </p:nvSpPr>
        <p:spPr>
          <a:xfrm>
            <a:off x="457200" y="548640"/>
            <a:ext cx="502920" cy="502920"/>
          </a:xfrm>
          <a:prstGeom prst="roundRect">
            <a:avLst>
              <a:gd name="adj" fmla="val 21818"/>
            </a:avLst>
          </a:prstGeom>
          <a:solidFill>
            <a:srgbClr val="3ECFA0"/>
          </a:solidFill>
          <a:ln w="12700">
            <a:solidFill>
              <a:srgbClr val="3ECFA0"/>
            </a:solidFill>
            <a:prstDash val="solid"/>
          </a:ln>
        </p:spPr>
      </p:sp>
      <p:sp>
        <p:nvSpPr>
          <p:cNvPr id="3" name="Shape 1"/>
          <p:cNvSpPr/>
          <p:nvPr/>
        </p:nvSpPr>
        <p:spPr>
          <a:xfrm>
            <a:off x="598932" y="690372"/>
            <a:ext cx="219456" cy="219456"/>
          </a:xfrm>
          <a:prstGeom prst="ellipse">
            <a:avLst/>
          </a:prstGeom>
          <a:solidFill>
            <a:srgbClr val="3ECFA0"/>
          </a:solidFill>
          <a:ln w="25400">
            <a:solidFill>
              <a:srgbClr val="0B1A19"/>
            </a:solidFill>
            <a:prstDash val="solid"/>
          </a:ln>
        </p:spPr>
      </p:sp>
      <p:sp>
        <p:nvSpPr>
          <p:cNvPr id="4" name="Text 2"/>
          <p:cNvSpPr txBox="1"/>
          <p:nvPr/>
        </p:nvSpPr>
        <p:spPr>
          <a:xfrm>
            <a:off x="1097280" y="566928"/>
            <a:ext cx="3657600" cy="457200"/>
          </a:xfrm>
          <a:prstGeom prst="rect">
            <a:avLst/>
          </a:prstGeom>
          <a:noFill/>
          <a:ln/>
        </p:spPr>
        <p:txBody>
          <a:bodyPr wrap="square" lIns="0" tIns="0" rIns="0" bIns="0" rtlCol="0" anchor="t"/>
          <a:lstStyle/>
          <a:p>
            <a:pPr algn="l" indent="0" marL="0">
              <a:lnSpc>
                <a:spcPct val="105000"/>
              </a:lnSpc>
              <a:buNone/>
            </a:pPr>
            <a:r>
              <a:rPr lang="en-US" sz="2200" b="1" dirty="0">
                <a:solidFill>
                  <a:srgbClr val="F2F7F4"/>
                </a:solidFill>
                <a:latin typeface="Calibri" pitchFamily="34" charset="0"/>
                <a:ea typeface="Calibri" pitchFamily="34" charset="-122"/>
                <a:cs typeface="Calibri" pitchFamily="34" charset="-120"/>
              </a:rPr>
              <a:t>Meridian Collect</a:t>
            </a:r>
            <a:endParaRPr lang="en-US" sz="2200" dirty="0"/>
          </a:p>
        </p:txBody>
      </p:sp>
      <p:sp>
        <p:nvSpPr>
          <p:cNvPr id="5" name="Text 3"/>
          <p:cNvSpPr txBox="1"/>
          <p:nvPr/>
        </p:nvSpPr>
        <p:spPr>
          <a:xfrm>
            <a:off x="457200" y="1463040"/>
            <a:ext cx="5394960" cy="1463040"/>
          </a:xfrm>
          <a:prstGeom prst="rect">
            <a:avLst/>
          </a:prstGeom>
          <a:noFill/>
          <a:ln/>
        </p:spPr>
        <p:txBody>
          <a:bodyPr wrap="square" lIns="0" tIns="0" rIns="0" bIns="0" rtlCol="0" anchor="t"/>
          <a:lstStyle/>
          <a:p>
            <a:pPr algn="l" indent="0" marL="0">
              <a:lnSpc>
                <a:spcPct val="100000"/>
              </a:lnSpc>
              <a:buNone/>
            </a:pPr>
            <a:r>
              <a:rPr lang="en-US" sz="2800" b="1" dirty="0">
                <a:solidFill>
                  <a:srgbClr val="F2F7F4"/>
                </a:solidFill>
                <a:latin typeface="Calibri" pitchFamily="34" charset="0"/>
                <a:ea typeface="Calibri" pitchFamily="34" charset="-122"/>
                <a:cs typeface="Calibri" pitchFamily="34" charset="-120"/>
              </a:rPr>
              <a:t>Kenyan exporters get paid</a:t>
            </a:r>
            <a:endParaRPr lang="en-US" sz="2800" dirty="0"/>
          </a:p>
          <a:p>
            <a:pPr algn="l" indent="0" marL="0">
              <a:lnSpc>
                <a:spcPct val="100000"/>
              </a:lnSpc>
              <a:buNone/>
            </a:pPr>
            <a:r>
              <a:rPr lang="en-US" sz="2800" b="1" dirty="0">
                <a:solidFill>
                  <a:srgbClr val="F2F7F4"/>
                </a:solidFill>
                <a:latin typeface="Calibri" pitchFamily="34" charset="0"/>
                <a:ea typeface="Calibri" pitchFamily="34" charset="-122"/>
                <a:cs typeface="Calibri" pitchFamily="34" charset="-120"/>
              </a:rPr>
              <a:t>by buyers abroad. Same day.</a:t>
            </a:r>
            <a:endParaRPr lang="en-US" sz="2800" dirty="0"/>
          </a:p>
          <a:p>
            <a:pPr algn="l" indent="0" marL="0">
              <a:lnSpc>
                <a:spcPct val="100000"/>
              </a:lnSpc>
              <a:buNone/>
            </a:pPr>
            <a:r>
              <a:rPr lang="en-US" sz="2800" b="1" dirty="0">
                <a:solidFill>
                  <a:srgbClr val="F2F7F4"/>
                </a:solidFill>
                <a:latin typeface="Calibri" pitchFamily="34" charset="0"/>
                <a:ea typeface="Calibri" pitchFamily="34" charset="-122"/>
                <a:cs typeface="Calibri" pitchFamily="34" charset="-120"/>
              </a:rPr>
              <a:t>No FX surprises.</a:t>
            </a:r>
            <a:endParaRPr lang="en-US" sz="2800" dirty="0"/>
          </a:p>
        </p:txBody>
      </p:sp>
      <p:sp>
        <p:nvSpPr>
          <p:cNvPr id="6" name="Text 4"/>
          <p:cNvSpPr txBox="1"/>
          <p:nvPr/>
        </p:nvSpPr>
        <p:spPr>
          <a:xfrm>
            <a:off x="457200" y="3063240"/>
            <a:ext cx="5120640" cy="868680"/>
          </a:xfrm>
          <a:prstGeom prst="rect">
            <a:avLst/>
          </a:prstGeom>
          <a:noFill/>
          <a:ln/>
        </p:spPr>
        <p:txBody>
          <a:bodyPr wrap="square" lIns="0" tIns="0" rIns="0" bIns="0" rtlCol="0" anchor="t"/>
          <a:lstStyle/>
          <a:p>
            <a:pPr algn="l" indent="0" marL="0">
              <a:lnSpc>
                <a:spcPct val="105000"/>
              </a:lnSpc>
              <a:buNone/>
            </a:pPr>
            <a:r>
              <a:rPr lang="en-US" sz="1300" dirty="0">
                <a:solidFill>
                  <a:srgbClr val="9FB8B2"/>
                </a:solidFill>
                <a:latin typeface="Calibri" pitchFamily="34" charset="0"/>
                <a:ea typeface="Calibri" pitchFamily="34" charset="-122"/>
                <a:cs typeface="Calibri" pitchFamily="34" charset="-120"/>
              </a:rPr>
              <a:t>Send a buyer in Accra, Lagos or Rotterdam a payment link. They pay in their own currency. The exporter gets the exact Kenya shilling amount they invoiced. Built on Payaza.</a:t>
            </a:r>
            <a:endParaRPr lang="en-US" sz="1300" dirty="0"/>
          </a:p>
        </p:txBody>
      </p:sp>
      <p:sp>
        <p:nvSpPr>
          <p:cNvPr id="7" name="Text 5"/>
          <p:cNvSpPr txBox="1"/>
          <p:nvPr/>
        </p:nvSpPr>
        <p:spPr>
          <a:xfrm>
            <a:off x="457200" y="4389120"/>
            <a:ext cx="7315200" cy="27432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Track: SME and exporter collections  ·  Appify Softwares Limited, Nairobi  ·  September 2026</a:t>
            </a:r>
            <a:endParaRPr lang="en-US" sz="1000" dirty="0"/>
          </a:p>
        </p:txBody>
      </p:sp>
      <p:sp>
        <p:nvSpPr>
          <p:cNvPr id="8" name="Shape 6"/>
          <p:cNvSpPr/>
          <p:nvPr/>
        </p:nvSpPr>
        <p:spPr>
          <a:xfrm>
            <a:off x="6126480" y="1325880"/>
            <a:ext cx="2560320" cy="2834640"/>
          </a:xfrm>
          <a:prstGeom prst="roundRect">
            <a:avLst>
              <a:gd name="adj" fmla="val 2857"/>
            </a:avLst>
          </a:prstGeom>
          <a:solidFill>
            <a:srgbClr val="173432"/>
          </a:solidFill>
          <a:ln w="12700">
            <a:solidFill>
              <a:srgbClr val="173432"/>
            </a:solidFill>
            <a:prstDash val="solid"/>
          </a:ln>
        </p:spPr>
      </p:sp>
      <p:sp>
        <p:nvSpPr>
          <p:cNvPr id="9" name="Text 7"/>
          <p:cNvSpPr txBox="1"/>
          <p:nvPr/>
        </p:nvSpPr>
        <p:spPr>
          <a:xfrm>
            <a:off x="6263640" y="1481328"/>
            <a:ext cx="2286000" cy="228600"/>
          </a:xfrm>
          <a:prstGeom prst="rect">
            <a:avLst/>
          </a:prstGeom>
          <a:noFill/>
          <a:ln/>
        </p:spPr>
        <p:txBody>
          <a:bodyPr wrap="square" lIns="0" tIns="0" rIns="0" bIns="0" rtlCol="0" anchor="t"/>
          <a:lstStyle/>
          <a:p>
            <a:pPr algn="l" indent="0" marL="0">
              <a:lnSpc>
                <a:spcPct val="105000"/>
              </a:lnSpc>
              <a:buNone/>
            </a:pPr>
            <a:r>
              <a:rPr lang="en-US" sz="800" b="1" dirty="0">
                <a:solidFill>
                  <a:srgbClr val="3ECFA0"/>
                </a:solidFill>
                <a:latin typeface="Calibri" pitchFamily="34" charset="0"/>
                <a:ea typeface="Calibri" pitchFamily="34" charset="-122"/>
                <a:cs typeface="Calibri" pitchFamily="34" charset="-120"/>
              </a:rPr>
              <a:t>INVOICE  ·  PAID</a:t>
            </a:r>
            <a:endParaRPr lang="en-US" sz="800" dirty="0"/>
          </a:p>
        </p:txBody>
      </p:sp>
      <p:sp>
        <p:nvSpPr>
          <p:cNvPr id="10" name="Text 8"/>
          <p:cNvSpPr txBox="1"/>
          <p:nvPr/>
        </p:nvSpPr>
        <p:spPr>
          <a:xfrm>
            <a:off x="6263640" y="1755648"/>
            <a:ext cx="2286000" cy="201168"/>
          </a:xfrm>
          <a:prstGeom prst="rect">
            <a:avLst/>
          </a:prstGeom>
          <a:noFill/>
          <a:ln/>
        </p:spPr>
        <p:txBody>
          <a:bodyPr wrap="square" lIns="0" tIns="0" rIns="0" bIns="0" rtlCol="0" anchor="t"/>
          <a:lstStyle/>
          <a:p>
            <a:pPr algn="l" indent="0" marL="0">
              <a:lnSpc>
                <a:spcPct val="105000"/>
              </a:lnSpc>
              <a:buNone/>
            </a:pPr>
            <a:r>
              <a:rPr lang="en-US" sz="900" dirty="0">
                <a:solidFill>
                  <a:srgbClr val="9FB8B2"/>
                </a:solidFill>
                <a:latin typeface="Calibri" pitchFamily="34" charset="0"/>
                <a:ea typeface="Calibri" pitchFamily="34" charset="-122"/>
                <a:cs typeface="Calibri" pitchFamily="34" charset="-120"/>
              </a:rPr>
              <a:t>Buyer in Accra pays</a:t>
            </a:r>
            <a:endParaRPr lang="en-US" sz="900" dirty="0"/>
          </a:p>
        </p:txBody>
      </p:sp>
      <p:sp>
        <p:nvSpPr>
          <p:cNvPr id="11" name="Text 9"/>
          <p:cNvSpPr txBox="1"/>
          <p:nvPr/>
        </p:nvSpPr>
        <p:spPr>
          <a:xfrm>
            <a:off x="6263640" y="1956816"/>
            <a:ext cx="2286000" cy="320040"/>
          </a:xfrm>
          <a:prstGeom prst="rect">
            <a:avLst/>
          </a:prstGeom>
          <a:noFill/>
          <a:ln/>
        </p:spPr>
        <p:txBody>
          <a:bodyPr wrap="square" lIns="0" tIns="0" rIns="0" bIns="0" rtlCol="0" anchor="t"/>
          <a:lstStyle/>
          <a:p>
            <a:pPr algn="l" indent="0" marL="0">
              <a:lnSpc>
                <a:spcPct val="105000"/>
              </a:lnSpc>
              <a:buNone/>
            </a:pPr>
            <a:r>
              <a:rPr lang="en-US" sz="1600" b="1" dirty="0">
                <a:solidFill>
                  <a:srgbClr val="F2F7F4"/>
                </a:solidFill>
                <a:latin typeface="Calibri" pitchFamily="34" charset="0"/>
                <a:ea typeface="Calibri" pitchFamily="34" charset="-122"/>
                <a:cs typeface="Calibri" pitchFamily="34" charset="-120"/>
              </a:rPr>
              <a:t>GHS by mobile money</a:t>
            </a:r>
            <a:endParaRPr lang="en-US" sz="1600" dirty="0"/>
          </a:p>
        </p:txBody>
      </p:sp>
      <p:sp>
        <p:nvSpPr>
          <p:cNvPr id="12" name="Shape 10"/>
          <p:cNvSpPr/>
          <p:nvPr/>
        </p:nvSpPr>
        <p:spPr>
          <a:xfrm>
            <a:off x="6355080" y="2377440"/>
            <a:ext cx="0" cy="685800"/>
          </a:xfrm>
          <a:prstGeom prst="line">
            <a:avLst/>
          </a:prstGeom>
          <a:noFill/>
          <a:ln w="19050">
            <a:solidFill>
              <a:srgbClr val="3ECFA0"/>
            </a:solidFill>
            <a:prstDash val="solid"/>
          </a:ln>
        </p:spPr>
      </p:sp>
      <p:sp>
        <p:nvSpPr>
          <p:cNvPr id="13" name="Text 11"/>
          <p:cNvSpPr txBox="1"/>
          <p:nvPr/>
        </p:nvSpPr>
        <p:spPr>
          <a:xfrm>
            <a:off x="6492240" y="2359152"/>
            <a:ext cx="2103120" cy="731520"/>
          </a:xfrm>
          <a:prstGeom prst="rect">
            <a:avLst/>
          </a:prstGeom>
          <a:noFill/>
          <a:ln/>
        </p:spPr>
        <p:txBody>
          <a:bodyPr wrap="square" lIns="0" tIns="0" rIns="0" bIns="0" rtlCol="0" anchor="t"/>
          <a:lstStyle/>
          <a:p>
            <a:pPr algn="l" indent="0" marL="0">
              <a:lnSpc>
                <a:spcPct val="120000"/>
              </a:lnSpc>
              <a:buNone/>
            </a:pPr>
            <a:r>
              <a:rPr lang="en-US" sz="900" dirty="0">
                <a:solidFill>
                  <a:srgbClr val="9FB8B2"/>
                </a:solidFill>
                <a:latin typeface="Calibri" pitchFamily="34" charset="0"/>
                <a:ea typeface="Calibri" pitchFamily="34" charset="-122"/>
                <a:cs typeface="Calibri" pitchFamily="34" charset="-120"/>
              </a:rPr>
              <a:t>Payaza confirms payment</a:t>
            </a:r>
            <a:endParaRPr lang="en-US" sz="900" dirty="0"/>
          </a:p>
          <a:p>
            <a:pPr algn="l" indent="0" marL="0">
              <a:lnSpc>
                <a:spcPct val="120000"/>
              </a:lnSpc>
              <a:buNone/>
            </a:pPr>
            <a:r>
              <a:rPr lang="en-US" sz="900" dirty="0">
                <a:solidFill>
                  <a:srgbClr val="9FB8B2"/>
                </a:solidFill>
                <a:latin typeface="Calibri" pitchFamily="34" charset="0"/>
                <a:ea typeface="Calibri" pitchFamily="34" charset="-122"/>
                <a:cs typeface="Calibri" pitchFamily="34" charset="-120"/>
              </a:rPr>
              <a:t>Meridian checks it</a:t>
            </a:r>
            <a:endParaRPr lang="en-US" sz="900" dirty="0"/>
          </a:p>
          <a:p>
            <a:pPr algn="l" indent="0" marL="0">
              <a:lnSpc>
                <a:spcPct val="120000"/>
              </a:lnSpc>
              <a:buNone/>
            </a:pPr>
            <a:r>
              <a:rPr lang="en-US" sz="900" dirty="0">
                <a:solidFill>
                  <a:srgbClr val="9FB8B2"/>
                </a:solidFill>
                <a:latin typeface="Calibri" pitchFamily="34" charset="0"/>
                <a:ea typeface="Calibri" pitchFamily="34" charset="-122"/>
                <a:cs typeface="Calibri" pitchFamily="34" charset="-120"/>
              </a:rPr>
              <a:t>Payaza pays out in KES</a:t>
            </a:r>
            <a:endParaRPr lang="en-US" sz="900" dirty="0"/>
          </a:p>
        </p:txBody>
      </p:sp>
      <p:sp>
        <p:nvSpPr>
          <p:cNvPr id="14" name="Shape 12"/>
          <p:cNvSpPr/>
          <p:nvPr/>
        </p:nvSpPr>
        <p:spPr>
          <a:xfrm>
            <a:off x="6263640" y="3200400"/>
            <a:ext cx="2286000" cy="658368"/>
          </a:xfrm>
          <a:prstGeom prst="roundRect">
            <a:avLst>
              <a:gd name="adj" fmla="val 8333"/>
            </a:avLst>
          </a:prstGeom>
          <a:solidFill>
            <a:srgbClr val="1E403D"/>
          </a:solidFill>
          <a:ln w="9525">
            <a:solidFill>
              <a:srgbClr val="3ECFA0"/>
            </a:solidFill>
            <a:prstDash val="solid"/>
          </a:ln>
        </p:spPr>
      </p:sp>
      <p:sp>
        <p:nvSpPr>
          <p:cNvPr id="15" name="Text 13"/>
          <p:cNvSpPr txBox="1"/>
          <p:nvPr/>
        </p:nvSpPr>
        <p:spPr>
          <a:xfrm>
            <a:off x="6373368" y="3255264"/>
            <a:ext cx="2103120" cy="201168"/>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Nairobi flower exporter receives</a:t>
            </a:r>
            <a:endParaRPr lang="en-US" sz="800" dirty="0"/>
          </a:p>
        </p:txBody>
      </p:sp>
      <p:sp>
        <p:nvSpPr>
          <p:cNvPr id="16" name="Text 14"/>
          <p:cNvSpPr txBox="1"/>
          <p:nvPr/>
        </p:nvSpPr>
        <p:spPr>
          <a:xfrm>
            <a:off x="6373368" y="3438144"/>
            <a:ext cx="2103120" cy="365760"/>
          </a:xfrm>
          <a:prstGeom prst="rect">
            <a:avLst/>
          </a:prstGeom>
          <a:noFill/>
          <a:ln/>
        </p:spPr>
        <p:txBody>
          <a:bodyPr wrap="square" lIns="0" tIns="0" rIns="0" bIns="0" rtlCol="0" anchor="t"/>
          <a:lstStyle/>
          <a:p>
            <a:pPr algn="l" indent="0" marL="0">
              <a:lnSpc>
                <a:spcPct val="105000"/>
              </a:lnSpc>
              <a:buNone/>
            </a:pPr>
            <a:r>
              <a:rPr lang="en-US" sz="1800" b="1" dirty="0">
                <a:solidFill>
                  <a:srgbClr val="3ECFA0"/>
                </a:solidFill>
                <a:latin typeface="Calibri" pitchFamily="34" charset="0"/>
                <a:ea typeface="Calibri" pitchFamily="34" charset="-122"/>
                <a:cs typeface="Calibri" pitchFamily="34" charset="-120"/>
              </a:rPr>
              <a:t>KSh 650,000</a:t>
            </a:r>
            <a:endParaRPr lang="en-US" sz="1800" dirty="0"/>
          </a:p>
        </p:txBody>
      </p:sp>
      <p:sp>
        <p:nvSpPr>
          <p:cNvPr id="17" name="Text 15"/>
          <p:cNvSpPr txBox="1"/>
          <p:nvPr/>
        </p:nvSpPr>
        <p:spPr>
          <a:xfrm>
            <a:off x="6263640" y="3913632"/>
            <a:ext cx="2377440" cy="201168"/>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Exactly what was invoiced.</a:t>
            </a:r>
            <a:endParaRPr lang="en-US" sz="800" dirty="0"/>
          </a:p>
        </p:txBody>
      </p:sp>
      <p:sp>
        <p:nvSpPr>
          <p:cNvPr id="18" name="Text 16"/>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19" name="Text 17"/>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Two exporters. The same problem.</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From our customer interviews, September 2026.</a:t>
            </a:r>
            <a:endParaRPr lang="en-US" sz="1400" dirty="0"/>
          </a:p>
        </p:txBody>
      </p:sp>
      <p:sp>
        <p:nvSpPr>
          <p:cNvPr id="4" name="Shape 2"/>
          <p:cNvSpPr/>
          <p:nvPr/>
        </p:nvSpPr>
        <p:spPr>
          <a:xfrm>
            <a:off x="457200" y="1417320"/>
            <a:ext cx="2743200" cy="3017520"/>
          </a:xfrm>
          <a:prstGeom prst="roundRect">
            <a:avLst>
              <a:gd name="adj" fmla="val 2667"/>
            </a:avLst>
          </a:prstGeom>
          <a:solidFill>
            <a:srgbClr val="1E403D"/>
          </a:solidFill>
          <a:ln w="12700">
            <a:solidFill>
              <a:srgbClr val="1E403D"/>
            </a:solidFill>
            <a:prstDash val="solid"/>
          </a:ln>
        </p:spPr>
      </p:sp>
      <p:sp>
        <p:nvSpPr>
          <p:cNvPr id="5" name="Text 3"/>
          <p:cNvSpPr txBox="1"/>
          <p:nvPr/>
        </p:nvSpPr>
        <p:spPr>
          <a:xfrm>
            <a:off x="640080" y="1572768"/>
            <a:ext cx="2377440" cy="228600"/>
          </a:xfrm>
          <a:prstGeom prst="rect">
            <a:avLst/>
          </a:prstGeom>
          <a:noFill/>
          <a:ln/>
        </p:spPr>
        <p:txBody>
          <a:bodyPr wrap="square" lIns="0" tIns="0" rIns="0" bIns="0" rtlCol="0" anchor="t"/>
          <a:lstStyle/>
          <a:p>
            <a:pPr algn="l" indent="0" marL="0">
              <a:lnSpc>
                <a:spcPct val="105000"/>
              </a:lnSpc>
              <a:buNone/>
            </a:pPr>
            <a:r>
              <a:rPr lang="en-US" sz="800" b="1" dirty="0">
                <a:solidFill>
                  <a:srgbClr val="E5C158"/>
                </a:solidFill>
                <a:latin typeface="Calibri" pitchFamily="34" charset="0"/>
                <a:ea typeface="Calibri" pitchFamily="34" charset="-122"/>
                <a:cs typeface="Calibri" pitchFamily="34" charset="-120"/>
              </a:rPr>
              <a:t>THE HACKATHON CHALLENGE</a:t>
            </a:r>
            <a:endParaRPr lang="en-US" sz="800" dirty="0"/>
          </a:p>
        </p:txBody>
      </p:sp>
      <p:sp>
        <p:nvSpPr>
          <p:cNvPr id="6" name="Text 4"/>
          <p:cNvSpPr txBox="1"/>
          <p:nvPr/>
        </p:nvSpPr>
        <p:spPr>
          <a:xfrm>
            <a:off x="640080" y="1874520"/>
            <a:ext cx="2377440" cy="1737360"/>
          </a:xfrm>
          <a:prstGeom prst="rect">
            <a:avLst/>
          </a:prstGeom>
          <a:noFill/>
          <a:ln/>
        </p:spPr>
        <p:txBody>
          <a:bodyPr wrap="square" lIns="0" tIns="0" rIns="0" bIns="0" rtlCol="0" anchor="t"/>
          <a:lstStyle/>
          <a:p>
            <a:pPr algn="l" indent="0" marL="0">
              <a:lnSpc>
                <a:spcPct val="115000"/>
              </a:lnSpc>
              <a:buNone/>
            </a:pPr>
            <a:r>
              <a:rPr lang="en-US" sz="1400" i="1" dirty="0">
                <a:solidFill>
                  <a:srgbClr val="F2F7F4"/>
                </a:solidFill>
                <a:latin typeface="Calibri" pitchFamily="34" charset="0"/>
                <a:ea typeface="Calibri" pitchFamily="34" charset="-122"/>
                <a:cs typeface="Calibri" pitchFamily="34" charset="-120"/>
              </a:rPr>
              <a:t>“Small exporters in agriculture, crafts and digital services struggle to collect from international buyers without expensive intermediaries.”</a:t>
            </a:r>
            <a:endParaRPr lang="en-US" sz="1400" dirty="0"/>
          </a:p>
        </p:txBody>
      </p:sp>
      <p:sp>
        <p:nvSpPr>
          <p:cNvPr id="7" name="Text 5"/>
          <p:cNvSpPr txBox="1"/>
          <p:nvPr/>
        </p:nvSpPr>
        <p:spPr>
          <a:xfrm>
            <a:off x="640080" y="3977640"/>
            <a:ext cx="2377440" cy="228600"/>
          </a:xfrm>
          <a:prstGeom prst="rect">
            <a:avLst/>
          </a:prstGeom>
          <a:noFill/>
          <a:ln/>
        </p:spPr>
        <p:txBody>
          <a:bodyPr wrap="square" lIns="0" tIns="0" rIns="0" bIns="0" rtlCol="0" anchor="t"/>
          <a:lstStyle/>
          <a:p>
            <a:pPr algn="l" indent="0" marL="0">
              <a:lnSpc>
                <a:spcPct val="105000"/>
              </a:lnSpc>
              <a:buNone/>
            </a:pPr>
            <a:r>
              <a:rPr lang="en-US" sz="900" dirty="0">
                <a:solidFill>
                  <a:srgbClr val="9FB8B2"/>
                </a:solidFill>
                <a:latin typeface="Calibri" pitchFamily="34" charset="0"/>
                <a:ea typeface="Calibri" pitchFamily="34" charset="-122"/>
                <a:cs typeface="Calibri" pitchFamily="34" charset="-120"/>
              </a:rPr>
              <a:t>Payaza Borderless Kenya, track 3</a:t>
            </a:r>
            <a:endParaRPr lang="en-US" sz="900" dirty="0"/>
          </a:p>
        </p:txBody>
      </p:sp>
      <p:sp>
        <p:nvSpPr>
          <p:cNvPr id="8" name="Shape 6"/>
          <p:cNvSpPr/>
          <p:nvPr/>
        </p:nvSpPr>
        <p:spPr>
          <a:xfrm>
            <a:off x="3429000" y="1417320"/>
            <a:ext cx="2514600" cy="3017520"/>
          </a:xfrm>
          <a:prstGeom prst="roundRect">
            <a:avLst>
              <a:gd name="adj" fmla="val 2909"/>
            </a:avLst>
          </a:prstGeom>
          <a:solidFill>
            <a:srgbClr val="173432"/>
          </a:solidFill>
          <a:ln w="12700">
            <a:solidFill>
              <a:srgbClr val="173432"/>
            </a:solidFill>
            <a:prstDash val="solid"/>
          </a:ln>
        </p:spPr>
      </p:sp>
      <p:sp>
        <p:nvSpPr>
          <p:cNvPr id="9" name="Shape 7"/>
          <p:cNvSpPr/>
          <p:nvPr/>
        </p:nvSpPr>
        <p:spPr>
          <a:xfrm>
            <a:off x="3611880" y="1572768"/>
            <a:ext cx="411480" cy="411480"/>
          </a:xfrm>
          <a:prstGeom prst="ellipse">
            <a:avLst/>
          </a:prstGeom>
          <a:solidFill>
            <a:srgbClr val="3ECFA0"/>
          </a:solidFill>
          <a:ln w="12700">
            <a:solidFill>
              <a:srgbClr val="3ECFA0"/>
            </a:solidFill>
            <a:prstDash val="solid"/>
          </a:ln>
        </p:spPr>
      </p:sp>
      <p:pic>
        <p:nvPicPr>
          <p:cNvPr id="10" name="Image 0" descr="preencoded.png">    </p:cNvPr>
          <p:cNvPicPr>
            <a:picLocks noChangeAspect="1"/>
          </p:cNvPicPr>
          <p:nvPr/>
        </p:nvPicPr>
        <p:blipFill>
          <a:blip r:embed="rId1"/>
          <a:stretch>
            <a:fillRect/>
          </a:stretch>
        </p:blipFill>
        <p:spPr>
          <a:xfrm>
            <a:off x="3710635" y="1671523"/>
            <a:ext cx="213970" cy="213970"/>
          </a:xfrm>
          <a:prstGeom prst="rect">
            <a:avLst/>
          </a:prstGeom>
        </p:spPr>
      </p:pic>
      <p:sp>
        <p:nvSpPr>
          <p:cNvPr id="11" name="Text 8"/>
          <p:cNvSpPr txBox="1"/>
          <p:nvPr/>
        </p:nvSpPr>
        <p:spPr>
          <a:xfrm>
            <a:off x="4114800" y="1572768"/>
            <a:ext cx="1737360" cy="411480"/>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Chris, fresh produce exporter</a:t>
            </a:r>
            <a:endParaRPr lang="en-US" sz="1200" dirty="0"/>
          </a:p>
        </p:txBody>
      </p:sp>
      <p:sp>
        <p:nvSpPr>
          <p:cNvPr id="12" name="Text 9"/>
          <p:cNvSpPr txBox="1"/>
          <p:nvPr/>
        </p:nvSpPr>
        <p:spPr>
          <a:xfrm>
            <a:off x="3611880" y="2084832"/>
            <a:ext cx="2194560" cy="365760"/>
          </a:xfrm>
          <a:prstGeom prst="rect">
            <a:avLst/>
          </a:prstGeom>
          <a:noFill/>
          <a:ln/>
        </p:spPr>
        <p:txBody>
          <a:bodyPr wrap="square" lIns="0" tIns="0" rIns="0" bIns="0" rtlCol="0" anchor="t"/>
          <a:lstStyle/>
          <a:p>
            <a:pPr algn="l" indent="0" marL="0">
              <a:lnSpc>
                <a:spcPct val="105000"/>
              </a:lnSpc>
              <a:buNone/>
            </a:pPr>
            <a:r>
              <a:rPr lang="en-US" sz="900" dirty="0">
                <a:solidFill>
                  <a:srgbClr val="9FB8B2"/>
                </a:solidFill>
                <a:latin typeface="Calibri" pitchFamily="34" charset="0"/>
                <a:ea typeface="Calibri" pitchFamily="34" charset="-122"/>
                <a:cs typeface="Calibri" pitchFamily="34" charset="-120"/>
              </a:rPr>
              <a:t>Avocados to Europe, Egypt, Middle East, Asia</a:t>
            </a:r>
            <a:endParaRPr lang="en-US" sz="900" dirty="0"/>
          </a:p>
        </p:txBody>
      </p:sp>
      <p:sp>
        <p:nvSpPr>
          <p:cNvPr id="13" name="Text 10"/>
          <p:cNvSpPr txBox="1"/>
          <p:nvPr/>
        </p:nvSpPr>
        <p:spPr>
          <a:xfrm>
            <a:off x="3611880" y="2514600"/>
            <a:ext cx="2194560" cy="18288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USD 35,000 to 40,000 per weekly shipment.</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2 to 3 days to clear from Europe. Gulf banks shut Fridays.</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Buyers hold payment until they like the FX rate.</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Late money means cold storage bills and farmers left unpaid at harvest.</a:t>
            </a:r>
            <a:endParaRPr lang="en-US" sz="1100" dirty="0"/>
          </a:p>
        </p:txBody>
      </p:sp>
      <p:sp>
        <p:nvSpPr>
          <p:cNvPr id="14" name="Shape 11"/>
          <p:cNvSpPr/>
          <p:nvPr/>
        </p:nvSpPr>
        <p:spPr>
          <a:xfrm>
            <a:off x="6080760" y="1417320"/>
            <a:ext cx="2514600" cy="3017520"/>
          </a:xfrm>
          <a:prstGeom prst="roundRect">
            <a:avLst>
              <a:gd name="adj" fmla="val 2909"/>
            </a:avLst>
          </a:prstGeom>
          <a:solidFill>
            <a:srgbClr val="173432"/>
          </a:solidFill>
          <a:ln w="12700">
            <a:solidFill>
              <a:srgbClr val="173432"/>
            </a:solidFill>
            <a:prstDash val="solid"/>
          </a:ln>
        </p:spPr>
      </p:sp>
      <p:sp>
        <p:nvSpPr>
          <p:cNvPr id="15" name="Shape 12"/>
          <p:cNvSpPr/>
          <p:nvPr/>
        </p:nvSpPr>
        <p:spPr>
          <a:xfrm>
            <a:off x="6263640" y="1572768"/>
            <a:ext cx="411480" cy="411480"/>
          </a:xfrm>
          <a:prstGeom prst="ellipse">
            <a:avLst/>
          </a:prstGeom>
          <a:solidFill>
            <a:srgbClr val="3ECFA0"/>
          </a:solidFill>
          <a:ln w="12700">
            <a:solidFill>
              <a:srgbClr val="3ECFA0"/>
            </a:solidFill>
            <a:prstDash val="solid"/>
          </a:ln>
        </p:spPr>
      </p:sp>
      <p:pic>
        <p:nvPicPr>
          <p:cNvPr id="16" name="Image 1" descr="preencoded.png">    </p:cNvPr>
          <p:cNvPicPr>
            <a:picLocks noChangeAspect="1"/>
          </p:cNvPicPr>
          <p:nvPr/>
        </p:nvPicPr>
        <p:blipFill>
          <a:blip r:embed="rId2"/>
          <a:stretch>
            <a:fillRect/>
          </a:stretch>
        </p:blipFill>
        <p:spPr>
          <a:xfrm>
            <a:off x="6362395" y="1671523"/>
            <a:ext cx="213970" cy="213970"/>
          </a:xfrm>
          <a:prstGeom prst="rect">
            <a:avLst/>
          </a:prstGeom>
        </p:spPr>
      </p:pic>
      <p:sp>
        <p:nvSpPr>
          <p:cNvPr id="17" name="Text 13"/>
          <p:cNvSpPr txBox="1"/>
          <p:nvPr/>
        </p:nvSpPr>
        <p:spPr>
          <a:xfrm>
            <a:off x="6766560" y="1572768"/>
            <a:ext cx="1737360" cy="411480"/>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Ann, flower exporter</a:t>
            </a:r>
            <a:endParaRPr lang="en-US" sz="1200" dirty="0"/>
          </a:p>
        </p:txBody>
      </p:sp>
      <p:sp>
        <p:nvSpPr>
          <p:cNvPr id="18" name="Text 14"/>
          <p:cNvSpPr txBox="1"/>
          <p:nvPr/>
        </p:nvSpPr>
        <p:spPr>
          <a:xfrm>
            <a:off x="6263640" y="2084832"/>
            <a:ext cx="2194560" cy="365760"/>
          </a:xfrm>
          <a:prstGeom prst="rect">
            <a:avLst/>
          </a:prstGeom>
          <a:noFill/>
          <a:ln/>
        </p:spPr>
        <p:txBody>
          <a:bodyPr wrap="square" lIns="0" tIns="0" rIns="0" bIns="0" rtlCol="0" anchor="t"/>
          <a:lstStyle/>
          <a:p>
            <a:pPr algn="l" indent="0" marL="0">
              <a:lnSpc>
                <a:spcPct val="105000"/>
              </a:lnSpc>
              <a:buNone/>
            </a:pPr>
            <a:r>
              <a:rPr lang="en-US" sz="900" dirty="0">
                <a:solidFill>
                  <a:srgbClr val="9FB8B2"/>
                </a:solidFill>
                <a:latin typeface="Calibri" pitchFamily="34" charset="0"/>
                <a:ea typeface="Calibri" pitchFamily="34" charset="-122"/>
                <a:cs typeface="Calibri" pitchFamily="34" charset="-120"/>
              </a:rPr>
              <a:t>Flowers to Ghana, Nigeria, Namibia, Côte d’Ivoire</a:t>
            </a:r>
            <a:endParaRPr lang="en-US" sz="900" dirty="0"/>
          </a:p>
        </p:txBody>
      </p:sp>
      <p:sp>
        <p:nvSpPr>
          <p:cNvPr id="19" name="Text 15"/>
          <p:cNvSpPr txBox="1"/>
          <p:nvPr/>
        </p:nvSpPr>
        <p:spPr>
          <a:xfrm>
            <a:off x="6263640" y="2514600"/>
            <a:ext cx="2194560" cy="182880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Bank transfers take 1 to 3 working days to clear.</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She loses money on FX between invoice and payment.</a:t>
            </a:r>
            <a:endParaRPr lang="en-US" sz="1100" dirty="0"/>
          </a:p>
          <a:p>
            <a:pPr marL="152400" indent="-152400">
              <a:spcAft>
                <a:spcPts val="500"/>
              </a:spcAft>
              <a:buSzPct val="100000"/>
              <a:buChar char="•"/>
            </a:pPr>
            <a:r>
              <a:rPr lang="en-US" sz="1100" dirty="0">
                <a:solidFill>
                  <a:srgbClr val="F2F7F4"/>
                </a:solidFill>
                <a:latin typeface="Calibri" pitchFamily="34" charset="0"/>
                <a:ea typeface="Calibri" pitchFamily="34" charset="-122"/>
                <a:cs typeface="Calibri" pitchFamily="34" charset="-120"/>
              </a:rPr>
              <a:t>Flowers are perishable. Cash is tied up while stock ships.</a:t>
            </a:r>
            <a:endParaRPr lang="en-US" sz="1100" dirty="0"/>
          </a:p>
        </p:txBody>
      </p:sp>
      <p:sp>
        <p:nvSpPr>
          <p:cNvPr id="20" name="Text 16"/>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21" name="Text 17"/>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Slow money is expensive money</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What the delay costs an exporter, in their own words.</a:t>
            </a:r>
            <a:endParaRPr lang="en-US" sz="1400" dirty="0"/>
          </a:p>
        </p:txBody>
      </p:sp>
      <p:sp>
        <p:nvSpPr>
          <p:cNvPr id="4" name="Shape 2"/>
          <p:cNvSpPr/>
          <p:nvPr/>
        </p:nvSpPr>
        <p:spPr>
          <a:xfrm>
            <a:off x="457200" y="1417320"/>
            <a:ext cx="2606040" cy="1691640"/>
          </a:xfrm>
          <a:prstGeom prst="roundRect">
            <a:avLst>
              <a:gd name="adj" fmla="val 4324"/>
            </a:avLst>
          </a:prstGeom>
          <a:solidFill>
            <a:srgbClr val="173432"/>
          </a:solidFill>
          <a:ln w="12700">
            <a:solidFill>
              <a:srgbClr val="173432"/>
            </a:solidFill>
            <a:prstDash val="solid"/>
          </a:ln>
        </p:spPr>
      </p:sp>
      <p:sp>
        <p:nvSpPr>
          <p:cNvPr id="5" name="Text 3"/>
          <p:cNvSpPr txBox="1"/>
          <p:nvPr/>
        </p:nvSpPr>
        <p:spPr>
          <a:xfrm>
            <a:off x="685800" y="1572768"/>
            <a:ext cx="2194560" cy="731520"/>
          </a:xfrm>
          <a:prstGeom prst="rect">
            <a:avLst/>
          </a:prstGeom>
          <a:noFill/>
          <a:ln/>
        </p:spPr>
        <p:txBody>
          <a:bodyPr wrap="square" lIns="0" tIns="0" rIns="0" bIns="0" rtlCol="0" anchor="t"/>
          <a:lstStyle/>
          <a:p>
            <a:pPr algn="l" indent="0" marL="0">
              <a:lnSpc>
                <a:spcPct val="105000"/>
              </a:lnSpc>
              <a:buNone/>
            </a:pPr>
            <a:r>
              <a:rPr lang="en-US" sz="3600" b="1" dirty="0">
                <a:solidFill>
                  <a:srgbClr val="E5C158"/>
                </a:solidFill>
                <a:latin typeface="Calibri" pitchFamily="34" charset="0"/>
                <a:ea typeface="Calibri" pitchFamily="34" charset="-122"/>
                <a:cs typeface="Calibri" pitchFamily="34" charset="-120"/>
              </a:rPr>
              <a:t>1–3 days</a:t>
            </a:r>
            <a:endParaRPr lang="en-US" sz="3600" dirty="0"/>
          </a:p>
        </p:txBody>
      </p:sp>
      <p:sp>
        <p:nvSpPr>
          <p:cNvPr id="6" name="Text 4"/>
          <p:cNvSpPr txBox="1"/>
          <p:nvPr/>
        </p:nvSpPr>
        <p:spPr>
          <a:xfrm>
            <a:off x="685800" y="2331720"/>
            <a:ext cx="2194560" cy="685800"/>
          </a:xfrm>
          <a:prstGeom prst="rect">
            <a:avLst/>
          </a:prstGeom>
          <a:noFill/>
          <a:ln/>
        </p:spPr>
        <p:txBody>
          <a:bodyPr wrap="square" lIns="0" tIns="0" rIns="0" bIns="0" rtlCol="0" anchor="t"/>
          <a:lstStyle/>
          <a:p>
            <a:pPr algn="l" indent="0" marL="0">
              <a:lnSpc>
                <a:spcPct val="105000"/>
              </a:lnSpc>
              <a:buNone/>
            </a:pPr>
            <a:r>
              <a:rPr lang="en-US" sz="1200" dirty="0">
                <a:solidFill>
                  <a:srgbClr val="9FB8B2"/>
                </a:solidFill>
                <a:latin typeface="Calibri" pitchFamily="34" charset="0"/>
                <a:ea typeface="Calibri" pitchFamily="34" charset="-122"/>
                <a:cs typeface="Calibri" pitchFamily="34" charset="-120"/>
              </a:rPr>
              <a:t>for a buyer’s bank transfer to clear. Ann, every order.</a:t>
            </a:r>
            <a:endParaRPr lang="en-US" sz="1200" dirty="0"/>
          </a:p>
        </p:txBody>
      </p:sp>
      <p:sp>
        <p:nvSpPr>
          <p:cNvPr id="7" name="Shape 5"/>
          <p:cNvSpPr/>
          <p:nvPr/>
        </p:nvSpPr>
        <p:spPr>
          <a:xfrm>
            <a:off x="3268980" y="1417320"/>
            <a:ext cx="2606040" cy="1691640"/>
          </a:xfrm>
          <a:prstGeom prst="roundRect">
            <a:avLst>
              <a:gd name="adj" fmla="val 4324"/>
            </a:avLst>
          </a:prstGeom>
          <a:solidFill>
            <a:srgbClr val="173432"/>
          </a:solidFill>
          <a:ln w="12700">
            <a:solidFill>
              <a:srgbClr val="173432"/>
            </a:solidFill>
            <a:prstDash val="solid"/>
          </a:ln>
        </p:spPr>
      </p:sp>
      <p:sp>
        <p:nvSpPr>
          <p:cNvPr id="8" name="Text 6"/>
          <p:cNvSpPr txBox="1"/>
          <p:nvPr/>
        </p:nvSpPr>
        <p:spPr>
          <a:xfrm>
            <a:off x="3497580" y="1572768"/>
            <a:ext cx="2194560" cy="731520"/>
          </a:xfrm>
          <a:prstGeom prst="rect">
            <a:avLst/>
          </a:prstGeom>
          <a:noFill/>
          <a:ln/>
        </p:spPr>
        <p:txBody>
          <a:bodyPr wrap="square" lIns="0" tIns="0" rIns="0" bIns="0" rtlCol="0" anchor="t"/>
          <a:lstStyle/>
          <a:p>
            <a:pPr algn="l" indent="0" marL="0">
              <a:lnSpc>
                <a:spcPct val="105000"/>
              </a:lnSpc>
              <a:buNone/>
            </a:pPr>
            <a:r>
              <a:rPr lang="en-US" sz="3600" b="1" dirty="0">
                <a:solidFill>
                  <a:srgbClr val="E5C158"/>
                </a:solidFill>
                <a:latin typeface="Calibri" pitchFamily="34" charset="0"/>
                <a:ea typeface="Calibri" pitchFamily="34" charset="-122"/>
                <a:cs typeface="Calibri" pitchFamily="34" charset="-120"/>
              </a:rPr>
              <a:t>$40k</a:t>
            </a:r>
            <a:endParaRPr lang="en-US" sz="3600" dirty="0"/>
          </a:p>
        </p:txBody>
      </p:sp>
      <p:sp>
        <p:nvSpPr>
          <p:cNvPr id="9" name="Text 7"/>
          <p:cNvSpPr txBox="1"/>
          <p:nvPr/>
        </p:nvSpPr>
        <p:spPr>
          <a:xfrm>
            <a:off x="3497580" y="2331720"/>
            <a:ext cx="2194560" cy="685800"/>
          </a:xfrm>
          <a:prstGeom prst="rect">
            <a:avLst/>
          </a:prstGeom>
          <a:noFill/>
          <a:ln/>
        </p:spPr>
        <p:txBody>
          <a:bodyPr wrap="square" lIns="0" tIns="0" rIns="0" bIns="0" rtlCol="0" anchor="t"/>
          <a:lstStyle/>
          <a:p>
            <a:pPr algn="l" indent="0" marL="0">
              <a:lnSpc>
                <a:spcPct val="105000"/>
              </a:lnSpc>
              <a:buNone/>
            </a:pPr>
            <a:r>
              <a:rPr lang="en-US" sz="1200" dirty="0">
                <a:solidFill>
                  <a:srgbClr val="9FB8B2"/>
                </a:solidFill>
                <a:latin typeface="Calibri" pitchFamily="34" charset="0"/>
                <a:ea typeface="Calibri" pitchFamily="34" charset="-122"/>
                <a:cs typeface="Calibri" pitchFamily="34" charset="-120"/>
              </a:rPr>
              <a:t>stuck per shipment while Chris waits 2 to 3 days on Europe.</a:t>
            </a:r>
            <a:endParaRPr lang="en-US" sz="1200" dirty="0"/>
          </a:p>
        </p:txBody>
      </p:sp>
      <p:sp>
        <p:nvSpPr>
          <p:cNvPr id="10" name="Shape 8"/>
          <p:cNvSpPr/>
          <p:nvPr/>
        </p:nvSpPr>
        <p:spPr>
          <a:xfrm>
            <a:off x="6080760" y="1417320"/>
            <a:ext cx="2606040" cy="1691640"/>
          </a:xfrm>
          <a:prstGeom prst="roundRect">
            <a:avLst>
              <a:gd name="adj" fmla="val 4324"/>
            </a:avLst>
          </a:prstGeom>
          <a:solidFill>
            <a:srgbClr val="173432"/>
          </a:solidFill>
          <a:ln w="12700">
            <a:solidFill>
              <a:srgbClr val="173432"/>
            </a:solidFill>
            <a:prstDash val="solid"/>
          </a:ln>
        </p:spPr>
      </p:sp>
      <p:sp>
        <p:nvSpPr>
          <p:cNvPr id="11" name="Text 9"/>
          <p:cNvSpPr txBox="1"/>
          <p:nvPr/>
        </p:nvSpPr>
        <p:spPr>
          <a:xfrm>
            <a:off x="6309360" y="1572768"/>
            <a:ext cx="2194560" cy="731520"/>
          </a:xfrm>
          <a:prstGeom prst="rect">
            <a:avLst/>
          </a:prstGeom>
          <a:noFill/>
          <a:ln/>
        </p:spPr>
        <p:txBody>
          <a:bodyPr wrap="square" lIns="0" tIns="0" rIns="0" bIns="0" rtlCol="0" anchor="t"/>
          <a:lstStyle/>
          <a:p>
            <a:pPr algn="l" indent="0" marL="0">
              <a:lnSpc>
                <a:spcPct val="105000"/>
              </a:lnSpc>
              <a:buNone/>
            </a:pPr>
            <a:r>
              <a:rPr lang="en-US" sz="3600" b="1" dirty="0">
                <a:solidFill>
                  <a:srgbClr val="E58A7A"/>
                </a:solidFill>
                <a:latin typeface="Calibri" pitchFamily="34" charset="0"/>
                <a:ea typeface="Calibri" pitchFamily="34" charset="-122"/>
                <a:cs typeface="Calibri" pitchFamily="34" charset="-120"/>
              </a:rPr>
              <a:t>FX loss</a:t>
            </a:r>
            <a:endParaRPr lang="en-US" sz="3600" dirty="0"/>
          </a:p>
        </p:txBody>
      </p:sp>
      <p:sp>
        <p:nvSpPr>
          <p:cNvPr id="12" name="Text 10"/>
          <p:cNvSpPr txBox="1"/>
          <p:nvPr/>
        </p:nvSpPr>
        <p:spPr>
          <a:xfrm>
            <a:off x="6309360" y="2331720"/>
            <a:ext cx="2194560" cy="685800"/>
          </a:xfrm>
          <a:prstGeom prst="rect">
            <a:avLst/>
          </a:prstGeom>
          <a:noFill/>
          <a:ln/>
        </p:spPr>
        <p:txBody>
          <a:bodyPr wrap="square" lIns="0" tIns="0" rIns="0" bIns="0" rtlCol="0" anchor="t"/>
          <a:lstStyle/>
          <a:p>
            <a:pPr algn="l" indent="0" marL="0">
              <a:lnSpc>
                <a:spcPct val="105000"/>
              </a:lnSpc>
              <a:buNone/>
            </a:pPr>
            <a:r>
              <a:rPr lang="en-US" sz="1200" dirty="0">
                <a:solidFill>
                  <a:srgbClr val="9FB8B2"/>
                </a:solidFill>
                <a:latin typeface="Calibri" pitchFamily="34" charset="0"/>
                <a:ea typeface="Calibri" pitchFamily="34" charset="-122"/>
                <a:cs typeface="Calibri" pitchFamily="34" charset="-120"/>
              </a:rPr>
              <a:t>when the rate moves between invoice and payment. Buyers stall for a better rate.</a:t>
            </a:r>
            <a:endParaRPr lang="en-US" sz="1200" dirty="0"/>
          </a:p>
        </p:txBody>
      </p:sp>
      <p:sp>
        <p:nvSpPr>
          <p:cNvPr id="13" name="Shape 11"/>
          <p:cNvSpPr/>
          <p:nvPr/>
        </p:nvSpPr>
        <p:spPr>
          <a:xfrm>
            <a:off x="457200" y="3474720"/>
            <a:ext cx="411480" cy="411480"/>
          </a:xfrm>
          <a:prstGeom prst="ellipse">
            <a:avLst/>
          </a:prstGeom>
          <a:solidFill>
            <a:srgbClr val="1E403D"/>
          </a:solidFill>
          <a:ln w="12700">
            <a:solidFill>
              <a:srgbClr val="1E403D"/>
            </a:solidFill>
            <a:prstDash val="solid"/>
          </a:ln>
        </p:spPr>
      </p:sp>
      <p:pic>
        <p:nvPicPr>
          <p:cNvPr id="14" name="Image 0" descr="preencoded.png">    </p:cNvPr>
          <p:cNvPicPr>
            <a:picLocks noChangeAspect="1"/>
          </p:cNvPicPr>
          <p:nvPr/>
        </p:nvPicPr>
        <p:blipFill>
          <a:blip r:embed="rId1"/>
          <a:stretch>
            <a:fillRect/>
          </a:stretch>
        </p:blipFill>
        <p:spPr>
          <a:xfrm>
            <a:off x="555955" y="3573475"/>
            <a:ext cx="213970" cy="213970"/>
          </a:xfrm>
          <a:prstGeom prst="rect">
            <a:avLst/>
          </a:prstGeom>
        </p:spPr>
      </p:pic>
      <p:sp>
        <p:nvSpPr>
          <p:cNvPr id="15" name="Text 12"/>
          <p:cNvSpPr txBox="1"/>
          <p:nvPr/>
        </p:nvSpPr>
        <p:spPr>
          <a:xfrm>
            <a:off x="1051560" y="3456432"/>
            <a:ext cx="7315200" cy="274320"/>
          </a:xfrm>
          <a:prstGeom prst="rect">
            <a:avLst/>
          </a:prstGeom>
          <a:noFill/>
          <a:ln/>
        </p:spPr>
        <p:txBody>
          <a:bodyPr wrap="square" lIns="0" tIns="0" rIns="0" bIns="0" rtlCol="0" anchor="t"/>
          <a:lstStyle/>
          <a:p>
            <a:pPr algn="l" indent="0" marL="0">
              <a:lnSpc>
                <a:spcPct val="105000"/>
              </a:lnSpc>
              <a:buNone/>
            </a:pPr>
            <a:r>
              <a:rPr lang="en-US" sz="1400" b="1" dirty="0">
                <a:solidFill>
                  <a:srgbClr val="F2F7F4"/>
                </a:solidFill>
                <a:latin typeface="Calibri" pitchFamily="34" charset="0"/>
                <a:ea typeface="Calibri" pitchFamily="34" charset="-122"/>
                <a:cs typeface="Calibri" pitchFamily="34" charset="-120"/>
              </a:rPr>
              <a:t>The knock-on effect is the real cost.</a:t>
            </a:r>
            <a:endParaRPr lang="en-US" sz="1400" dirty="0"/>
          </a:p>
        </p:txBody>
      </p:sp>
      <p:sp>
        <p:nvSpPr>
          <p:cNvPr id="16" name="Text 13"/>
          <p:cNvSpPr txBox="1"/>
          <p:nvPr/>
        </p:nvSpPr>
        <p:spPr>
          <a:xfrm>
            <a:off x="1051560" y="3767328"/>
            <a:ext cx="7589520" cy="640080"/>
          </a:xfrm>
          <a:prstGeom prst="rect">
            <a:avLst/>
          </a:prstGeom>
          <a:noFill/>
          <a:ln/>
        </p:spPr>
        <p:txBody>
          <a:bodyPr wrap="square" lIns="0" tIns="0" rIns="0" bIns="0" rtlCol="0" anchor="t"/>
          <a:lstStyle/>
          <a:p>
            <a:pPr algn="l" indent="0" marL="0">
              <a:lnSpc>
                <a:spcPct val="105000"/>
              </a:lnSpc>
              <a:buNone/>
            </a:pPr>
            <a:r>
              <a:rPr lang="en-US" sz="1200" dirty="0">
                <a:solidFill>
                  <a:srgbClr val="9FB8B2"/>
                </a:solidFill>
                <a:latin typeface="Calibri" pitchFamily="34" charset="0"/>
                <a:ea typeface="Calibri" pitchFamily="34" charset="-122"/>
                <a:cs typeface="Calibri" pitchFamily="34" charset="-120"/>
              </a:rPr>
              <a:t>Cold storage keeps running. Farmers must be paid at harvest. A missed sailing waits a week. Flowers wilt. Small exporters carry all of that because the money has not landed.</a:t>
            </a:r>
            <a:endParaRPr lang="en-US" sz="1200" dirty="0"/>
          </a:p>
        </p:txBody>
      </p:sp>
      <p:sp>
        <p:nvSpPr>
          <p:cNvPr id="17" name="Text 14"/>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18" name="Text 15"/>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How Meridian Collect works</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Four steps. The exporter only does the first one.</a:t>
            </a:r>
            <a:endParaRPr lang="en-US" sz="1400" dirty="0"/>
          </a:p>
        </p:txBody>
      </p:sp>
      <p:sp>
        <p:nvSpPr>
          <p:cNvPr id="4" name="Shape 2"/>
          <p:cNvSpPr/>
          <p:nvPr/>
        </p:nvSpPr>
        <p:spPr>
          <a:xfrm>
            <a:off x="457200" y="1463040"/>
            <a:ext cx="1874520" cy="2514600"/>
          </a:xfrm>
          <a:prstGeom prst="roundRect">
            <a:avLst>
              <a:gd name="adj" fmla="val 3902"/>
            </a:avLst>
          </a:prstGeom>
          <a:solidFill>
            <a:srgbClr val="173432"/>
          </a:solidFill>
          <a:ln w="12700">
            <a:solidFill>
              <a:srgbClr val="173432"/>
            </a:solidFill>
            <a:prstDash val="solid"/>
          </a:ln>
        </p:spPr>
      </p:sp>
      <p:sp>
        <p:nvSpPr>
          <p:cNvPr id="5" name="Shape 3"/>
          <p:cNvSpPr/>
          <p:nvPr/>
        </p:nvSpPr>
        <p:spPr>
          <a:xfrm>
            <a:off x="640080" y="1645920"/>
            <a:ext cx="457200" cy="457200"/>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49808" y="1755648"/>
            <a:ext cx="237744" cy="237744"/>
          </a:xfrm>
          <a:prstGeom prst="rect">
            <a:avLst/>
          </a:prstGeom>
        </p:spPr>
      </p:pic>
      <p:sp>
        <p:nvSpPr>
          <p:cNvPr id="7" name="Text 4"/>
          <p:cNvSpPr txBox="1"/>
          <p:nvPr/>
        </p:nvSpPr>
        <p:spPr>
          <a:xfrm>
            <a:off x="640080" y="2240280"/>
            <a:ext cx="1508760" cy="457200"/>
          </a:xfrm>
          <a:prstGeom prst="rect">
            <a:avLst/>
          </a:prstGeom>
          <a:noFill/>
          <a:ln/>
        </p:spPr>
        <p:txBody>
          <a:bodyPr wrap="square" lIns="0" tIns="0" rIns="0" bIns="0" rtlCol="0" anchor="t"/>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1. Invoice in shillings</a:t>
            </a:r>
            <a:endParaRPr lang="en-US" sz="1300" dirty="0"/>
          </a:p>
        </p:txBody>
      </p:sp>
      <p:sp>
        <p:nvSpPr>
          <p:cNvPr id="8" name="Text 5"/>
          <p:cNvSpPr txBox="1"/>
          <p:nvPr/>
        </p:nvSpPr>
        <p:spPr>
          <a:xfrm>
            <a:off x="640080" y="2724912"/>
            <a:ext cx="1508760" cy="1188720"/>
          </a:xfrm>
          <a:prstGeom prst="rect">
            <a:avLst/>
          </a:prstGeom>
          <a:noFill/>
          <a:ln/>
        </p:spPr>
        <p:txBody>
          <a:bodyPr wrap="square" lIns="0" tIns="0" rIns="0" bIns="0" rtlCol="0" anchor="t"/>
          <a:lstStyle/>
          <a:p>
            <a:pPr algn="l" indent="0" marL="0">
              <a:lnSpc>
                <a:spcPct val="105000"/>
              </a:lnSpc>
              <a:buNone/>
            </a:pPr>
            <a:r>
              <a:rPr lang="en-US" sz="1100" dirty="0">
                <a:solidFill>
                  <a:srgbClr val="9FB8B2"/>
                </a:solidFill>
                <a:latin typeface="Calibri" pitchFamily="34" charset="0"/>
                <a:ea typeface="Calibri" pitchFamily="34" charset="-122"/>
                <a:cs typeface="Calibri" pitchFamily="34" charset="-120"/>
              </a:rPr>
              <a:t>Exporter enters the amount they want, say KSh 650,000, and gets a payment link.</a:t>
            </a:r>
            <a:endParaRPr lang="en-US" sz="1100" dirty="0"/>
          </a:p>
        </p:txBody>
      </p:sp>
      <p:sp>
        <p:nvSpPr>
          <p:cNvPr id="9" name="Shape 6"/>
          <p:cNvSpPr/>
          <p:nvPr/>
        </p:nvSpPr>
        <p:spPr>
          <a:xfrm>
            <a:off x="2514600" y="1463040"/>
            <a:ext cx="1874520" cy="2514600"/>
          </a:xfrm>
          <a:prstGeom prst="roundRect">
            <a:avLst>
              <a:gd name="adj" fmla="val 3902"/>
            </a:avLst>
          </a:prstGeom>
          <a:solidFill>
            <a:srgbClr val="173432"/>
          </a:solidFill>
          <a:ln w="12700">
            <a:solidFill>
              <a:srgbClr val="173432"/>
            </a:solidFill>
            <a:prstDash val="solid"/>
          </a:ln>
        </p:spPr>
      </p:sp>
      <p:sp>
        <p:nvSpPr>
          <p:cNvPr id="10" name="Shape 7"/>
          <p:cNvSpPr/>
          <p:nvPr/>
        </p:nvSpPr>
        <p:spPr>
          <a:xfrm>
            <a:off x="2697480" y="1645920"/>
            <a:ext cx="457200" cy="457200"/>
          </a:xfrm>
          <a:prstGeom prst="ellipse">
            <a:avLst/>
          </a:prstGeom>
          <a:solidFill>
            <a:srgbClr val="3ECFA0"/>
          </a:solidFill>
          <a:ln w="12700">
            <a:solidFill>
              <a:srgbClr val="3ECFA0"/>
            </a:solidFill>
            <a:prstDash val="solid"/>
          </a:ln>
        </p:spPr>
      </p:sp>
      <p:pic>
        <p:nvPicPr>
          <p:cNvPr id="11" name="Image 1" descr="preencoded.png">    </p:cNvPr>
          <p:cNvPicPr>
            <a:picLocks noChangeAspect="1"/>
          </p:cNvPicPr>
          <p:nvPr/>
        </p:nvPicPr>
        <p:blipFill>
          <a:blip r:embed="rId2"/>
          <a:stretch>
            <a:fillRect/>
          </a:stretch>
        </p:blipFill>
        <p:spPr>
          <a:xfrm>
            <a:off x="2807208" y="1755648"/>
            <a:ext cx="237744" cy="237744"/>
          </a:xfrm>
          <a:prstGeom prst="rect">
            <a:avLst/>
          </a:prstGeom>
        </p:spPr>
      </p:pic>
      <p:sp>
        <p:nvSpPr>
          <p:cNvPr id="12" name="Text 8"/>
          <p:cNvSpPr txBox="1"/>
          <p:nvPr/>
        </p:nvSpPr>
        <p:spPr>
          <a:xfrm>
            <a:off x="2697480" y="2240280"/>
            <a:ext cx="1508760" cy="457200"/>
          </a:xfrm>
          <a:prstGeom prst="rect">
            <a:avLst/>
          </a:prstGeom>
          <a:noFill/>
          <a:ln/>
        </p:spPr>
        <p:txBody>
          <a:bodyPr wrap="square" lIns="0" tIns="0" rIns="0" bIns="0" rtlCol="0" anchor="t"/>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2. Buyer pays their way</a:t>
            </a:r>
            <a:endParaRPr lang="en-US" sz="1300" dirty="0"/>
          </a:p>
        </p:txBody>
      </p:sp>
      <p:sp>
        <p:nvSpPr>
          <p:cNvPr id="13" name="Text 9"/>
          <p:cNvSpPr txBox="1"/>
          <p:nvPr/>
        </p:nvSpPr>
        <p:spPr>
          <a:xfrm>
            <a:off x="2697480" y="2724912"/>
            <a:ext cx="1508760" cy="1188720"/>
          </a:xfrm>
          <a:prstGeom prst="rect">
            <a:avLst/>
          </a:prstGeom>
          <a:noFill/>
          <a:ln/>
        </p:spPr>
        <p:txBody>
          <a:bodyPr wrap="square" lIns="0" tIns="0" rIns="0" bIns="0" rtlCol="0" anchor="t"/>
          <a:lstStyle/>
          <a:p>
            <a:pPr algn="l" indent="0" marL="0">
              <a:lnSpc>
                <a:spcPct val="105000"/>
              </a:lnSpc>
              <a:buNone/>
            </a:pPr>
            <a:r>
              <a:rPr lang="en-US" sz="1100" dirty="0">
                <a:solidFill>
                  <a:srgbClr val="9FB8B2"/>
                </a:solidFill>
                <a:latin typeface="Calibri" pitchFamily="34" charset="0"/>
                <a:ea typeface="Calibri" pitchFamily="34" charset="-122"/>
                <a:cs typeface="Calibri" pitchFamily="34" charset="-120"/>
              </a:rPr>
              <a:t>Buyer sees the price in their own currency. Pays by mobile money, card, bank or Apple Pay.</a:t>
            </a:r>
            <a:endParaRPr lang="en-US" sz="1100" dirty="0"/>
          </a:p>
        </p:txBody>
      </p:sp>
      <p:sp>
        <p:nvSpPr>
          <p:cNvPr id="14" name="Shape 10"/>
          <p:cNvSpPr/>
          <p:nvPr/>
        </p:nvSpPr>
        <p:spPr>
          <a:xfrm>
            <a:off x="4572000" y="1463040"/>
            <a:ext cx="1874520" cy="2514600"/>
          </a:xfrm>
          <a:prstGeom prst="roundRect">
            <a:avLst>
              <a:gd name="adj" fmla="val 3902"/>
            </a:avLst>
          </a:prstGeom>
          <a:solidFill>
            <a:srgbClr val="173432"/>
          </a:solidFill>
          <a:ln w="12700">
            <a:solidFill>
              <a:srgbClr val="173432"/>
            </a:solidFill>
            <a:prstDash val="solid"/>
          </a:ln>
        </p:spPr>
      </p:sp>
      <p:sp>
        <p:nvSpPr>
          <p:cNvPr id="15" name="Shape 11"/>
          <p:cNvSpPr/>
          <p:nvPr/>
        </p:nvSpPr>
        <p:spPr>
          <a:xfrm>
            <a:off x="4754880" y="1645920"/>
            <a:ext cx="457200" cy="457200"/>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4864608" y="1755648"/>
            <a:ext cx="237744" cy="237744"/>
          </a:xfrm>
          <a:prstGeom prst="rect">
            <a:avLst/>
          </a:prstGeom>
        </p:spPr>
      </p:pic>
      <p:sp>
        <p:nvSpPr>
          <p:cNvPr id="17" name="Text 12"/>
          <p:cNvSpPr txBox="1"/>
          <p:nvPr/>
        </p:nvSpPr>
        <p:spPr>
          <a:xfrm>
            <a:off x="4754880" y="2240280"/>
            <a:ext cx="1508760" cy="457200"/>
          </a:xfrm>
          <a:prstGeom prst="rect">
            <a:avLst/>
          </a:prstGeom>
          <a:noFill/>
          <a:ln/>
        </p:spPr>
        <p:txBody>
          <a:bodyPr wrap="square" lIns="0" tIns="0" rIns="0" bIns="0" rtlCol="0" anchor="t"/>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3. Confirmed and checked</a:t>
            </a:r>
            <a:endParaRPr lang="en-US" sz="1300" dirty="0"/>
          </a:p>
        </p:txBody>
      </p:sp>
      <p:sp>
        <p:nvSpPr>
          <p:cNvPr id="18" name="Text 13"/>
          <p:cNvSpPr txBox="1"/>
          <p:nvPr/>
        </p:nvSpPr>
        <p:spPr>
          <a:xfrm>
            <a:off x="4754880" y="2724912"/>
            <a:ext cx="1508760" cy="1188720"/>
          </a:xfrm>
          <a:prstGeom prst="rect">
            <a:avLst/>
          </a:prstGeom>
          <a:noFill/>
          <a:ln/>
        </p:spPr>
        <p:txBody>
          <a:bodyPr wrap="square" lIns="0" tIns="0" rIns="0" bIns="0" rtlCol="0" anchor="t"/>
          <a:lstStyle/>
          <a:p>
            <a:pPr algn="l" indent="0" marL="0">
              <a:lnSpc>
                <a:spcPct val="105000"/>
              </a:lnSpc>
              <a:buNone/>
            </a:pPr>
            <a:r>
              <a:rPr lang="en-US" sz="1100" dirty="0">
                <a:solidFill>
                  <a:srgbClr val="9FB8B2"/>
                </a:solidFill>
                <a:latin typeface="Calibri" pitchFamily="34" charset="0"/>
                <a:ea typeface="Calibri" pitchFamily="34" charset="-122"/>
                <a:cs typeface="Calibri" pitchFamily="34" charset="-120"/>
              </a:rPr>
              <a:t>Payaza confirms the payment. Meridian runs its anti-fraud and money-laundering checks.</a:t>
            </a:r>
            <a:endParaRPr lang="en-US" sz="1100" dirty="0"/>
          </a:p>
        </p:txBody>
      </p:sp>
      <p:sp>
        <p:nvSpPr>
          <p:cNvPr id="19" name="Shape 14"/>
          <p:cNvSpPr/>
          <p:nvPr/>
        </p:nvSpPr>
        <p:spPr>
          <a:xfrm>
            <a:off x="6629400" y="1463040"/>
            <a:ext cx="1874520" cy="2514600"/>
          </a:xfrm>
          <a:prstGeom prst="roundRect">
            <a:avLst>
              <a:gd name="adj" fmla="val 3902"/>
            </a:avLst>
          </a:prstGeom>
          <a:solidFill>
            <a:srgbClr val="173432"/>
          </a:solidFill>
          <a:ln w="12700">
            <a:solidFill>
              <a:srgbClr val="173432"/>
            </a:solidFill>
            <a:prstDash val="solid"/>
          </a:ln>
        </p:spPr>
      </p:sp>
      <p:sp>
        <p:nvSpPr>
          <p:cNvPr id="20" name="Shape 15"/>
          <p:cNvSpPr/>
          <p:nvPr/>
        </p:nvSpPr>
        <p:spPr>
          <a:xfrm>
            <a:off x="6812280" y="1645920"/>
            <a:ext cx="457200" cy="457200"/>
          </a:xfrm>
          <a:prstGeom prst="ellipse">
            <a:avLst/>
          </a:prstGeom>
          <a:solidFill>
            <a:srgbClr val="3ECFA0"/>
          </a:solidFill>
          <a:ln w="12700">
            <a:solidFill>
              <a:srgbClr val="3ECFA0"/>
            </a:solidFill>
            <a:prstDash val="solid"/>
          </a:ln>
        </p:spPr>
      </p:sp>
      <p:pic>
        <p:nvPicPr>
          <p:cNvPr id="21" name="Image 3" descr="preencoded.png">    </p:cNvPr>
          <p:cNvPicPr>
            <a:picLocks noChangeAspect="1"/>
          </p:cNvPicPr>
          <p:nvPr/>
        </p:nvPicPr>
        <p:blipFill>
          <a:blip r:embed="rId4"/>
          <a:stretch>
            <a:fillRect/>
          </a:stretch>
        </p:blipFill>
        <p:spPr>
          <a:xfrm>
            <a:off x="6922008" y="1755648"/>
            <a:ext cx="237744" cy="237744"/>
          </a:xfrm>
          <a:prstGeom prst="rect">
            <a:avLst/>
          </a:prstGeom>
        </p:spPr>
      </p:pic>
      <p:sp>
        <p:nvSpPr>
          <p:cNvPr id="22" name="Text 16"/>
          <p:cNvSpPr txBox="1"/>
          <p:nvPr/>
        </p:nvSpPr>
        <p:spPr>
          <a:xfrm>
            <a:off x="6812280" y="2240280"/>
            <a:ext cx="1508760" cy="457200"/>
          </a:xfrm>
          <a:prstGeom prst="rect">
            <a:avLst/>
          </a:prstGeom>
          <a:noFill/>
          <a:ln/>
        </p:spPr>
        <p:txBody>
          <a:bodyPr wrap="square" lIns="0" tIns="0" rIns="0" bIns="0" rtlCol="0" anchor="t"/>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4. Paid out same day</a:t>
            </a:r>
            <a:endParaRPr lang="en-US" sz="1300" dirty="0"/>
          </a:p>
        </p:txBody>
      </p:sp>
      <p:sp>
        <p:nvSpPr>
          <p:cNvPr id="23" name="Text 17"/>
          <p:cNvSpPr txBox="1"/>
          <p:nvPr/>
        </p:nvSpPr>
        <p:spPr>
          <a:xfrm>
            <a:off x="6812280" y="2724912"/>
            <a:ext cx="1508760" cy="1188720"/>
          </a:xfrm>
          <a:prstGeom prst="rect">
            <a:avLst/>
          </a:prstGeom>
          <a:noFill/>
          <a:ln/>
        </p:spPr>
        <p:txBody>
          <a:bodyPr wrap="square" lIns="0" tIns="0" rIns="0" bIns="0" rtlCol="0" anchor="t"/>
          <a:lstStyle/>
          <a:p>
            <a:pPr algn="l" indent="0" marL="0">
              <a:lnSpc>
                <a:spcPct val="105000"/>
              </a:lnSpc>
              <a:buNone/>
            </a:pPr>
            <a:r>
              <a:rPr lang="en-US" sz="1100" dirty="0">
                <a:solidFill>
                  <a:srgbClr val="9FB8B2"/>
                </a:solidFill>
                <a:latin typeface="Calibri" pitchFamily="34" charset="0"/>
                <a:ea typeface="Calibri" pitchFamily="34" charset="-122"/>
                <a:cs typeface="Calibri" pitchFamily="34" charset="-120"/>
              </a:rPr>
              <a:t>The exporter’s bank or M-Pesa gets the invoiced amount in shillings. Receipt sent to both sides.</a:t>
            </a:r>
            <a:endParaRPr lang="en-US" sz="1100" dirty="0"/>
          </a:p>
        </p:txBody>
      </p:sp>
      <p:sp>
        <p:nvSpPr>
          <p:cNvPr id="24" name="Text 18"/>
          <p:cNvSpPr txBox="1"/>
          <p:nvPr/>
        </p:nvSpPr>
        <p:spPr>
          <a:xfrm>
            <a:off x="457200" y="4160520"/>
            <a:ext cx="8229600" cy="411480"/>
          </a:xfrm>
          <a:prstGeom prst="rect">
            <a:avLst/>
          </a:prstGeom>
          <a:noFill/>
          <a:ln/>
        </p:spPr>
        <p:txBody>
          <a:bodyPr wrap="square" lIns="0" tIns="0" rIns="0" bIns="0" rtlCol="0" anchor="t"/>
          <a:lstStyle/>
          <a:p>
            <a:pPr algn="l" indent="0" marL="0">
              <a:lnSpc>
                <a:spcPct val="105000"/>
              </a:lnSpc>
              <a:buNone/>
            </a:pPr>
            <a:r>
              <a:rPr lang="en-US" sz="1200" dirty="0">
                <a:solidFill>
                  <a:srgbClr val="3ECFA0"/>
                </a:solidFill>
                <a:latin typeface="Calibri" pitchFamily="34" charset="0"/>
                <a:ea typeface="Calibri" pitchFamily="34" charset="-122"/>
                <a:cs typeface="Calibri" pitchFamily="34" charset="-120"/>
              </a:rPr>
              <a:t>No FX markup from Meridian. The rate is shown to the buyer before they pay. Pricing: flat 1% plus Payaza’s fee, shown up front.</a:t>
            </a:r>
            <a:endParaRPr lang="en-US" sz="1200" dirty="0"/>
          </a:p>
        </p:txBody>
      </p:sp>
      <p:sp>
        <p:nvSpPr>
          <p:cNvPr id="25" name="Text 19"/>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26" name="Text 20"/>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Payaza does the heavy lifting</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Every step of the money flow runs on Payaza’s APIs.</a:t>
            </a:r>
            <a:endParaRPr lang="en-US" sz="1400" dirty="0"/>
          </a:p>
        </p:txBody>
      </p:sp>
      <p:sp>
        <p:nvSpPr>
          <p:cNvPr id="4" name="Shape 2"/>
          <p:cNvSpPr/>
          <p:nvPr/>
        </p:nvSpPr>
        <p:spPr>
          <a:xfrm>
            <a:off x="457200" y="1417320"/>
            <a:ext cx="2606040" cy="1188720"/>
          </a:xfrm>
          <a:prstGeom prst="roundRect">
            <a:avLst>
              <a:gd name="adj" fmla="val 6154"/>
            </a:avLst>
          </a:prstGeom>
          <a:solidFill>
            <a:srgbClr val="173432"/>
          </a:solidFill>
          <a:ln w="12700">
            <a:solidFill>
              <a:srgbClr val="173432"/>
            </a:solidFill>
            <a:prstDash val="solid"/>
          </a:ln>
        </p:spPr>
      </p:sp>
      <p:sp>
        <p:nvSpPr>
          <p:cNvPr id="5" name="Shape 3"/>
          <p:cNvSpPr/>
          <p:nvPr/>
        </p:nvSpPr>
        <p:spPr>
          <a:xfrm>
            <a:off x="621792" y="1600200"/>
            <a:ext cx="384048" cy="384048"/>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13964" y="1692372"/>
            <a:ext cx="199705" cy="199705"/>
          </a:xfrm>
          <a:prstGeom prst="rect">
            <a:avLst/>
          </a:prstGeom>
        </p:spPr>
      </p:pic>
      <p:sp>
        <p:nvSpPr>
          <p:cNvPr id="7" name="Text 4"/>
          <p:cNvSpPr txBox="1"/>
          <p:nvPr/>
        </p:nvSpPr>
        <p:spPr>
          <a:xfrm>
            <a:off x="1115568" y="16002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Payment Links + Web Checkout</a:t>
            </a:r>
            <a:endParaRPr lang="en-US" sz="1200" dirty="0"/>
          </a:p>
        </p:txBody>
      </p:sp>
      <p:sp>
        <p:nvSpPr>
          <p:cNvPr id="8" name="Text 5"/>
          <p:cNvSpPr txBox="1"/>
          <p:nvPr/>
        </p:nvSpPr>
        <p:spPr>
          <a:xfrm>
            <a:off x="621792" y="20756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The link the exporter sends. Hosted page the buyer pays on.</a:t>
            </a:r>
            <a:endParaRPr lang="en-US" sz="1050" dirty="0"/>
          </a:p>
        </p:txBody>
      </p:sp>
      <p:sp>
        <p:nvSpPr>
          <p:cNvPr id="9" name="Shape 6"/>
          <p:cNvSpPr/>
          <p:nvPr/>
        </p:nvSpPr>
        <p:spPr>
          <a:xfrm>
            <a:off x="3268980" y="1417320"/>
            <a:ext cx="2606040" cy="1188720"/>
          </a:xfrm>
          <a:prstGeom prst="roundRect">
            <a:avLst>
              <a:gd name="adj" fmla="val 6154"/>
            </a:avLst>
          </a:prstGeom>
          <a:solidFill>
            <a:srgbClr val="173432"/>
          </a:solidFill>
          <a:ln w="12700">
            <a:solidFill>
              <a:srgbClr val="173432"/>
            </a:solidFill>
            <a:prstDash val="solid"/>
          </a:ln>
        </p:spPr>
      </p:sp>
      <p:sp>
        <p:nvSpPr>
          <p:cNvPr id="10" name="Shape 7"/>
          <p:cNvSpPr/>
          <p:nvPr/>
        </p:nvSpPr>
        <p:spPr>
          <a:xfrm>
            <a:off x="3433572" y="1600200"/>
            <a:ext cx="384048" cy="384048"/>
          </a:xfrm>
          <a:prstGeom prst="ellipse">
            <a:avLst/>
          </a:prstGeom>
          <a:solidFill>
            <a:srgbClr val="3ECFA0"/>
          </a:solidFill>
          <a:ln w="12700">
            <a:solidFill>
              <a:srgbClr val="3ECFA0"/>
            </a:solidFill>
            <a:prstDash val="solid"/>
          </a:ln>
        </p:spPr>
      </p:sp>
      <p:pic>
        <p:nvPicPr>
          <p:cNvPr id="11" name="Image 1" descr="preencoded.png">    </p:cNvPr>
          <p:cNvPicPr>
            <a:picLocks noChangeAspect="1"/>
          </p:cNvPicPr>
          <p:nvPr/>
        </p:nvPicPr>
        <p:blipFill>
          <a:blip r:embed="rId2"/>
          <a:stretch>
            <a:fillRect/>
          </a:stretch>
        </p:blipFill>
        <p:spPr>
          <a:xfrm>
            <a:off x="3525744" y="1692372"/>
            <a:ext cx="199705" cy="199705"/>
          </a:xfrm>
          <a:prstGeom prst="rect">
            <a:avLst/>
          </a:prstGeom>
        </p:spPr>
      </p:pic>
      <p:sp>
        <p:nvSpPr>
          <p:cNvPr id="12" name="Text 8"/>
          <p:cNvSpPr txBox="1"/>
          <p:nvPr/>
        </p:nvSpPr>
        <p:spPr>
          <a:xfrm>
            <a:off x="3927348" y="16002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Mobile money collections</a:t>
            </a:r>
            <a:endParaRPr lang="en-US" sz="1200" dirty="0"/>
          </a:p>
        </p:txBody>
      </p:sp>
      <p:sp>
        <p:nvSpPr>
          <p:cNvPr id="13" name="Text 9"/>
          <p:cNvSpPr txBox="1"/>
          <p:nvPr/>
        </p:nvSpPr>
        <p:spPr>
          <a:xfrm>
            <a:off x="3433572" y="20756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Buyers in Ghana, Côte d’Ivoire, Uganda, Tanzania, Kenya pay from their wallet.</a:t>
            </a:r>
            <a:endParaRPr lang="en-US" sz="1050" dirty="0"/>
          </a:p>
        </p:txBody>
      </p:sp>
      <p:sp>
        <p:nvSpPr>
          <p:cNvPr id="14" name="Shape 10"/>
          <p:cNvSpPr/>
          <p:nvPr/>
        </p:nvSpPr>
        <p:spPr>
          <a:xfrm>
            <a:off x="6080760" y="1417320"/>
            <a:ext cx="2606040" cy="1188720"/>
          </a:xfrm>
          <a:prstGeom prst="roundRect">
            <a:avLst>
              <a:gd name="adj" fmla="val 6154"/>
            </a:avLst>
          </a:prstGeom>
          <a:solidFill>
            <a:srgbClr val="173432"/>
          </a:solidFill>
          <a:ln w="12700">
            <a:solidFill>
              <a:srgbClr val="173432"/>
            </a:solidFill>
            <a:prstDash val="solid"/>
          </a:ln>
        </p:spPr>
      </p:sp>
      <p:sp>
        <p:nvSpPr>
          <p:cNvPr id="15" name="Shape 11"/>
          <p:cNvSpPr/>
          <p:nvPr/>
        </p:nvSpPr>
        <p:spPr>
          <a:xfrm>
            <a:off x="6245352" y="1600200"/>
            <a:ext cx="384048" cy="384048"/>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6337524" y="1692372"/>
            <a:ext cx="199705" cy="199705"/>
          </a:xfrm>
          <a:prstGeom prst="rect">
            <a:avLst/>
          </a:prstGeom>
        </p:spPr>
      </p:pic>
      <p:sp>
        <p:nvSpPr>
          <p:cNvPr id="17" name="Text 12"/>
          <p:cNvSpPr txBox="1"/>
          <p:nvPr/>
        </p:nvSpPr>
        <p:spPr>
          <a:xfrm>
            <a:off x="6739128" y="16002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NGN virtual accounts</a:t>
            </a:r>
            <a:endParaRPr lang="en-US" sz="1200" dirty="0"/>
          </a:p>
        </p:txBody>
      </p:sp>
      <p:sp>
        <p:nvSpPr>
          <p:cNvPr id="18" name="Text 13"/>
          <p:cNvSpPr txBox="1"/>
          <p:nvPr/>
        </p:nvSpPr>
        <p:spPr>
          <a:xfrm>
            <a:off x="6245352" y="20756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Nigerian buyers pay by plain bank transfer to a one-off account.</a:t>
            </a:r>
            <a:endParaRPr lang="en-US" sz="1050" dirty="0"/>
          </a:p>
        </p:txBody>
      </p:sp>
      <p:sp>
        <p:nvSpPr>
          <p:cNvPr id="19" name="Shape 14"/>
          <p:cNvSpPr/>
          <p:nvPr/>
        </p:nvSpPr>
        <p:spPr>
          <a:xfrm>
            <a:off x="457200" y="2788920"/>
            <a:ext cx="2606040" cy="1188720"/>
          </a:xfrm>
          <a:prstGeom prst="roundRect">
            <a:avLst>
              <a:gd name="adj" fmla="val 6154"/>
            </a:avLst>
          </a:prstGeom>
          <a:solidFill>
            <a:srgbClr val="173432"/>
          </a:solidFill>
          <a:ln w="12700">
            <a:solidFill>
              <a:srgbClr val="173432"/>
            </a:solidFill>
            <a:prstDash val="solid"/>
          </a:ln>
        </p:spPr>
      </p:sp>
      <p:sp>
        <p:nvSpPr>
          <p:cNvPr id="20" name="Shape 15"/>
          <p:cNvSpPr/>
          <p:nvPr/>
        </p:nvSpPr>
        <p:spPr>
          <a:xfrm>
            <a:off x="621792" y="2971800"/>
            <a:ext cx="384048" cy="384048"/>
          </a:xfrm>
          <a:prstGeom prst="ellipse">
            <a:avLst/>
          </a:prstGeom>
          <a:solidFill>
            <a:srgbClr val="3ECFA0"/>
          </a:solidFill>
          <a:ln w="12700">
            <a:solidFill>
              <a:srgbClr val="3ECFA0"/>
            </a:solidFill>
            <a:prstDash val="solid"/>
          </a:ln>
        </p:spPr>
      </p:sp>
      <p:pic>
        <p:nvPicPr>
          <p:cNvPr id="21" name="Image 3" descr="preencoded.png">    </p:cNvPr>
          <p:cNvPicPr>
            <a:picLocks noChangeAspect="1"/>
          </p:cNvPicPr>
          <p:nvPr/>
        </p:nvPicPr>
        <p:blipFill>
          <a:blip r:embed="rId4"/>
          <a:stretch>
            <a:fillRect/>
          </a:stretch>
        </p:blipFill>
        <p:spPr>
          <a:xfrm>
            <a:off x="713964" y="3063972"/>
            <a:ext cx="199705" cy="199705"/>
          </a:xfrm>
          <a:prstGeom prst="rect">
            <a:avLst/>
          </a:prstGeom>
        </p:spPr>
      </p:pic>
      <p:sp>
        <p:nvSpPr>
          <p:cNvPr id="22" name="Text 16"/>
          <p:cNvSpPr txBox="1"/>
          <p:nvPr/>
        </p:nvSpPr>
        <p:spPr>
          <a:xfrm>
            <a:off x="1115568" y="29718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Cards, Apple Pay, Google Pay</a:t>
            </a:r>
            <a:endParaRPr lang="en-US" sz="1200" dirty="0"/>
          </a:p>
        </p:txBody>
      </p:sp>
      <p:sp>
        <p:nvSpPr>
          <p:cNvPr id="23" name="Text 17"/>
          <p:cNvSpPr txBox="1"/>
          <p:nvPr/>
        </p:nvSpPr>
        <p:spPr>
          <a:xfrm>
            <a:off x="621792" y="34472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Buyers in Europe, the Gulf and Namibia pay by card, 3DS secured.</a:t>
            </a:r>
            <a:endParaRPr lang="en-US" sz="1050" dirty="0"/>
          </a:p>
        </p:txBody>
      </p:sp>
      <p:sp>
        <p:nvSpPr>
          <p:cNvPr id="24" name="Shape 18"/>
          <p:cNvSpPr/>
          <p:nvPr/>
        </p:nvSpPr>
        <p:spPr>
          <a:xfrm>
            <a:off x="3268980" y="2788920"/>
            <a:ext cx="2606040" cy="1188720"/>
          </a:xfrm>
          <a:prstGeom prst="roundRect">
            <a:avLst>
              <a:gd name="adj" fmla="val 6154"/>
            </a:avLst>
          </a:prstGeom>
          <a:solidFill>
            <a:srgbClr val="173432"/>
          </a:solidFill>
          <a:ln w="12700">
            <a:solidFill>
              <a:srgbClr val="173432"/>
            </a:solidFill>
            <a:prstDash val="solid"/>
          </a:ln>
        </p:spPr>
      </p:sp>
      <p:sp>
        <p:nvSpPr>
          <p:cNvPr id="25" name="Shape 19"/>
          <p:cNvSpPr/>
          <p:nvPr/>
        </p:nvSpPr>
        <p:spPr>
          <a:xfrm>
            <a:off x="3433572" y="2971800"/>
            <a:ext cx="384048" cy="384048"/>
          </a:xfrm>
          <a:prstGeom prst="ellipse">
            <a:avLst/>
          </a:prstGeom>
          <a:solidFill>
            <a:srgbClr val="3ECFA0"/>
          </a:solidFill>
          <a:ln w="12700">
            <a:solidFill>
              <a:srgbClr val="3ECFA0"/>
            </a:solidFill>
            <a:prstDash val="solid"/>
          </a:ln>
        </p:spPr>
      </p:sp>
      <p:pic>
        <p:nvPicPr>
          <p:cNvPr id="26" name="Image 4" descr="preencoded.png">    </p:cNvPr>
          <p:cNvPicPr>
            <a:picLocks noChangeAspect="1"/>
          </p:cNvPicPr>
          <p:nvPr/>
        </p:nvPicPr>
        <p:blipFill>
          <a:blip r:embed="rId5"/>
          <a:stretch>
            <a:fillRect/>
          </a:stretch>
        </p:blipFill>
        <p:spPr>
          <a:xfrm>
            <a:off x="3525744" y="3063972"/>
            <a:ext cx="199705" cy="199705"/>
          </a:xfrm>
          <a:prstGeom prst="rect">
            <a:avLst/>
          </a:prstGeom>
        </p:spPr>
      </p:pic>
      <p:sp>
        <p:nvSpPr>
          <p:cNvPr id="27" name="Text 20"/>
          <p:cNvSpPr txBox="1"/>
          <p:nvPr/>
        </p:nvSpPr>
        <p:spPr>
          <a:xfrm>
            <a:off x="3927348" y="29718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Split settlement</a:t>
            </a:r>
            <a:endParaRPr lang="en-US" sz="1200" dirty="0"/>
          </a:p>
        </p:txBody>
      </p:sp>
      <p:sp>
        <p:nvSpPr>
          <p:cNvPr id="28" name="Text 21"/>
          <p:cNvSpPr txBox="1"/>
          <p:nvPr/>
        </p:nvSpPr>
        <p:spPr>
          <a:xfrm>
            <a:off x="3433572" y="34472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Each payment splits itself. Exporter’s share and Meridian’s 1% go their own way.</a:t>
            </a:r>
            <a:endParaRPr lang="en-US" sz="1050" dirty="0"/>
          </a:p>
        </p:txBody>
      </p:sp>
      <p:sp>
        <p:nvSpPr>
          <p:cNvPr id="29" name="Shape 22"/>
          <p:cNvSpPr/>
          <p:nvPr/>
        </p:nvSpPr>
        <p:spPr>
          <a:xfrm>
            <a:off x="6080760" y="2788920"/>
            <a:ext cx="2606040" cy="1188720"/>
          </a:xfrm>
          <a:prstGeom prst="roundRect">
            <a:avLst>
              <a:gd name="adj" fmla="val 6154"/>
            </a:avLst>
          </a:prstGeom>
          <a:solidFill>
            <a:srgbClr val="173432"/>
          </a:solidFill>
          <a:ln w="12700">
            <a:solidFill>
              <a:srgbClr val="173432"/>
            </a:solidFill>
            <a:prstDash val="solid"/>
          </a:ln>
        </p:spPr>
      </p:sp>
      <p:sp>
        <p:nvSpPr>
          <p:cNvPr id="30" name="Shape 23"/>
          <p:cNvSpPr/>
          <p:nvPr/>
        </p:nvSpPr>
        <p:spPr>
          <a:xfrm>
            <a:off x="6245352" y="2971800"/>
            <a:ext cx="384048" cy="384048"/>
          </a:xfrm>
          <a:prstGeom prst="ellipse">
            <a:avLst/>
          </a:prstGeom>
          <a:solidFill>
            <a:srgbClr val="3ECFA0"/>
          </a:solidFill>
          <a:ln w="12700">
            <a:solidFill>
              <a:srgbClr val="3ECFA0"/>
            </a:solidFill>
            <a:prstDash val="solid"/>
          </a:ln>
        </p:spPr>
      </p:sp>
      <p:pic>
        <p:nvPicPr>
          <p:cNvPr id="31" name="Image 5" descr="preencoded.png">    </p:cNvPr>
          <p:cNvPicPr>
            <a:picLocks noChangeAspect="1"/>
          </p:cNvPicPr>
          <p:nvPr/>
        </p:nvPicPr>
        <p:blipFill>
          <a:blip r:embed="rId6"/>
          <a:stretch>
            <a:fillRect/>
          </a:stretch>
        </p:blipFill>
        <p:spPr>
          <a:xfrm>
            <a:off x="6337524" y="3063972"/>
            <a:ext cx="199705" cy="199705"/>
          </a:xfrm>
          <a:prstGeom prst="rect">
            <a:avLst/>
          </a:prstGeom>
        </p:spPr>
      </p:pic>
      <p:sp>
        <p:nvSpPr>
          <p:cNvPr id="32" name="Text 24"/>
          <p:cNvSpPr txBox="1"/>
          <p:nvPr/>
        </p:nvSpPr>
        <p:spPr>
          <a:xfrm>
            <a:off x="6739128" y="2971800"/>
            <a:ext cx="1828800" cy="384048"/>
          </a:xfrm>
          <a:prstGeom prst="rect">
            <a:avLst/>
          </a:prstGeom>
          <a:noFill/>
          <a:ln/>
        </p:spPr>
        <p:txBody>
          <a:bodyPr wrap="square" lIns="0" tIns="0" rIns="0" bIns="0" rtlCol="0" anchor="ctr"/>
          <a:lstStyle/>
          <a:p>
            <a:pPr algn="l" indent="0" marL="0">
              <a:lnSpc>
                <a:spcPct val="105000"/>
              </a:lnSpc>
              <a:buNone/>
            </a:pPr>
            <a:r>
              <a:rPr lang="en-US" sz="1200" b="1" dirty="0">
                <a:solidFill>
                  <a:srgbClr val="F2F7F4"/>
                </a:solidFill>
                <a:latin typeface="Calibri" pitchFamily="34" charset="0"/>
                <a:ea typeface="Calibri" pitchFamily="34" charset="-122"/>
                <a:cs typeface="Calibri" pitchFamily="34" charset="-120"/>
              </a:rPr>
              <a:t>Transfers + account name check</a:t>
            </a:r>
            <a:endParaRPr lang="en-US" sz="1200" dirty="0"/>
          </a:p>
        </p:txBody>
      </p:sp>
      <p:sp>
        <p:nvSpPr>
          <p:cNvPr id="33" name="Text 25"/>
          <p:cNvSpPr txBox="1"/>
          <p:nvPr/>
        </p:nvSpPr>
        <p:spPr>
          <a:xfrm>
            <a:off x="6245352" y="3447288"/>
            <a:ext cx="2276856" cy="502920"/>
          </a:xfrm>
          <a:prstGeom prst="rect">
            <a:avLst/>
          </a:prstGeom>
          <a:noFill/>
          <a:ln/>
        </p:spPr>
        <p:txBody>
          <a:bodyPr wrap="square" lIns="0" tIns="0" rIns="0" bIns="0" rtlCol="0" anchor="t"/>
          <a:lstStyle/>
          <a:p>
            <a:pPr algn="l" indent="0" marL="0">
              <a:lnSpc>
                <a:spcPct val="105000"/>
              </a:lnSpc>
              <a:buNone/>
            </a:pPr>
            <a:r>
              <a:rPr lang="en-US" sz="1050" dirty="0">
                <a:solidFill>
                  <a:srgbClr val="9FB8B2"/>
                </a:solidFill>
                <a:latin typeface="Calibri" pitchFamily="34" charset="0"/>
                <a:ea typeface="Calibri" pitchFamily="34" charset="-122"/>
                <a:cs typeface="Calibri" pitchFamily="34" charset="-120"/>
              </a:rPr>
              <a:t>Pays out to the exporter’s Kenyan bank or M-Pesa after the name is verified.</a:t>
            </a:r>
            <a:endParaRPr lang="en-US" sz="1050" dirty="0"/>
          </a:p>
        </p:txBody>
      </p:sp>
      <p:sp>
        <p:nvSpPr>
          <p:cNvPr id="34" name="Text 26"/>
          <p:cNvSpPr txBox="1"/>
          <p:nvPr/>
        </p:nvSpPr>
        <p:spPr>
          <a:xfrm>
            <a:off x="457200" y="4206240"/>
            <a:ext cx="8229600" cy="320040"/>
          </a:xfrm>
          <a:prstGeom prst="rect">
            <a:avLst/>
          </a:prstGeom>
          <a:noFill/>
          <a:ln/>
        </p:spPr>
        <p:txBody>
          <a:bodyPr wrap="square" lIns="0" tIns="0" rIns="0" bIns="0" rtlCol="0" anchor="t"/>
          <a:lstStyle/>
          <a:p>
            <a:pPr algn="l" indent="0" marL="0">
              <a:lnSpc>
                <a:spcPct val="105000"/>
              </a:lnSpc>
              <a:buNone/>
            </a:pPr>
            <a:r>
              <a:rPr lang="en-US" sz="1100" i="1" dirty="0">
                <a:solidFill>
                  <a:srgbClr val="9FB8B2"/>
                </a:solidFill>
                <a:latin typeface="Calibri" pitchFamily="34" charset="0"/>
                <a:ea typeface="Calibri" pitchFamily="34" charset="-122"/>
                <a:cs typeface="Calibri" pitchFamily="34" charset="-120"/>
              </a:rPr>
              <a:t>Webhooks and status checks tie it together, so every payment has a live timeline the exporter can see.</a:t>
            </a:r>
            <a:endParaRPr lang="en-US" sz="1100" dirty="0"/>
          </a:p>
        </p:txBody>
      </p:sp>
      <p:sp>
        <p:nvSpPr>
          <p:cNvPr id="35" name="Text 27"/>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36" name="Text 28"/>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Ann’s next order, end to end</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Illustrative. Ghana buyer, flowers worth KSh 650,000.</a:t>
            </a:r>
            <a:endParaRPr lang="en-US" sz="1400" dirty="0"/>
          </a:p>
        </p:txBody>
      </p:sp>
      <p:sp>
        <p:nvSpPr>
          <p:cNvPr id="4" name="Shape 2"/>
          <p:cNvSpPr/>
          <p:nvPr/>
        </p:nvSpPr>
        <p:spPr>
          <a:xfrm>
            <a:off x="1536192" y="1508760"/>
            <a:ext cx="146304" cy="146304"/>
          </a:xfrm>
          <a:prstGeom prst="ellipse">
            <a:avLst/>
          </a:prstGeom>
          <a:solidFill>
            <a:srgbClr val="3ECFA0"/>
          </a:solidFill>
          <a:ln w="12700">
            <a:solidFill>
              <a:srgbClr val="3ECFA0"/>
            </a:solidFill>
            <a:prstDash val="solid"/>
          </a:ln>
        </p:spPr>
      </p:sp>
      <p:sp>
        <p:nvSpPr>
          <p:cNvPr id="5" name="Text 3"/>
          <p:cNvSpPr txBox="1"/>
          <p:nvPr/>
        </p:nvSpPr>
        <p:spPr>
          <a:xfrm>
            <a:off x="457200" y="1444752"/>
            <a:ext cx="960120" cy="274320"/>
          </a:xfrm>
          <a:prstGeom prst="rect">
            <a:avLst/>
          </a:prstGeom>
          <a:noFill/>
          <a:ln/>
        </p:spPr>
        <p:txBody>
          <a:bodyPr wrap="square" lIns="0" tIns="0" rIns="0" bIns="0" rtlCol="0" anchor="t"/>
          <a:lstStyle/>
          <a:p>
            <a:pPr algn="r" indent="0" marL="0">
              <a:lnSpc>
                <a:spcPct val="105000"/>
              </a:lnSpc>
              <a:buNone/>
            </a:pPr>
            <a:r>
              <a:rPr lang="en-US" sz="1300" b="1" dirty="0">
                <a:solidFill>
                  <a:srgbClr val="3ECFA0"/>
                </a:solidFill>
                <a:latin typeface="Calibri" pitchFamily="34" charset="0"/>
                <a:ea typeface="Calibri" pitchFamily="34" charset="-122"/>
                <a:cs typeface="Calibri" pitchFamily="34" charset="-120"/>
              </a:rPr>
              <a:t>9:00</a:t>
            </a:r>
            <a:endParaRPr lang="en-US" sz="1300" dirty="0"/>
          </a:p>
        </p:txBody>
      </p:sp>
      <p:sp>
        <p:nvSpPr>
          <p:cNvPr id="6" name="Text 4"/>
          <p:cNvSpPr txBox="1"/>
          <p:nvPr/>
        </p:nvSpPr>
        <p:spPr>
          <a:xfrm>
            <a:off x="1828800" y="1444752"/>
            <a:ext cx="3657600" cy="548640"/>
          </a:xfrm>
          <a:prstGeom prst="rect">
            <a:avLst/>
          </a:prstGeom>
          <a:noFill/>
          <a:ln/>
        </p:spPr>
        <p:txBody>
          <a:bodyPr wrap="square" lIns="0" tIns="0" rIns="0" bIns="0" rtlCol="0" anchor="t"/>
          <a:lstStyle/>
          <a:p>
            <a:pPr algn="l" indent="0" marL="0">
              <a:lnSpc>
                <a:spcPct val="105000"/>
              </a:lnSpc>
              <a:buNone/>
            </a:pPr>
            <a:r>
              <a:rPr lang="en-US" sz="1200" dirty="0">
                <a:solidFill>
                  <a:srgbClr val="F2F7F4"/>
                </a:solidFill>
                <a:latin typeface="Calibri" pitchFamily="34" charset="0"/>
                <a:ea typeface="Calibri" pitchFamily="34" charset="-122"/>
                <a:cs typeface="Calibri" pitchFamily="34" charset="-120"/>
              </a:rPr>
              <a:t>Ann creates an invoice for KSh 650,000 and sends the link on WhatsApp.</a:t>
            </a:r>
            <a:endParaRPr lang="en-US" sz="1200" dirty="0"/>
          </a:p>
        </p:txBody>
      </p:sp>
      <p:sp>
        <p:nvSpPr>
          <p:cNvPr id="7" name="Shape 5"/>
          <p:cNvSpPr/>
          <p:nvPr/>
        </p:nvSpPr>
        <p:spPr>
          <a:xfrm>
            <a:off x="1536192" y="2167128"/>
            <a:ext cx="146304" cy="146304"/>
          </a:xfrm>
          <a:prstGeom prst="ellipse">
            <a:avLst/>
          </a:prstGeom>
          <a:solidFill>
            <a:srgbClr val="3ECFA0"/>
          </a:solidFill>
          <a:ln w="12700">
            <a:solidFill>
              <a:srgbClr val="3ECFA0"/>
            </a:solidFill>
            <a:prstDash val="solid"/>
          </a:ln>
        </p:spPr>
      </p:sp>
      <p:sp>
        <p:nvSpPr>
          <p:cNvPr id="8" name="Text 6"/>
          <p:cNvSpPr txBox="1"/>
          <p:nvPr/>
        </p:nvSpPr>
        <p:spPr>
          <a:xfrm>
            <a:off x="457200" y="2103120"/>
            <a:ext cx="960120" cy="274320"/>
          </a:xfrm>
          <a:prstGeom prst="rect">
            <a:avLst/>
          </a:prstGeom>
          <a:noFill/>
          <a:ln/>
        </p:spPr>
        <p:txBody>
          <a:bodyPr wrap="square" lIns="0" tIns="0" rIns="0" bIns="0" rtlCol="0" anchor="t"/>
          <a:lstStyle/>
          <a:p>
            <a:pPr algn="r" indent="0" marL="0">
              <a:lnSpc>
                <a:spcPct val="105000"/>
              </a:lnSpc>
              <a:buNone/>
            </a:pPr>
            <a:r>
              <a:rPr lang="en-US" sz="1300" b="1" dirty="0">
                <a:solidFill>
                  <a:srgbClr val="3ECFA0"/>
                </a:solidFill>
                <a:latin typeface="Calibri" pitchFamily="34" charset="0"/>
                <a:ea typeface="Calibri" pitchFamily="34" charset="-122"/>
                <a:cs typeface="Calibri" pitchFamily="34" charset="-120"/>
              </a:rPr>
              <a:t>9:40</a:t>
            </a:r>
            <a:endParaRPr lang="en-US" sz="1300" dirty="0"/>
          </a:p>
        </p:txBody>
      </p:sp>
      <p:sp>
        <p:nvSpPr>
          <p:cNvPr id="9" name="Text 7"/>
          <p:cNvSpPr txBox="1"/>
          <p:nvPr/>
        </p:nvSpPr>
        <p:spPr>
          <a:xfrm>
            <a:off x="1828800" y="2103120"/>
            <a:ext cx="3657600" cy="548640"/>
          </a:xfrm>
          <a:prstGeom prst="rect">
            <a:avLst/>
          </a:prstGeom>
          <a:noFill/>
          <a:ln/>
        </p:spPr>
        <p:txBody>
          <a:bodyPr wrap="square" lIns="0" tIns="0" rIns="0" bIns="0" rtlCol="0" anchor="t"/>
          <a:lstStyle/>
          <a:p>
            <a:pPr algn="l" indent="0" marL="0">
              <a:lnSpc>
                <a:spcPct val="105000"/>
              </a:lnSpc>
              <a:buNone/>
            </a:pPr>
            <a:r>
              <a:rPr lang="en-US" sz="1200" dirty="0">
                <a:solidFill>
                  <a:srgbClr val="F2F7F4"/>
                </a:solidFill>
                <a:latin typeface="Calibri" pitchFamily="34" charset="0"/>
                <a:ea typeface="Calibri" pitchFamily="34" charset="-122"/>
                <a:cs typeface="Calibri" pitchFamily="34" charset="-120"/>
              </a:rPr>
              <a:t>Buyer in Accra opens it. Sees the price in cedis. Pays with MTN Mobile Money.</a:t>
            </a:r>
            <a:endParaRPr lang="en-US" sz="1200" dirty="0"/>
          </a:p>
        </p:txBody>
      </p:sp>
      <p:sp>
        <p:nvSpPr>
          <p:cNvPr id="10" name="Shape 8"/>
          <p:cNvSpPr/>
          <p:nvPr/>
        </p:nvSpPr>
        <p:spPr>
          <a:xfrm>
            <a:off x="1536192" y="2825496"/>
            <a:ext cx="146304" cy="146304"/>
          </a:xfrm>
          <a:prstGeom prst="ellipse">
            <a:avLst/>
          </a:prstGeom>
          <a:solidFill>
            <a:srgbClr val="3ECFA0"/>
          </a:solidFill>
          <a:ln w="12700">
            <a:solidFill>
              <a:srgbClr val="3ECFA0"/>
            </a:solidFill>
            <a:prstDash val="solid"/>
          </a:ln>
        </p:spPr>
      </p:sp>
      <p:sp>
        <p:nvSpPr>
          <p:cNvPr id="11" name="Text 9"/>
          <p:cNvSpPr txBox="1"/>
          <p:nvPr/>
        </p:nvSpPr>
        <p:spPr>
          <a:xfrm>
            <a:off x="457200" y="2761488"/>
            <a:ext cx="960120" cy="274320"/>
          </a:xfrm>
          <a:prstGeom prst="rect">
            <a:avLst/>
          </a:prstGeom>
          <a:noFill/>
          <a:ln/>
        </p:spPr>
        <p:txBody>
          <a:bodyPr wrap="square" lIns="0" tIns="0" rIns="0" bIns="0" rtlCol="0" anchor="t"/>
          <a:lstStyle/>
          <a:p>
            <a:pPr algn="r" indent="0" marL="0">
              <a:lnSpc>
                <a:spcPct val="105000"/>
              </a:lnSpc>
              <a:buNone/>
            </a:pPr>
            <a:r>
              <a:rPr lang="en-US" sz="1300" b="1" dirty="0">
                <a:solidFill>
                  <a:srgbClr val="3ECFA0"/>
                </a:solidFill>
                <a:latin typeface="Calibri" pitchFamily="34" charset="0"/>
                <a:ea typeface="Calibri" pitchFamily="34" charset="-122"/>
                <a:cs typeface="Calibri" pitchFamily="34" charset="-120"/>
              </a:rPr>
              <a:t>9:41</a:t>
            </a:r>
            <a:endParaRPr lang="en-US" sz="1300" dirty="0"/>
          </a:p>
        </p:txBody>
      </p:sp>
      <p:sp>
        <p:nvSpPr>
          <p:cNvPr id="12" name="Text 10"/>
          <p:cNvSpPr txBox="1"/>
          <p:nvPr/>
        </p:nvSpPr>
        <p:spPr>
          <a:xfrm>
            <a:off x="1828800" y="2761488"/>
            <a:ext cx="3657600" cy="548640"/>
          </a:xfrm>
          <a:prstGeom prst="rect">
            <a:avLst/>
          </a:prstGeom>
          <a:noFill/>
          <a:ln/>
        </p:spPr>
        <p:txBody>
          <a:bodyPr wrap="square" lIns="0" tIns="0" rIns="0" bIns="0" rtlCol="0" anchor="t"/>
          <a:lstStyle/>
          <a:p>
            <a:pPr algn="l" indent="0" marL="0">
              <a:lnSpc>
                <a:spcPct val="105000"/>
              </a:lnSpc>
              <a:buNone/>
            </a:pPr>
            <a:r>
              <a:rPr lang="en-US" sz="1200" dirty="0">
                <a:solidFill>
                  <a:srgbClr val="F2F7F4"/>
                </a:solidFill>
                <a:latin typeface="Calibri" pitchFamily="34" charset="0"/>
                <a:ea typeface="Calibri" pitchFamily="34" charset="-122"/>
                <a:cs typeface="Calibri" pitchFamily="34" charset="-120"/>
              </a:rPr>
              <a:t>Payaza confirms. Meridian’s checks pass. Timeline shows “Paid”.</a:t>
            </a:r>
            <a:endParaRPr lang="en-US" sz="1200" dirty="0"/>
          </a:p>
        </p:txBody>
      </p:sp>
      <p:sp>
        <p:nvSpPr>
          <p:cNvPr id="13" name="Shape 11"/>
          <p:cNvSpPr/>
          <p:nvPr/>
        </p:nvSpPr>
        <p:spPr>
          <a:xfrm>
            <a:off x="1536192" y="3483864"/>
            <a:ext cx="146304" cy="146304"/>
          </a:xfrm>
          <a:prstGeom prst="ellipse">
            <a:avLst/>
          </a:prstGeom>
          <a:solidFill>
            <a:srgbClr val="3ECFA0"/>
          </a:solidFill>
          <a:ln w="12700">
            <a:solidFill>
              <a:srgbClr val="3ECFA0"/>
            </a:solidFill>
            <a:prstDash val="solid"/>
          </a:ln>
        </p:spPr>
      </p:sp>
      <p:sp>
        <p:nvSpPr>
          <p:cNvPr id="14" name="Text 12"/>
          <p:cNvSpPr txBox="1"/>
          <p:nvPr/>
        </p:nvSpPr>
        <p:spPr>
          <a:xfrm>
            <a:off x="457200" y="3419856"/>
            <a:ext cx="960120" cy="274320"/>
          </a:xfrm>
          <a:prstGeom prst="rect">
            <a:avLst/>
          </a:prstGeom>
          <a:noFill/>
          <a:ln/>
        </p:spPr>
        <p:txBody>
          <a:bodyPr wrap="square" lIns="0" tIns="0" rIns="0" bIns="0" rtlCol="0" anchor="t"/>
          <a:lstStyle/>
          <a:p>
            <a:pPr algn="r" indent="0" marL="0">
              <a:lnSpc>
                <a:spcPct val="105000"/>
              </a:lnSpc>
              <a:buNone/>
            </a:pPr>
            <a:r>
              <a:rPr lang="en-US" sz="1300" b="1" dirty="0">
                <a:solidFill>
                  <a:srgbClr val="3ECFA0"/>
                </a:solidFill>
                <a:latin typeface="Calibri" pitchFamily="34" charset="0"/>
                <a:ea typeface="Calibri" pitchFamily="34" charset="-122"/>
                <a:cs typeface="Calibri" pitchFamily="34" charset="-120"/>
              </a:rPr>
              <a:t>Same day</a:t>
            </a:r>
            <a:endParaRPr lang="en-US" sz="1300" dirty="0"/>
          </a:p>
        </p:txBody>
      </p:sp>
      <p:sp>
        <p:nvSpPr>
          <p:cNvPr id="15" name="Text 13"/>
          <p:cNvSpPr txBox="1"/>
          <p:nvPr/>
        </p:nvSpPr>
        <p:spPr>
          <a:xfrm>
            <a:off x="1828800" y="3419856"/>
            <a:ext cx="3657600" cy="548640"/>
          </a:xfrm>
          <a:prstGeom prst="rect">
            <a:avLst/>
          </a:prstGeom>
          <a:noFill/>
          <a:ln/>
        </p:spPr>
        <p:txBody>
          <a:bodyPr wrap="square" lIns="0" tIns="0" rIns="0" bIns="0" rtlCol="0" anchor="t"/>
          <a:lstStyle/>
          <a:p>
            <a:pPr algn="l" indent="0" marL="0">
              <a:lnSpc>
                <a:spcPct val="105000"/>
              </a:lnSpc>
              <a:buNone/>
            </a:pPr>
            <a:r>
              <a:rPr lang="en-US" sz="1200" dirty="0">
                <a:solidFill>
                  <a:srgbClr val="F2F7F4"/>
                </a:solidFill>
                <a:latin typeface="Calibri" pitchFamily="34" charset="0"/>
                <a:ea typeface="Calibri" pitchFamily="34" charset="-122"/>
                <a:cs typeface="Calibri" pitchFamily="34" charset="-120"/>
              </a:rPr>
              <a:t>Ann’s Kenyan bank account receives the invoiced amount, less the fees she saw up front.</a:t>
            </a:r>
            <a:endParaRPr lang="en-US" sz="1200" dirty="0"/>
          </a:p>
        </p:txBody>
      </p:sp>
      <p:sp>
        <p:nvSpPr>
          <p:cNvPr id="16" name="Shape 14"/>
          <p:cNvSpPr/>
          <p:nvPr/>
        </p:nvSpPr>
        <p:spPr>
          <a:xfrm>
            <a:off x="1609344" y="1600200"/>
            <a:ext cx="0" cy="2011680"/>
          </a:xfrm>
          <a:prstGeom prst="line">
            <a:avLst/>
          </a:prstGeom>
          <a:noFill/>
          <a:ln w="19050">
            <a:solidFill>
              <a:srgbClr val="1E403D"/>
            </a:solidFill>
            <a:prstDash val="solid"/>
          </a:ln>
        </p:spPr>
      </p:sp>
      <p:sp>
        <p:nvSpPr>
          <p:cNvPr id="17" name="Shape 15"/>
          <p:cNvSpPr/>
          <p:nvPr/>
        </p:nvSpPr>
        <p:spPr>
          <a:xfrm>
            <a:off x="5760720" y="1417320"/>
            <a:ext cx="2926080" cy="2743200"/>
          </a:xfrm>
          <a:prstGeom prst="roundRect">
            <a:avLst>
              <a:gd name="adj" fmla="val 2667"/>
            </a:avLst>
          </a:prstGeom>
          <a:solidFill>
            <a:srgbClr val="173432"/>
          </a:solidFill>
          <a:ln w="12700">
            <a:solidFill>
              <a:srgbClr val="173432"/>
            </a:solidFill>
            <a:prstDash val="solid"/>
          </a:ln>
        </p:spPr>
      </p:sp>
      <p:sp>
        <p:nvSpPr>
          <p:cNvPr id="18" name="Text 16"/>
          <p:cNvSpPr txBox="1"/>
          <p:nvPr/>
        </p:nvSpPr>
        <p:spPr>
          <a:xfrm>
            <a:off x="5943600" y="1572768"/>
            <a:ext cx="2560320" cy="228600"/>
          </a:xfrm>
          <a:prstGeom prst="rect">
            <a:avLst/>
          </a:prstGeom>
          <a:noFill/>
          <a:ln/>
        </p:spPr>
        <p:txBody>
          <a:bodyPr wrap="square" lIns="0" tIns="0" rIns="0" bIns="0" rtlCol="0" anchor="t"/>
          <a:lstStyle/>
          <a:p>
            <a:pPr algn="l" indent="0" marL="0">
              <a:lnSpc>
                <a:spcPct val="105000"/>
              </a:lnSpc>
              <a:buNone/>
            </a:pPr>
            <a:r>
              <a:rPr lang="en-US" sz="800" b="1" dirty="0">
                <a:solidFill>
                  <a:srgbClr val="E5C158"/>
                </a:solidFill>
                <a:latin typeface="Calibri" pitchFamily="34" charset="0"/>
                <a:ea typeface="Calibri" pitchFamily="34" charset="-122"/>
                <a:cs typeface="Calibri" pitchFamily="34" charset="-120"/>
              </a:rPr>
              <a:t>TODAY vs WITH MERIDIAN</a:t>
            </a:r>
            <a:endParaRPr lang="en-US" sz="800" dirty="0"/>
          </a:p>
        </p:txBody>
      </p:sp>
      <p:sp>
        <p:nvSpPr>
          <p:cNvPr id="19" name="Text 17"/>
          <p:cNvSpPr txBox="1"/>
          <p:nvPr/>
        </p:nvSpPr>
        <p:spPr>
          <a:xfrm>
            <a:off x="5943600" y="1920240"/>
            <a:ext cx="960120" cy="45720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Money lands</a:t>
            </a:r>
            <a:endParaRPr lang="en-US" sz="1000" dirty="0"/>
          </a:p>
        </p:txBody>
      </p:sp>
      <p:sp>
        <p:nvSpPr>
          <p:cNvPr id="20" name="Text 18"/>
          <p:cNvSpPr txBox="1"/>
          <p:nvPr/>
        </p:nvSpPr>
        <p:spPr>
          <a:xfrm>
            <a:off x="6903720" y="1920240"/>
            <a:ext cx="777240" cy="457200"/>
          </a:xfrm>
          <a:prstGeom prst="rect">
            <a:avLst/>
          </a:prstGeom>
          <a:noFill/>
          <a:ln/>
        </p:spPr>
        <p:txBody>
          <a:bodyPr wrap="square" lIns="0" tIns="0" rIns="0" bIns="0" rtlCol="0" anchor="t"/>
          <a:lstStyle/>
          <a:p>
            <a:pPr algn="l" indent="0" marL="0">
              <a:lnSpc>
                <a:spcPct val="105000"/>
              </a:lnSpc>
              <a:buNone/>
            </a:pPr>
            <a:r>
              <a:rPr lang="en-US" sz="1000" dirty="0">
                <a:solidFill>
                  <a:srgbClr val="E58A7A"/>
                </a:solidFill>
                <a:latin typeface="Calibri" pitchFamily="34" charset="0"/>
                <a:ea typeface="Calibri" pitchFamily="34" charset="-122"/>
                <a:cs typeface="Calibri" pitchFamily="34" charset="-120"/>
              </a:rPr>
              <a:t>1–3 days</a:t>
            </a:r>
            <a:endParaRPr lang="en-US" sz="1000" dirty="0"/>
          </a:p>
        </p:txBody>
      </p:sp>
      <p:sp>
        <p:nvSpPr>
          <p:cNvPr id="21" name="Text 19"/>
          <p:cNvSpPr txBox="1"/>
          <p:nvPr/>
        </p:nvSpPr>
        <p:spPr>
          <a:xfrm>
            <a:off x="7680960" y="1920240"/>
            <a:ext cx="914400" cy="457200"/>
          </a:xfrm>
          <a:prstGeom prst="rect">
            <a:avLst/>
          </a:prstGeom>
          <a:noFill/>
          <a:ln/>
        </p:spPr>
        <p:txBody>
          <a:bodyPr wrap="square" lIns="0" tIns="0" rIns="0" bIns="0" rtlCol="0" anchor="t"/>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Same day</a:t>
            </a:r>
            <a:endParaRPr lang="en-US" sz="1000" dirty="0"/>
          </a:p>
        </p:txBody>
      </p:sp>
      <p:sp>
        <p:nvSpPr>
          <p:cNvPr id="22" name="Text 20"/>
          <p:cNvSpPr txBox="1"/>
          <p:nvPr/>
        </p:nvSpPr>
        <p:spPr>
          <a:xfrm>
            <a:off x="5943600" y="2450592"/>
            <a:ext cx="960120" cy="45720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FX risk</a:t>
            </a:r>
            <a:endParaRPr lang="en-US" sz="1000" dirty="0"/>
          </a:p>
        </p:txBody>
      </p:sp>
      <p:sp>
        <p:nvSpPr>
          <p:cNvPr id="23" name="Text 21"/>
          <p:cNvSpPr txBox="1"/>
          <p:nvPr/>
        </p:nvSpPr>
        <p:spPr>
          <a:xfrm>
            <a:off x="6903720" y="2450592"/>
            <a:ext cx="777240" cy="457200"/>
          </a:xfrm>
          <a:prstGeom prst="rect">
            <a:avLst/>
          </a:prstGeom>
          <a:noFill/>
          <a:ln/>
        </p:spPr>
        <p:txBody>
          <a:bodyPr wrap="square" lIns="0" tIns="0" rIns="0" bIns="0" rtlCol="0" anchor="t"/>
          <a:lstStyle/>
          <a:p>
            <a:pPr algn="l" indent="0" marL="0">
              <a:lnSpc>
                <a:spcPct val="105000"/>
              </a:lnSpc>
              <a:buNone/>
            </a:pPr>
            <a:r>
              <a:rPr lang="en-US" sz="1000" dirty="0">
                <a:solidFill>
                  <a:srgbClr val="E58A7A"/>
                </a:solidFill>
                <a:latin typeface="Calibri" pitchFamily="34" charset="0"/>
                <a:ea typeface="Calibri" pitchFamily="34" charset="-122"/>
                <a:cs typeface="Calibri" pitchFamily="34" charset="-120"/>
              </a:rPr>
              <a:t>Ann’s</a:t>
            </a:r>
            <a:endParaRPr lang="en-US" sz="1000" dirty="0"/>
          </a:p>
        </p:txBody>
      </p:sp>
      <p:sp>
        <p:nvSpPr>
          <p:cNvPr id="24" name="Text 22"/>
          <p:cNvSpPr txBox="1"/>
          <p:nvPr/>
        </p:nvSpPr>
        <p:spPr>
          <a:xfrm>
            <a:off x="7680960" y="2450592"/>
            <a:ext cx="914400" cy="457200"/>
          </a:xfrm>
          <a:prstGeom prst="rect">
            <a:avLst/>
          </a:prstGeom>
          <a:noFill/>
          <a:ln/>
        </p:spPr>
        <p:txBody>
          <a:bodyPr wrap="square" lIns="0" tIns="0" rIns="0" bIns="0" rtlCol="0" anchor="t"/>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Priced at payment</a:t>
            </a:r>
            <a:endParaRPr lang="en-US" sz="1000" dirty="0"/>
          </a:p>
        </p:txBody>
      </p:sp>
      <p:sp>
        <p:nvSpPr>
          <p:cNvPr id="25" name="Text 23"/>
          <p:cNvSpPr txBox="1"/>
          <p:nvPr/>
        </p:nvSpPr>
        <p:spPr>
          <a:xfrm>
            <a:off x="5943600" y="2980944"/>
            <a:ext cx="960120" cy="45720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Buyer pays by</a:t>
            </a:r>
            <a:endParaRPr lang="en-US" sz="1000" dirty="0"/>
          </a:p>
        </p:txBody>
      </p:sp>
      <p:sp>
        <p:nvSpPr>
          <p:cNvPr id="26" name="Text 24"/>
          <p:cNvSpPr txBox="1"/>
          <p:nvPr/>
        </p:nvSpPr>
        <p:spPr>
          <a:xfrm>
            <a:off x="6903720" y="2980944"/>
            <a:ext cx="777240" cy="457200"/>
          </a:xfrm>
          <a:prstGeom prst="rect">
            <a:avLst/>
          </a:prstGeom>
          <a:noFill/>
          <a:ln/>
        </p:spPr>
        <p:txBody>
          <a:bodyPr wrap="square" lIns="0" tIns="0" rIns="0" bIns="0" rtlCol="0" anchor="t"/>
          <a:lstStyle/>
          <a:p>
            <a:pPr algn="l" indent="0" marL="0">
              <a:lnSpc>
                <a:spcPct val="105000"/>
              </a:lnSpc>
              <a:buNone/>
            </a:pPr>
            <a:r>
              <a:rPr lang="en-US" sz="1000" dirty="0">
                <a:solidFill>
                  <a:srgbClr val="E58A7A"/>
                </a:solidFill>
                <a:latin typeface="Calibri" pitchFamily="34" charset="0"/>
                <a:ea typeface="Calibri" pitchFamily="34" charset="-122"/>
                <a:cs typeface="Calibri" pitchFamily="34" charset="-120"/>
              </a:rPr>
              <a:t>Bank wire</a:t>
            </a:r>
            <a:endParaRPr lang="en-US" sz="1000" dirty="0"/>
          </a:p>
        </p:txBody>
      </p:sp>
      <p:sp>
        <p:nvSpPr>
          <p:cNvPr id="27" name="Text 25"/>
          <p:cNvSpPr txBox="1"/>
          <p:nvPr/>
        </p:nvSpPr>
        <p:spPr>
          <a:xfrm>
            <a:off x="7680960" y="2980944"/>
            <a:ext cx="914400" cy="457200"/>
          </a:xfrm>
          <a:prstGeom prst="rect">
            <a:avLst/>
          </a:prstGeom>
          <a:noFill/>
          <a:ln/>
        </p:spPr>
        <p:txBody>
          <a:bodyPr wrap="square" lIns="0" tIns="0" rIns="0" bIns="0" rtlCol="0" anchor="t"/>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Their usual way</a:t>
            </a:r>
            <a:endParaRPr lang="en-US" sz="1000" dirty="0"/>
          </a:p>
        </p:txBody>
      </p:sp>
      <p:sp>
        <p:nvSpPr>
          <p:cNvPr id="28" name="Text 26"/>
          <p:cNvSpPr txBox="1"/>
          <p:nvPr/>
        </p:nvSpPr>
        <p:spPr>
          <a:xfrm>
            <a:off x="5943600" y="3511296"/>
            <a:ext cx="960120" cy="457200"/>
          </a:xfrm>
          <a:prstGeom prst="rect">
            <a:avLst/>
          </a:prstGeom>
          <a:noFill/>
          <a:ln/>
        </p:spPr>
        <p:txBody>
          <a:bodyPr wrap="square" lIns="0" tIns="0" rIns="0" bIns="0" rtlCol="0" anchor="t"/>
          <a:lstStyle/>
          <a:p>
            <a:pPr algn="l" indent="0" marL="0">
              <a:lnSpc>
                <a:spcPct val="105000"/>
              </a:lnSpc>
              <a:buNone/>
            </a:pPr>
            <a:r>
              <a:rPr lang="en-US" sz="1000" dirty="0">
                <a:solidFill>
                  <a:srgbClr val="9FB8B2"/>
                </a:solidFill>
                <a:latin typeface="Calibri" pitchFamily="34" charset="0"/>
                <a:ea typeface="Calibri" pitchFamily="34" charset="-122"/>
                <a:cs typeface="Calibri" pitchFamily="34" charset="-120"/>
              </a:rPr>
              <a:t>Tracking</a:t>
            </a:r>
            <a:endParaRPr lang="en-US" sz="1000" dirty="0"/>
          </a:p>
        </p:txBody>
      </p:sp>
      <p:sp>
        <p:nvSpPr>
          <p:cNvPr id="29" name="Text 27"/>
          <p:cNvSpPr txBox="1"/>
          <p:nvPr/>
        </p:nvSpPr>
        <p:spPr>
          <a:xfrm>
            <a:off x="6903720" y="3511296"/>
            <a:ext cx="777240" cy="457200"/>
          </a:xfrm>
          <a:prstGeom prst="rect">
            <a:avLst/>
          </a:prstGeom>
          <a:noFill/>
          <a:ln/>
        </p:spPr>
        <p:txBody>
          <a:bodyPr wrap="square" lIns="0" tIns="0" rIns="0" bIns="0" rtlCol="0" anchor="t"/>
          <a:lstStyle/>
          <a:p>
            <a:pPr algn="l" indent="0" marL="0">
              <a:lnSpc>
                <a:spcPct val="105000"/>
              </a:lnSpc>
              <a:buNone/>
            </a:pPr>
            <a:r>
              <a:rPr lang="en-US" sz="1000" dirty="0">
                <a:solidFill>
                  <a:srgbClr val="E58A7A"/>
                </a:solidFill>
                <a:latin typeface="Calibri" pitchFamily="34" charset="0"/>
                <a:ea typeface="Calibri" pitchFamily="34" charset="-122"/>
                <a:cs typeface="Calibri" pitchFamily="34" charset="-120"/>
              </a:rPr>
              <a:t>Call the bank</a:t>
            </a:r>
            <a:endParaRPr lang="en-US" sz="1000" dirty="0"/>
          </a:p>
        </p:txBody>
      </p:sp>
      <p:sp>
        <p:nvSpPr>
          <p:cNvPr id="30" name="Text 28"/>
          <p:cNvSpPr txBox="1"/>
          <p:nvPr/>
        </p:nvSpPr>
        <p:spPr>
          <a:xfrm>
            <a:off x="7680960" y="3511296"/>
            <a:ext cx="914400" cy="457200"/>
          </a:xfrm>
          <a:prstGeom prst="rect">
            <a:avLst/>
          </a:prstGeom>
          <a:noFill/>
          <a:ln/>
        </p:spPr>
        <p:txBody>
          <a:bodyPr wrap="square" lIns="0" tIns="0" rIns="0" bIns="0" rtlCol="0" anchor="t"/>
          <a:lstStyle/>
          <a:p>
            <a:pPr algn="l" indent="0" marL="0">
              <a:lnSpc>
                <a:spcPct val="105000"/>
              </a:lnSpc>
              <a:buNone/>
            </a:pPr>
            <a:r>
              <a:rPr lang="en-US" sz="1000" b="1" dirty="0">
                <a:solidFill>
                  <a:srgbClr val="3ECFA0"/>
                </a:solidFill>
                <a:latin typeface="Calibri" pitchFamily="34" charset="0"/>
                <a:ea typeface="Calibri" pitchFamily="34" charset="-122"/>
                <a:cs typeface="Calibri" pitchFamily="34" charset="-120"/>
              </a:rPr>
              <a:t>Live timeline</a:t>
            </a:r>
            <a:endParaRPr lang="en-US" sz="1000" dirty="0"/>
          </a:p>
        </p:txBody>
      </p:sp>
      <p:sp>
        <p:nvSpPr>
          <p:cNvPr id="31" name="Text 29"/>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32" name="Text 30"/>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48640"/>
          </a:xfrm>
          <a:prstGeom prst="rect">
            <a:avLst/>
          </a:prstGeom>
          <a:noFill/>
          <a:ln/>
        </p:spPr>
        <p:txBody>
          <a:bodyPr wrap="square" lIns="0" tIns="0" rIns="0" bIns="0" rtlCol="0" anchor="t"/>
          <a:lstStyle/>
          <a:p>
            <a:pPr algn="l" indent="0" marL="0">
              <a:lnSpc>
                <a:spcPct val="105000"/>
              </a:lnSpc>
              <a:buNone/>
            </a:pPr>
            <a:r>
              <a:rPr lang="en-US" sz="2800" b="1" dirty="0">
                <a:solidFill>
                  <a:srgbClr val="F2F7F4"/>
                </a:solidFill>
                <a:latin typeface="Calibri" pitchFamily="34" charset="0"/>
                <a:ea typeface="Calibri" pitchFamily="34" charset="-122"/>
                <a:cs typeface="Calibri" pitchFamily="34" charset="-120"/>
              </a:rPr>
              <a:t>Ready to pilot</a:t>
            </a:r>
            <a:endParaRPr lang="en-US" sz="2800" dirty="0"/>
          </a:p>
        </p:txBody>
      </p:sp>
      <p:sp>
        <p:nvSpPr>
          <p:cNvPr id="3" name="Text 1"/>
          <p:cNvSpPr txBox="1"/>
          <p:nvPr/>
        </p:nvSpPr>
        <p:spPr>
          <a:xfrm>
            <a:off x="457200" y="896112"/>
            <a:ext cx="8229600" cy="365760"/>
          </a:xfrm>
          <a:prstGeom prst="rect">
            <a:avLst/>
          </a:prstGeom>
          <a:noFill/>
          <a:ln/>
        </p:spPr>
        <p:txBody>
          <a:bodyPr wrap="square" lIns="0" tIns="0" rIns="0" bIns="0" rtlCol="0" anchor="t"/>
          <a:lstStyle/>
          <a:p>
            <a:pPr algn="l" indent="0" marL="0">
              <a:lnSpc>
                <a:spcPct val="105000"/>
              </a:lnSpc>
              <a:buNone/>
            </a:pPr>
            <a:r>
              <a:rPr lang="en-US" sz="1400" dirty="0">
                <a:solidFill>
                  <a:srgbClr val="9FB8B2"/>
                </a:solidFill>
                <a:latin typeface="Calibri" pitchFamily="34" charset="0"/>
                <a:ea typeface="Calibri" pitchFamily="34" charset="-122"/>
                <a:cs typeface="Calibri" pitchFamily="34" charset="-120"/>
              </a:rPr>
              <a:t>Real users are waiting. Payaza makes it possible in months, not years.</a:t>
            </a:r>
            <a:endParaRPr lang="en-US" sz="1400" dirty="0"/>
          </a:p>
        </p:txBody>
      </p:sp>
      <p:sp>
        <p:nvSpPr>
          <p:cNvPr id="4" name="Shape 2"/>
          <p:cNvSpPr/>
          <p:nvPr/>
        </p:nvSpPr>
        <p:spPr>
          <a:xfrm>
            <a:off x="457200" y="1417320"/>
            <a:ext cx="2606040" cy="2926080"/>
          </a:xfrm>
          <a:prstGeom prst="roundRect">
            <a:avLst>
              <a:gd name="adj" fmla="val 2807"/>
            </a:avLst>
          </a:prstGeom>
          <a:solidFill>
            <a:srgbClr val="173432"/>
          </a:solidFill>
          <a:ln w="12700">
            <a:solidFill>
              <a:srgbClr val="173432"/>
            </a:solidFill>
            <a:prstDash val="solid"/>
          </a:ln>
        </p:spPr>
      </p:sp>
      <p:sp>
        <p:nvSpPr>
          <p:cNvPr id="5" name="Shape 3"/>
          <p:cNvSpPr/>
          <p:nvPr/>
        </p:nvSpPr>
        <p:spPr>
          <a:xfrm>
            <a:off x="640080" y="1572768"/>
            <a:ext cx="411480" cy="411480"/>
          </a:xfrm>
          <a:prstGeom prst="ellipse">
            <a:avLst/>
          </a:prstGeom>
          <a:solidFill>
            <a:srgbClr val="3ECFA0"/>
          </a:solidFill>
          <a:ln w="12700">
            <a:solidFill>
              <a:srgbClr val="3ECFA0"/>
            </a:solidFill>
            <a:prstDash val="solid"/>
          </a:ln>
        </p:spPr>
      </p:sp>
      <p:pic>
        <p:nvPicPr>
          <p:cNvPr id="6" name="Image 0" descr="preencoded.png">    </p:cNvPr>
          <p:cNvPicPr>
            <a:picLocks noChangeAspect="1"/>
          </p:cNvPicPr>
          <p:nvPr/>
        </p:nvPicPr>
        <p:blipFill>
          <a:blip r:embed="rId1"/>
          <a:stretch>
            <a:fillRect/>
          </a:stretch>
        </p:blipFill>
        <p:spPr>
          <a:xfrm>
            <a:off x="738835" y="1671523"/>
            <a:ext cx="213970" cy="213970"/>
          </a:xfrm>
          <a:prstGeom prst="rect">
            <a:avLst/>
          </a:prstGeom>
        </p:spPr>
      </p:pic>
      <p:sp>
        <p:nvSpPr>
          <p:cNvPr id="7" name="Text 4"/>
          <p:cNvSpPr txBox="1"/>
          <p:nvPr/>
        </p:nvSpPr>
        <p:spPr>
          <a:xfrm>
            <a:off x="1170432" y="1572768"/>
            <a:ext cx="1783080" cy="411480"/>
          </a:xfrm>
          <a:prstGeom prst="rect">
            <a:avLst/>
          </a:prstGeom>
          <a:noFill/>
          <a:ln/>
        </p:spPr>
        <p:txBody>
          <a:bodyPr wrap="square" lIns="0" tIns="0" rIns="0" bIns="0" rtlCol="0" anchor="ctr"/>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First users lined up</a:t>
            </a:r>
            <a:endParaRPr lang="en-US" sz="1300" dirty="0"/>
          </a:p>
        </p:txBody>
      </p:sp>
      <p:sp>
        <p:nvSpPr>
          <p:cNvPr id="8" name="Text 5"/>
          <p:cNvSpPr txBox="1"/>
          <p:nvPr/>
        </p:nvSpPr>
        <p:spPr>
          <a:xfrm>
            <a:off x="640080" y="2148840"/>
            <a:ext cx="2240280" cy="2103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Chris, avocado exporter</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Ann, flower exporter</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A second flower exporter via a referral</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SMEs Chamber of Kenya members, via Chris</a:t>
            </a:r>
            <a:endParaRPr lang="en-US" sz="1150" dirty="0"/>
          </a:p>
        </p:txBody>
      </p:sp>
      <p:sp>
        <p:nvSpPr>
          <p:cNvPr id="9" name="Shape 6"/>
          <p:cNvSpPr/>
          <p:nvPr/>
        </p:nvSpPr>
        <p:spPr>
          <a:xfrm>
            <a:off x="3268980" y="1417320"/>
            <a:ext cx="2606040" cy="2926080"/>
          </a:xfrm>
          <a:prstGeom prst="roundRect">
            <a:avLst>
              <a:gd name="adj" fmla="val 2807"/>
            </a:avLst>
          </a:prstGeom>
          <a:solidFill>
            <a:srgbClr val="173432"/>
          </a:solidFill>
          <a:ln w="12700">
            <a:solidFill>
              <a:srgbClr val="173432"/>
            </a:solidFill>
            <a:prstDash val="solid"/>
          </a:ln>
        </p:spPr>
      </p:sp>
      <p:sp>
        <p:nvSpPr>
          <p:cNvPr id="10" name="Shape 7"/>
          <p:cNvSpPr/>
          <p:nvPr/>
        </p:nvSpPr>
        <p:spPr>
          <a:xfrm>
            <a:off x="3451860" y="1572768"/>
            <a:ext cx="411480" cy="411480"/>
          </a:xfrm>
          <a:prstGeom prst="ellipse">
            <a:avLst/>
          </a:prstGeom>
          <a:solidFill>
            <a:srgbClr val="3ECFA0"/>
          </a:solidFill>
          <a:ln w="12700">
            <a:solidFill>
              <a:srgbClr val="3ECFA0"/>
            </a:solidFill>
            <a:prstDash val="solid"/>
          </a:ln>
        </p:spPr>
      </p:sp>
      <p:pic>
        <p:nvPicPr>
          <p:cNvPr id="11" name="Image 1" descr="preencoded.png">    </p:cNvPr>
          <p:cNvPicPr>
            <a:picLocks noChangeAspect="1"/>
          </p:cNvPicPr>
          <p:nvPr/>
        </p:nvPicPr>
        <p:blipFill>
          <a:blip r:embed="rId2"/>
          <a:stretch>
            <a:fillRect/>
          </a:stretch>
        </p:blipFill>
        <p:spPr>
          <a:xfrm>
            <a:off x="3550615" y="1671523"/>
            <a:ext cx="213970" cy="213970"/>
          </a:xfrm>
          <a:prstGeom prst="rect">
            <a:avLst/>
          </a:prstGeom>
        </p:spPr>
      </p:pic>
      <p:sp>
        <p:nvSpPr>
          <p:cNvPr id="12" name="Text 8"/>
          <p:cNvSpPr txBox="1"/>
          <p:nvPr/>
        </p:nvSpPr>
        <p:spPr>
          <a:xfrm>
            <a:off x="3982212" y="1572768"/>
            <a:ext cx="1783080" cy="411480"/>
          </a:xfrm>
          <a:prstGeom prst="rect">
            <a:avLst/>
          </a:prstGeom>
          <a:noFill/>
          <a:ln/>
        </p:spPr>
        <p:txBody>
          <a:bodyPr wrap="square" lIns="0" tIns="0" rIns="0" bIns="0" rtlCol="0" anchor="ctr"/>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Built in the hackathon</a:t>
            </a:r>
            <a:endParaRPr lang="en-US" sz="1300" dirty="0"/>
          </a:p>
        </p:txBody>
      </p:sp>
      <p:sp>
        <p:nvSpPr>
          <p:cNvPr id="13" name="Text 9"/>
          <p:cNvSpPr txBox="1"/>
          <p:nvPr/>
        </p:nvSpPr>
        <p:spPr>
          <a:xfrm>
            <a:off x="3451860" y="2148840"/>
            <a:ext cx="2240280" cy="2103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Exporter sign-up and business checks</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Invoice and payment link</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Payaza checkout, split and payout</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Payment timeline and receipts</a:t>
            </a:r>
            <a:endParaRPr lang="en-US" sz="1150" dirty="0"/>
          </a:p>
        </p:txBody>
      </p:sp>
      <p:sp>
        <p:nvSpPr>
          <p:cNvPr id="14" name="Shape 10"/>
          <p:cNvSpPr/>
          <p:nvPr/>
        </p:nvSpPr>
        <p:spPr>
          <a:xfrm>
            <a:off x="6080760" y="1417320"/>
            <a:ext cx="2606040" cy="2926080"/>
          </a:xfrm>
          <a:prstGeom prst="roundRect">
            <a:avLst>
              <a:gd name="adj" fmla="val 2807"/>
            </a:avLst>
          </a:prstGeom>
          <a:solidFill>
            <a:srgbClr val="173432"/>
          </a:solidFill>
          <a:ln w="12700">
            <a:solidFill>
              <a:srgbClr val="173432"/>
            </a:solidFill>
            <a:prstDash val="solid"/>
          </a:ln>
        </p:spPr>
      </p:sp>
      <p:sp>
        <p:nvSpPr>
          <p:cNvPr id="15" name="Shape 11"/>
          <p:cNvSpPr/>
          <p:nvPr/>
        </p:nvSpPr>
        <p:spPr>
          <a:xfrm>
            <a:off x="6263640" y="1572768"/>
            <a:ext cx="411480" cy="411480"/>
          </a:xfrm>
          <a:prstGeom prst="ellipse">
            <a:avLst/>
          </a:prstGeom>
          <a:solidFill>
            <a:srgbClr val="3ECFA0"/>
          </a:solidFill>
          <a:ln w="12700">
            <a:solidFill>
              <a:srgbClr val="3ECFA0"/>
            </a:solidFill>
            <a:prstDash val="solid"/>
          </a:ln>
        </p:spPr>
      </p:sp>
      <p:pic>
        <p:nvPicPr>
          <p:cNvPr id="16" name="Image 2" descr="preencoded.png">    </p:cNvPr>
          <p:cNvPicPr>
            <a:picLocks noChangeAspect="1"/>
          </p:cNvPicPr>
          <p:nvPr/>
        </p:nvPicPr>
        <p:blipFill>
          <a:blip r:embed="rId3"/>
          <a:stretch>
            <a:fillRect/>
          </a:stretch>
        </p:blipFill>
        <p:spPr>
          <a:xfrm>
            <a:off x="6362395" y="1671523"/>
            <a:ext cx="213970" cy="213970"/>
          </a:xfrm>
          <a:prstGeom prst="rect">
            <a:avLst/>
          </a:prstGeom>
        </p:spPr>
      </p:pic>
      <p:sp>
        <p:nvSpPr>
          <p:cNvPr id="17" name="Text 12"/>
          <p:cNvSpPr txBox="1"/>
          <p:nvPr/>
        </p:nvSpPr>
        <p:spPr>
          <a:xfrm>
            <a:off x="6793992" y="1572768"/>
            <a:ext cx="1783080" cy="411480"/>
          </a:xfrm>
          <a:prstGeom prst="rect">
            <a:avLst/>
          </a:prstGeom>
          <a:noFill/>
          <a:ln/>
        </p:spPr>
        <p:txBody>
          <a:bodyPr wrap="square" lIns="0" tIns="0" rIns="0" bIns="0" rtlCol="0" anchor="ctr"/>
          <a:lstStyle/>
          <a:p>
            <a:pPr algn="l" indent="0" marL="0">
              <a:lnSpc>
                <a:spcPct val="105000"/>
              </a:lnSpc>
              <a:buNone/>
            </a:pPr>
            <a:r>
              <a:rPr lang="en-US" sz="1300" b="1" dirty="0">
                <a:solidFill>
                  <a:srgbClr val="F2F7F4"/>
                </a:solidFill>
                <a:latin typeface="Calibri" pitchFamily="34" charset="0"/>
                <a:ea typeface="Calibri" pitchFamily="34" charset="-122"/>
                <a:cs typeface="Calibri" pitchFamily="34" charset="-120"/>
              </a:rPr>
              <a:t>The business</a:t>
            </a:r>
            <a:endParaRPr lang="en-US" sz="1300" dirty="0"/>
          </a:p>
        </p:txBody>
      </p:sp>
      <p:sp>
        <p:nvSpPr>
          <p:cNvPr id="18" name="Text 13"/>
          <p:cNvSpPr txBox="1"/>
          <p:nvPr/>
        </p:nvSpPr>
        <p:spPr>
          <a:xfrm>
            <a:off x="6263640" y="2148840"/>
            <a:ext cx="2240280" cy="21031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Flat 1% per collection plus Payaza’s fee</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Chris alone moves about USD 150k a month</a:t>
            </a:r>
            <a:endParaRPr lang="en-US" sz="1150" dirty="0"/>
          </a:p>
          <a:p>
            <a:pPr marL="152400" indent="-152400">
              <a:spcAft>
                <a:spcPts val="500"/>
              </a:spcAft>
              <a:buSzPct val="100000"/>
              <a:buChar char="•"/>
            </a:pPr>
            <a:r>
              <a:rPr lang="en-US" sz="1150" dirty="0">
                <a:solidFill>
                  <a:srgbClr val="F2F7F4"/>
                </a:solidFill>
                <a:latin typeface="Calibri" pitchFamily="34" charset="0"/>
                <a:ea typeface="Calibri" pitchFamily="34" charset="-122"/>
                <a:cs typeface="Calibri" pitchFamily="34" charset="-120"/>
              </a:rPr>
              <a:t>Next: pay suppliers abroad from the same account</a:t>
            </a:r>
            <a:endParaRPr lang="en-US" sz="1150" dirty="0"/>
          </a:p>
        </p:txBody>
      </p:sp>
      <p:sp>
        <p:nvSpPr>
          <p:cNvPr id="19" name="Text 14"/>
          <p:cNvSpPr txBox="1"/>
          <p:nvPr/>
        </p:nvSpPr>
        <p:spPr>
          <a:xfrm>
            <a:off x="457200" y="4796028"/>
            <a:ext cx="6400800" cy="228600"/>
          </a:xfrm>
          <a:prstGeom prst="rect">
            <a:avLst/>
          </a:prstGeom>
          <a:noFill/>
          <a:ln/>
        </p:spPr>
        <p:txBody>
          <a:bodyPr wrap="square" lIns="0" tIns="0" rIns="0" bIns="0" rtlCol="0" anchor="t"/>
          <a:lstStyle/>
          <a:p>
            <a:pPr algn="l" indent="0" marL="0">
              <a:lnSpc>
                <a:spcPct val="105000"/>
              </a:lnSpc>
              <a:buNone/>
            </a:pPr>
            <a:r>
              <a:rPr lang="en-US" sz="800" dirty="0">
                <a:solidFill>
                  <a:srgbClr val="9FB8B2"/>
                </a:solidFill>
                <a:latin typeface="Calibri" pitchFamily="34" charset="0"/>
                <a:ea typeface="Calibri" pitchFamily="34" charset="-122"/>
                <a:cs typeface="Calibri" pitchFamily="34" charset="-120"/>
              </a:rPr>
              <a:t>Meridian Collect  ·  Appify Softwares Limited  ·  Payaza Borderless Kenya Hackathon 2026</a:t>
            </a:r>
            <a:endParaRPr lang="en-US" sz="800" dirty="0"/>
          </a:p>
        </p:txBody>
      </p:sp>
      <p:sp>
        <p:nvSpPr>
          <p:cNvPr id="20" name="Text 15"/>
          <p:cNvSpPr txBox="1"/>
          <p:nvPr/>
        </p:nvSpPr>
        <p:spPr>
          <a:xfrm>
            <a:off x="8138160" y="4796028"/>
            <a:ext cx="548640" cy="228600"/>
          </a:xfrm>
          <a:prstGeom prst="rect">
            <a:avLst/>
          </a:prstGeom>
          <a:noFill/>
          <a:ln/>
        </p:spPr>
        <p:txBody>
          <a:bodyPr wrap="square" lIns="0" tIns="0" rIns="0" bIns="0" rtlCol="0" anchor="t"/>
          <a:lstStyle/>
          <a:p>
            <a:pPr algn="r" indent="0" marL="0">
              <a:lnSpc>
                <a:spcPct val="105000"/>
              </a:lnSpc>
              <a:buNone/>
            </a:pPr>
            <a:r>
              <a:rPr lang="en-US" sz="800" dirty="0">
                <a:solidFill>
                  <a:srgbClr val="9FB8B2"/>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Collect — Payaza Borderless Kenya Hackathon</dc:title>
  <dc:subject>PptxGenJS Presentation</dc:subject>
  <dc:creator>Appify Softwares Limited</dc:creator>
  <cp:lastModifiedBy>Appify Softwares Limited</cp:lastModifiedBy>
  <cp:revision>1</cp:revision>
  <dcterms:created xsi:type="dcterms:W3CDTF">2026-09-26T08:47:03Z</dcterms:created>
  <dcterms:modified xsi:type="dcterms:W3CDTF">2026-09-26T08:47:03Z</dcterms:modified>
</cp:coreProperties>
</file>