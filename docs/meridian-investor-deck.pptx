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Volume represented</c:v>
                </c:pt>
              </c:strCache>
            </c:strRef>
          </c:tx>
          <c:spPr>
            <a:solidFill>
              <a:srgbClr val="3ECFA0"/>
            </a:solidFill>
            <a:ln w="38100" cap="flat">
              <a:solidFill>
                <a:srgbClr val="3ECFA0"/>
              </a:solidFill>
              <a:prstDash val="solid"/>
              <a:round/>
            </a:ln>
            <a:effectLst/>
          </c:spPr>
          <c:invertIfNegative val="0"/>
          <c:dLbls>
            <c:numFmt formatCode="0.0" sourceLinked="0"/>
            <c:txPr>
              <a:bodyPr/>
              <a:lstStyle/>
              <a:p>
                <a:pPr>
                  <a:defRPr b="1" i="0" strike="noStrike" sz="1100" u="none">
                    <a:solidFill>
                      <a:srgbClr val="0F2624"/>
                    </a:solidFill>
                    <a:latin typeface="Calibri"/>
                  </a:defRPr>
                </a:pPr>
              </a:p>
            </c:txPr>
            <c:dLblPos val="t"/>
            <c:showLegendKey val="0"/>
            <c:showVal val="1"/>
            <c:showCatName val="0"/>
            <c:showSerName val="0"/>
            <c:showPercent val="0"/>
            <c:showBubbleSize val="0"/>
            <c:showLeaderLines val="0"/>
          </c:dLbls>
          <c:marker>
            <c:symbol val="circle"/>
            <c:size val="7"/>
            <c:spPr>
              <a:solidFill>
                <a:srgbClr val="3ECFA0"/>
              </a:solidFill>
              <a:ln w="9525" cap="flat">
                <a:solidFill>
                  <a:srgbClr val="3ECFA0"/>
                </a:solidFill>
                <a:prstDash val="solid"/>
                <a:round/>
              </a:ln>
              <a:effectLst/>
            </c:spPr>
          </c:marker>
          <c:cat>
            <c:multiLvlStrRef>
              <c:f>Sheet1!$A$2:$A$6</c:f>
              <c:multiLvlStrCache>
                <c:ptCount val="5"/>
                <c:lvl>
                  <c:pt idx="0">
                    <c:v>Advisor</c:v>
                  </c:pt>
                  <c:pt idx="1">
                    <c:v>Cars</c:v>
                  </c:pt>
                  <c:pt idx="2">
                    <c:v>Electronics</c:v>
                  </c:pt>
                  <c:pt idx="3">
                    <c:v>Hardware</c:v>
                  </c:pt>
                  <c:pt idx="4">
                    <c:v>Produce</c:v>
                  </c:pt>
                </c:lvl>
              </c:multiLvlStrCache>
            </c:multiLvlStrRef>
          </c:cat>
          <c:val>
            <c:numRef>
              <c:f>Sheet1!$B$2:$B$6</c:f>
              <c:numCache>
                <c:formatCode>General</c:formatCode>
                <c:ptCount val="5"/>
                <c:pt idx="0">
                  <c:v>0.1</c:v>
                </c:pt>
                <c:pt idx="1">
                  <c:v>0.6</c:v>
                </c:pt>
                <c:pt idx="2">
                  <c:v>2.6</c:v>
                </c:pt>
                <c:pt idx="3">
                  <c:v>6.6</c:v>
                </c:pt>
                <c:pt idx="4">
                  <c:v>26</c:v>
                </c:pt>
              </c:numCache>
            </c:numRef>
          </c:val>
          <c:smooth val="0"/>
        </c:ser>
        <c:dLbls>
          <c:numFmt formatCode="0.0" sourceLinked="0"/>
          <c:txPr>
            <a:bodyPr/>
            <a:lstStyle/>
            <a:p>
              <a:pPr>
                <a:defRPr b="1" i="0" strike="noStrike" sz="1100" u="none">
                  <a:solidFill>
                    <a:srgbClr val="0F2624"/>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4F6B66"/>
                </a:solidFill>
                <a:latin typeface="Calibri"/>
              </a:defRPr>
            </a:pPr>
            <a:endParaRPr lang="en-US"/>
          </a:p>
        </c:txPr>
        <c:crossAx val="2094734552"/>
        <c:crosses val="autoZero"/>
        <c:auto val="1"/>
        <c:lblAlgn val="ctr"/>
        <c:noMultiLvlLbl val="1"/>
      </c:catAx>
      <c:valAx>
        <c:axId val="2094734552"/>
        <c:scaling>
          <c:orientation val="minMax"/>
          <c:max val="30"/>
          <c:min val="0"/>
        </c:scaling>
        <c:delete val="0"/>
        <c:axPos val="l"/>
        <c:majorGridlines>
          <c:spPr>
            <a:ln w="9525" cap="flat">
              <a:solidFill>
                <a:srgbClr val="D7E4DF"/>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50" b="0" i="0" u="none" strike="noStrike">
                <a:solidFill>
                  <a:srgbClr val="4F6B66"/>
                </a:solidFill>
                <a:latin typeface="Calibri"/>
              </a:defRPr>
            </a:pPr>
            <a:endParaRPr lang="en-US"/>
          </a:p>
        </c:txPr>
        <c:crossAx val="2094734554"/>
        <c:crosses val="autoZero"/>
        <c:crossBetween val="between"/>
      </c:valAx>
      <c:spPr>
        <a:solidFill>
          <a:srgbClr val="EFF5F2"/>
        </a:solidFill>
        <a:ln>
          <a:noFill/>
        </a:ln>
        <a:effectLst/>
      </c:spPr>
    </c:plotArea>
    <c:plotVisOnly val="1"/>
    <c:dispBlanksAs val="span"/>
  </c:chart>
  <c:spPr>
    <a:solidFill>
      <a:srgbClr val="EFF5F2"/>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ARR</c:v>
                </c:pt>
              </c:strCache>
            </c:strRef>
          </c:tx>
          <c:spPr>
            <a:solidFill>
              <a:srgbClr val="7FA39C"/>
            </a:solidFill>
            <a:effectLst/>
          </c:spPr>
          <c:invertIfNegative val="0"/>
          <c:dLbls>
            <c:numFmt formatCode="#,##0" sourceLinked="0"/>
            <c:txPr>
              <a:bodyPr/>
              <a:lstStyle/>
              <a:p>
                <a:pPr>
                  <a:defRPr b="1" i="0" strike="noStrike" sz="1200" u="none">
                    <a:solidFill>
                      <a:srgbClr val="0F2624"/>
                    </a:solidFill>
                    <a:latin typeface="Calibri"/>
                  </a:defRPr>
                </a:pPr>
              </a:p>
            </c:txPr>
            <c:showLegendKey val="0"/>
            <c:showVal val="1"/>
            <c:showCatName val="0"/>
            <c:showSerName val="0"/>
            <c:showPercent val="0"/>
            <c:showBubbleSize val="0"/>
            <c:showLeaderLines val="0"/>
          </c:dLbls>
          <c:dPt>
            <c:idx val="0"/>
            <c:invertIfNegative val="0"/>
            <c:bubble3D val="0"/>
            <c:spPr>
              <a:solidFill>
                <a:srgbClr val="7FA39C"/>
              </a:solidFill>
              <a:effectLst/>
            </c:spPr>
          </c:dPt>
          <c:dPt>
            <c:idx val="1"/>
            <c:invertIfNegative val="0"/>
            <c:bubble3D val="0"/>
            <c:spPr>
              <a:solidFill>
                <a:srgbClr val="7FA39C"/>
              </a:solidFill>
              <a:effectLst/>
            </c:spPr>
          </c:dPt>
          <c:dPt>
            <c:idx val="2"/>
            <c:invertIfNegative val="0"/>
            <c:bubble3D val="0"/>
            <c:spPr>
              <a:solidFill>
                <a:srgbClr val="3ECFA0"/>
              </a:solidFill>
              <a:effectLst/>
            </c:spPr>
          </c:dPt>
          <c:cat>
            <c:multiLvlStrRef>
              <c:f>Sheet1!$A$2:$A$4</c:f>
              <c:multiLvlStrCache>
                <c:ptCount val="3"/>
                <c:lvl>
                  <c:pt idx="0">
                    <c:v>2027</c:v>
                  </c:pt>
                  <c:pt idx="1">
                    <c:v>2028</c:v>
                  </c:pt>
                  <c:pt idx="2">
                    <c:v>2029</c:v>
                  </c:pt>
                </c:lvl>
              </c:multiLvlStrCache>
            </c:multiLvlStrRef>
          </c:cat>
          <c:val>
            <c:numRef>
              <c:f>Sheet1!$B$2:$B$4</c:f>
              <c:numCache>
                <c:formatCode>General</c:formatCode>
                <c:ptCount val="3"/>
                <c:pt idx="0">
                  <c:v>42</c:v>
                </c:pt>
                <c:pt idx="1">
                  <c:v>209</c:v>
                </c:pt>
                <c:pt idx="2">
                  <c:v>700</c:v>
                </c:pt>
              </c:numCache>
            </c:numRef>
          </c:val>
        </c:ser>
        <c:dLbls>
          <c:numFmt formatCode="#,##0" sourceLinked="0"/>
          <c:txPr>
            <a:bodyPr/>
            <a:lstStyle/>
            <a:p>
              <a:pPr>
                <a:defRPr b="1" i="0" strike="noStrike" sz="1200" u="none">
                  <a:solidFill>
                    <a:srgbClr val="0F2624"/>
                  </a:solidFill>
                  <a:latin typeface="Calibri"/>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F6B66"/>
                </a:solidFill>
                <a:latin typeface="Calibri"/>
              </a:defRPr>
            </a:pPr>
            <a:endParaRPr lang="en-US"/>
          </a:p>
        </c:txPr>
        <c:crossAx val="2094734552"/>
        <c:crosses val="autoZero"/>
        <c:auto val="1"/>
        <c:lblAlgn val="ctr"/>
        <c:noMultiLvlLbl val="1"/>
      </c:catAx>
      <c:valAx>
        <c:axId val="2094734552"/>
        <c:scaling>
          <c:orientation val="minMax"/>
          <c:max val="800"/>
        </c:scaling>
        <c:delete val="0"/>
        <c:axPos val="l"/>
        <c:majorGridlines>
          <c:spPr>
            <a:ln w="9525" cap="flat">
              <a:solidFill>
                <a:srgbClr val="D7E4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4F6B66"/>
                </a:solidFill>
                <a:latin typeface="Calibri"/>
              </a:defRPr>
            </a:pPr>
            <a:endParaRPr lang="en-US"/>
          </a:p>
        </c:txPr>
        <c:crossAx val="2094734554"/>
        <c:crosses val="autoZero"/>
        <c:crossBetween val="between"/>
      </c:valAx>
      <c:spPr>
        <a:solidFill>
          <a:srgbClr val="EFF5F2"/>
        </a:solidFill>
        <a:ln>
          <a:noFill/>
        </a:ln>
        <a:effectLst/>
      </c:spPr>
    </c:plotArea>
    <c:plotVisOnly val="1"/>
    <c:dispBlanksAs val="span"/>
  </c:chart>
  <c:spPr>
    <a:solidFill>
      <a:srgbClr val="EFF5F2"/>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(~15s): I'm Brian Waweru, founder of Meridian. Kenyan businesses that import and export wait four to five days and pay eight to ten percent to move money across a border. We make that minutes, for a flat one percent, with no markup on the rate. Here is what that costs them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A hardware importer moving two million shillings a month loses between a hundred sixty and two hundred thousand of it to fees and a bad rate. That is the visible cost. The expensive one is time: the factory has a fourteen-day lead time and will not start until payment confirms, so a five-day bank delay becomes a stockout. And it runs both ways — exporters tell us foreign buyers simply cannot pay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The fix is not a new rail. Rails now exist: Kotani Pay reaches mobile money and banks across Africa, Klasha reaches China and global wires. What does not exist is the business layer — one screen where a Kenyan importer picks a supplier, sees the true cost before confirming, and pays from the M-Pesa account they already use. That is Meridian.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(~40s): Three things. Send: pick a saved supplier, see the partner fee, our one percent, and exactly what they receive, then pay in from M-Pesa or your bank. Collect: a link you send, or our checkout embedded on your own site with one script tag, so a buyer in Hamburg can pay you. Clear: tiered business verification in a day rather than weeks, and sanctions and AML checks on every single payment. All three flows are demoable today against partner sandboxes; live rails are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(~25s): We size this bottom-up. Five hundred trading businesses, each moving one and a half million shillings a month across a border, at one percent, is ninety million shillings a year — about seven hundred thousand dollars. That is the wedge, and it is a fraction of Kenya's cross-border goods trade. Exporters lift it: a single avocado exporter moves a hundred fifty thousand dollars a month. The top-down numbers are approximate; the bottom-up one comes from interview ticket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(~25s): One revenue line: a flat one percent of every payment, in or out. We take nothing on the exchange rate — the partner's rate passes straight through, and so does their fee, shown as its own line. A business moving one and a half million shillings a month pays us about fifteen thousand. Acquisition is founder-led and referral, so we model two hundred dollars a business and pay it back in two months. Unit figures are targets, not actuals.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We are pre-revenue, so this is validation, not income. Five businesses interviewed in September: a hardware importer, a car importer, an electronics importer, an avocado exporter and an advisor who runs training across the region. Together they move about twenty-six million shillings a month across borders. Every importer I asked directly said they would switch for faster and cheaper, provided the money is safe. Six further introductions are already offered.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(~25s): Our real competitor is not another fintech, it is the importer's own bank and a trusted forex agent. The bank is slow and expensive but safe. The agent is cheaper but means carrying cash across Nairobi and leaves no record a supplier or a regulator can read. We are the only one of the three that is fast, priced openly, and produces a clean record. The moat compounds with every payment we settle.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(~25s): No paid acquisition in year one. We start with the four businesses who already told us their problem, onboard them by hand, and settle real money at small value. They have offered six introductions between them; we waive a month of fees for each one that converts. Then distribution compounds on its own: every payment link an exporter sends puts Meridian in front of a buyer in Europe or the Gulf.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Be straight about this: today it is me. I have shipped two B2B products for Kenyan businesses and I ran all five of these interviews myself. Bright advises on the market and brought us the inbound use case. The first hire this round funds is a part-time compliance lead, in place before we move a single live shilling. I am not pretending we are a team of 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(~20s): Forty-two thousand dollars next year from thirty businesses, two hundred nine the year after, seven hundred by twenty twenty-nine. That rests on a single assumption you should push on: five hundred active businesses each moving one and a half million shillings a month. Everything else is arithmetic off the one percent. Burn is eight thousand a month once the two hires are in, which is twelve months of runway on this 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(~25s): We are raising a hundred fifty thousand dollars. Forty-five percent builds the product and puts two people on it, thirty percent buys the compliance work properly — policy, legal review, partner agreements — and twenty-five percent is partner float and operations. By month eighteen: a hundred paying businesses, twelve thousand dollars a month, four live corridors. Those are the milestones that price the next round. CONFIRM THE RAISE FIGURE BEFORE SENDING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624"/>
        </a:solidFill>
      </p:bgPr>
    </p:bg>
    <p:spTree>
      <p:nvGrpSpPr>
        <p:cNvPr id="1" name=""/>
        <p:cNvGrpSpPr/>
        <p:nvPr/>
      </p:nvGrpSpPr>
      <p:grpSpPr>
        <a:xfrm>
          <a:off x="0" y="0"/>
          <a:ext cx="0" cy="0"/>
          <a:chOff x="0" y="0"/>
          <a:chExt cx="0" cy="0"/>
        </a:xfrm>
      </p:grpSpPr>
      <p:sp>
        <p:nvSpPr>
          <p:cNvPr id="2" name="Shape 0"/>
          <p:cNvSpPr/>
          <p:nvPr/>
        </p:nvSpPr>
        <p:spPr>
          <a:xfrm>
            <a:off x="640080" y="420624"/>
            <a:ext cx="566928" cy="566928"/>
          </a:xfrm>
          <a:prstGeom prst="roundRect">
            <a:avLst>
              <a:gd name="adj" fmla="val 21800"/>
            </a:avLst>
          </a:prstGeom>
          <a:solidFill>
            <a:srgbClr val="3ECFA0"/>
          </a:solidFill>
          <a:ln w="12700">
            <a:solidFill>
              <a:srgbClr val="3ECFA0"/>
            </a:solidFill>
            <a:prstDash val="solid"/>
          </a:ln>
        </p:spPr>
      </p:sp>
      <p:sp>
        <p:nvSpPr>
          <p:cNvPr id="3" name="Shape 1"/>
          <p:cNvSpPr/>
          <p:nvPr/>
        </p:nvSpPr>
        <p:spPr>
          <a:xfrm>
            <a:off x="799954" y="580498"/>
            <a:ext cx="247181" cy="247181"/>
          </a:xfrm>
          <a:prstGeom prst="ellipse">
            <a:avLst/>
          </a:prstGeom>
          <a:solidFill>
            <a:srgbClr val="3ECFA0"/>
          </a:solidFill>
          <a:ln w="28661">
            <a:solidFill>
              <a:srgbClr val="0B1A19"/>
            </a:solidFill>
            <a:prstDash val="solid"/>
          </a:ln>
        </p:spPr>
      </p:sp>
      <p:sp>
        <p:nvSpPr>
          <p:cNvPr id="4" name="Shape 2"/>
          <p:cNvSpPr/>
          <p:nvPr/>
        </p:nvSpPr>
        <p:spPr>
          <a:xfrm>
            <a:off x="10040112" y="512064"/>
            <a:ext cx="1508760" cy="384048"/>
          </a:xfrm>
          <a:prstGeom prst="roundRect">
            <a:avLst>
              <a:gd name="adj" fmla="val 50000"/>
            </a:avLst>
          </a:prstGeom>
          <a:solidFill>
            <a:srgbClr val="0F2624"/>
          </a:solidFill>
          <a:ln w="12700">
            <a:solidFill>
              <a:srgbClr val="3ECFA0"/>
            </a:solidFill>
            <a:prstDash val="solid"/>
          </a:ln>
        </p:spPr>
      </p:sp>
      <p:sp>
        <p:nvSpPr>
          <p:cNvPr id="5" name="Text 3"/>
          <p:cNvSpPr txBox="1"/>
          <p:nvPr/>
        </p:nvSpPr>
        <p:spPr>
          <a:xfrm>
            <a:off x="10040112" y="493776"/>
            <a:ext cx="1508760" cy="384048"/>
          </a:xfrm>
          <a:prstGeom prst="rect">
            <a:avLst/>
          </a:prstGeom>
          <a:noFill/>
          <a:ln/>
        </p:spPr>
        <p:txBody>
          <a:bodyPr wrap="square" lIns="0" tIns="0" rIns="0" bIns="0" rtlCol="0" anchor="ctr"/>
          <a:lstStyle/>
          <a:p>
            <a:pPr indent="0" marL="0">
              <a:buNone/>
            </a:pPr>
            <a:r>
              <a:rPr lang="en-US" sz="950" b="1" dirty="0">
                <a:solidFill>
                  <a:srgbClr val="3ECFA0"/>
                </a:solidFill>
                <a:latin typeface="Calibri" pitchFamily="34" charset="0"/>
                <a:ea typeface="Calibri" pitchFamily="34" charset="-122"/>
                <a:cs typeface="Calibri" pitchFamily="34" charset="-120"/>
              </a:rPr>
              <a:t>PRE-SEED</a:t>
            </a:r>
            <a:endParaRPr lang="en-US" sz="950" dirty="0"/>
          </a:p>
        </p:txBody>
      </p:sp>
      <p:sp>
        <p:nvSpPr>
          <p:cNvPr id="6" name="Text 4"/>
          <p:cNvSpPr txBox="1"/>
          <p:nvPr/>
        </p:nvSpPr>
        <p:spPr>
          <a:xfrm>
            <a:off x="640080" y="1874520"/>
            <a:ext cx="6766560" cy="1508760"/>
          </a:xfrm>
          <a:prstGeom prst="rect">
            <a:avLst/>
          </a:prstGeom>
          <a:noFill/>
          <a:ln/>
        </p:spPr>
        <p:txBody>
          <a:bodyPr wrap="square" lIns="0" tIns="0" rIns="0" bIns="0" rtlCol="0" anchor="ctr"/>
          <a:lstStyle/>
          <a:p>
            <a:pPr indent="0" marL="0">
              <a:buNone/>
            </a:pPr>
            <a:r>
              <a:rPr lang="en-US" sz="8400" b="1" dirty="0">
                <a:solidFill>
                  <a:srgbClr val="F2F7F4"/>
                </a:solidFill>
                <a:latin typeface="Calibri" pitchFamily="34" charset="0"/>
                <a:ea typeface="Calibri" pitchFamily="34" charset="-122"/>
                <a:cs typeface="Calibri" pitchFamily="34" charset="-120"/>
              </a:rPr>
              <a:t>Meridian</a:t>
            </a:r>
            <a:pPr indent="0" marL="0">
              <a:buNone/>
            </a:pPr>
            <a:r>
              <a:rPr lang="en-US" sz="8400" b="1" dirty="0">
                <a:solidFill>
                  <a:srgbClr val="3ECFA0"/>
                </a:solidFill>
                <a:latin typeface="Calibri" pitchFamily="34" charset="0"/>
                <a:ea typeface="Calibri" pitchFamily="34" charset="-122"/>
                <a:cs typeface="Calibri" pitchFamily="34" charset="-120"/>
              </a:rPr>
              <a:t>.</a:t>
            </a:r>
            <a:endParaRPr lang="en-US" sz="8400" dirty="0"/>
          </a:p>
        </p:txBody>
      </p:sp>
      <p:sp>
        <p:nvSpPr>
          <p:cNvPr id="7" name="Text 5"/>
          <p:cNvSpPr txBox="1"/>
          <p:nvPr/>
        </p:nvSpPr>
        <p:spPr>
          <a:xfrm>
            <a:off x="640080" y="3611880"/>
            <a:ext cx="6492240" cy="1371600"/>
          </a:xfrm>
          <a:prstGeom prst="rect">
            <a:avLst/>
          </a:prstGeom>
          <a:noFill/>
          <a:ln/>
        </p:spPr>
        <p:txBody>
          <a:bodyPr wrap="square" lIns="0" tIns="0" rIns="0" bIns="0" rtlCol="0" anchor="t"/>
          <a:lstStyle/>
          <a:p>
            <a:pPr algn="l" indent="0" marL="0">
              <a:lnSpc>
                <a:spcPct val="125000"/>
              </a:lnSpc>
              <a:buNone/>
            </a:pPr>
            <a:r>
              <a:rPr lang="en-US" sz="2100" b="1" dirty="0">
                <a:solidFill>
                  <a:srgbClr val="F2F7F4"/>
                </a:solidFill>
                <a:latin typeface="Calibri" pitchFamily="34" charset="0"/>
                <a:ea typeface="Calibri" pitchFamily="34" charset="-122"/>
                <a:cs typeface="Calibri" pitchFamily="34" charset="-120"/>
              </a:rPr>
              <a:t>Cross-border payments for African importers and exporters. Money lands in minutes, for a flat 1% and no FX markup.</a:t>
            </a:r>
            <a:endParaRPr lang="en-US" sz="2100" dirty="0"/>
          </a:p>
        </p:txBody>
      </p:sp>
      <p:sp>
        <p:nvSpPr>
          <p:cNvPr id="8" name="Text 6"/>
          <p:cNvSpPr txBox="1"/>
          <p:nvPr/>
        </p:nvSpPr>
        <p:spPr>
          <a:xfrm>
            <a:off x="640080" y="5074920"/>
            <a:ext cx="6492240" cy="320040"/>
          </a:xfrm>
          <a:prstGeom prst="rect">
            <a:avLst/>
          </a:prstGeom>
          <a:noFill/>
          <a:ln/>
        </p:spPr>
        <p:txBody>
          <a:bodyPr wrap="square" lIns="0" tIns="0" rIns="0" bIns="0" rtlCol="0" anchor="ctr"/>
          <a:lstStyle/>
          <a:p>
            <a:pPr algn="l" indent="0" marL="0">
              <a:buNone/>
            </a:pPr>
            <a:r>
              <a:rPr lang="en-US" sz="1250" b="1" dirty="0">
                <a:solidFill>
                  <a:srgbClr val="9FB8B2"/>
                </a:solidFill>
                <a:latin typeface="Calibri" pitchFamily="34" charset="0"/>
                <a:ea typeface="Calibri" pitchFamily="34" charset="-122"/>
                <a:cs typeface="Calibri" pitchFamily="34" charset="-120"/>
              </a:rPr>
              <a:t>Brian Waweru, Founder   ·   Nairobi   ·   brian@appify.co.ke</a:t>
            </a:r>
            <a:endParaRPr lang="en-US" sz="1250" dirty="0"/>
          </a:p>
        </p:txBody>
      </p:sp>
      <p:sp>
        <p:nvSpPr>
          <p:cNvPr id="9" name="Shape 7"/>
          <p:cNvSpPr/>
          <p:nvPr/>
        </p:nvSpPr>
        <p:spPr>
          <a:xfrm>
            <a:off x="7589520" y="1417320"/>
            <a:ext cx="3959352" cy="4206240"/>
          </a:xfrm>
          <a:prstGeom prst="roundRect">
            <a:avLst>
              <a:gd name="adj" fmla="val 3233"/>
            </a:avLst>
          </a:prstGeom>
          <a:solidFill>
            <a:srgbClr val="1B3B38"/>
          </a:solidFill>
          <a:ln w="12700">
            <a:solidFill>
              <a:srgbClr val="2C544F"/>
            </a:solidFill>
            <a:prstDash val="solid"/>
          </a:ln>
        </p:spPr>
      </p:sp>
      <p:sp>
        <p:nvSpPr>
          <p:cNvPr id="10" name="Text 8"/>
          <p:cNvSpPr txBox="1"/>
          <p:nvPr/>
        </p:nvSpPr>
        <p:spPr>
          <a:xfrm>
            <a:off x="7882128" y="1700784"/>
            <a:ext cx="3383280" cy="237744"/>
          </a:xfrm>
          <a:prstGeom prst="rect">
            <a:avLst/>
          </a:prstGeom>
          <a:noFill/>
          <a:ln/>
        </p:spPr>
        <p:txBody>
          <a:bodyPr wrap="square" lIns="0" tIns="0" rIns="0" bIns="0" rtlCol="0" anchor="ctr"/>
          <a:lstStyle/>
          <a:p>
            <a:pPr algn="l" indent="0" marL="0">
              <a:buNone/>
            </a:pPr>
            <a:r>
              <a:rPr lang="en-US" sz="950" b="1" spc="6000" kern="0" dirty="0">
                <a:solidFill>
                  <a:srgbClr val="9FB8B2"/>
                </a:solidFill>
                <a:latin typeface="Calibri" pitchFamily="34" charset="0"/>
                <a:ea typeface="Calibri" pitchFamily="34" charset="-122"/>
                <a:cs typeface="Calibri" pitchFamily="34" charset="-120"/>
              </a:rPr>
              <a:t>SAMPLE TRANSFER</a:t>
            </a:r>
            <a:endParaRPr lang="en-US" sz="950" dirty="0"/>
          </a:p>
        </p:txBody>
      </p:sp>
      <p:sp>
        <p:nvSpPr>
          <p:cNvPr id="11" name="Text 9"/>
          <p:cNvSpPr txBox="1"/>
          <p:nvPr/>
        </p:nvSpPr>
        <p:spPr>
          <a:xfrm>
            <a:off x="7882128" y="2011680"/>
            <a:ext cx="3383280" cy="219456"/>
          </a:xfrm>
          <a:prstGeom prst="rect">
            <a:avLst/>
          </a:prstGeom>
          <a:noFill/>
          <a:ln/>
        </p:spPr>
        <p:txBody>
          <a:bodyPr wrap="square" lIns="0" tIns="0" rIns="0" bIns="0" rtlCol="0" anchor="ctr"/>
          <a:lstStyle/>
          <a:p>
            <a:pPr algn="l" indent="0" marL="0">
              <a:buNone/>
            </a:pPr>
            <a:r>
              <a:rPr lang="en-US" sz="950" b="1" dirty="0">
                <a:solidFill>
                  <a:srgbClr val="9FB8B2"/>
                </a:solidFill>
                <a:latin typeface="Calibri" pitchFamily="34" charset="0"/>
                <a:ea typeface="Calibri" pitchFamily="34" charset="-122"/>
                <a:cs typeface="Calibri" pitchFamily="34" charset="-120"/>
              </a:rPr>
              <a:t>Nairobi — you send</a:t>
            </a:r>
            <a:endParaRPr lang="en-US" sz="950" dirty="0"/>
          </a:p>
        </p:txBody>
      </p:sp>
      <p:sp>
        <p:nvSpPr>
          <p:cNvPr id="12" name="Text 10"/>
          <p:cNvSpPr txBox="1"/>
          <p:nvPr/>
        </p:nvSpPr>
        <p:spPr>
          <a:xfrm>
            <a:off x="7882128" y="2249424"/>
            <a:ext cx="3383280" cy="457200"/>
          </a:xfrm>
          <a:prstGeom prst="rect">
            <a:avLst/>
          </a:prstGeom>
          <a:noFill/>
          <a:ln/>
        </p:spPr>
        <p:txBody>
          <a:bodyPr wrap="square" lIns="0" tIns="0" rIns="0" bIns="0" rtlCol="0" anchor="ctr"/>
          <a:lstStyle/>
          <a:p>
            <a:pPr algn="l" indent="0" marL="0">
              <a:buNone/>
            </a:pPr>
            <a:r>
              <a:rPr lang="en-US" sz="2500" b="1" dirty="0">
                <a:solidFill>
                  <a:srgbClr val="F2F7F4"/>
                </a:solidFill>
                <a:latin typeface="Calibri" pitchFamily="34" charset="0"/>
                <a:ea typeface="Calibri" pitchFamily="34" charset="-122"/>
                <a:cs typeface="Calibri" pitchFamily="34" charset="-120"/>
              </a:rPr>
              <a:t>KSh 1,500,000</a:t>
            </a:r>
            <a:endParaRPr lang="en-US" sz="2500" dirty="0"/>
          </a:p>
        </p:txBody>
      </p:sp>
      <p:sp>
        <p:nvSpPr>
          <p:cNvPr id="13" name="Shape 11"/>
          <p:cNvSpPr/>
          <p:nvPr/>
        </p:nvSpPr>
        <p:spPr>
          <a:xfrm>
            <a:off x="7900416" y="2816352"/>
            <a:ext cx="18288" cy="786384"/>
          </a:xfrm>
          <a:prstGeom prst="rect">
            <a:avLst/>
          </a:prstGeom>
          <a:solidFill>
            <a:srgbClr val="3ECFA0"/>
          </a:solidFill>
          <a:ln/>
        </p:spPr>
      </p:sp>
      <p:sp>
        <p:nvSpPr>
          <p:cNvPr id="14" name="Text 12"/>
          <p:cNvSpPr txBox="1"/>
          <p:nvPr/>
        </p:nvSpPr>
        <p:spPr>
          <a:xfrm>
            <a:off x="8101584" y="2798064"/>
            <a:ext cx="3200400" cy="822960"/>
          </a:xfrm>
          <a:prstGeom prst="rect">
            <a:avLst/>
          </a:prstGeom>
          <a:noFill/>
          <a:ln/>
        </p:spPr>
        <p:txBody>
          <a:bodyPr wrap="square" lIns="0" tIns="0" rIns="0" bIns="0" rtlCol="0" anchor="t"/>
          <a:lstStyle/>
          <a:p>
            <a:pPr algn="l" indent="0" marL="0">
              <a:lnSpc>
                <a:spcPct val="135000"/>
              </a:lnSpc>
              <a:buNone/>
            </a:pPr>
            <a:r>
              <a:rPr lang="en-US" sz="950" b="1" dirty="0">
                <a:solidFill>
                  <a:srgbClr val="9FB8B2"/>
                </a:solidFill>
                <a:latin typeface="Calibri" pitchFamily="34" charset="0"/>
                <a:ea typeface="Calibri" pitchFamily="34" charset="-122"/>
                <a:cs typeface="Calibri" pitchFamily="34" charset="-120"/>
              </a:rPr>
              <a:t>Compliance cleared</a:t>
            </a:r>
            <a:endParaRPr lang="en-US" sz="950" dirty="0"/>
          </a:p>
          <a:p>
            <a:pPr algn="l" indent="0" marL="0">
              <a:lnSpc>
                <a:spcPct val="135000"/>
              </a:lnSpc>
              <a:buNone/>
            </a:pPr>
            <a:r>
              <a:rPr lang="en-US" sz="950" b="1" dirty="0">
                <a:solidFill>
                  <a:srgbClr val="9FB8B2"/>
                </a:solidFill>
                <a:latin typeface="Calibri" pitchFamily="34" charset="0"/>
                <a:ea typeface="Calibri" pitchFamily="34" charset="-122"/>
                <a:cs typeface="Calibri" pitchFamily="34" charset="-120"/>
              </a:rPr>
              <a:t>Converted by our licensed partner</a:t>
            </a:r>
            <a:endParaRPr lang="en-US" sz="950" dirty="0"/>
          </a:p>
          <a:p>
            <a:pPr algn="l" indent="0" marL="0">
              <a:lnSpc>
                <a:spcPct val="135000"/>
              </a:lnSpc>
              <a:buNone/>
            </a:pPr>
            <a:r>
              <a:rPr lang="en-US" sz="950" b="1" dirty="0">
                <a:solidFill>
                  <a:srgbClr val="9FB8B2"/>
                </a:solidFill>
                <a:latin typeface="Calibri" pitchFamily="34" charset="0"/>
                <a:ea typeface="Calibri" pitchFamily="34" charset="-122"/>
                <a:cs typeface="Calibri" pitchFamily="34" charset="-120"/>
              </a:rPr>
              <a:t>Payout sent to the supplier's bank</a:t>
            </a:r>
            <a:endParaRPr lang="en-US" sz="950" dirty="0"/>
          </a:p>
        </p:txBody>
      </p:sp>
      <p:sp>
        <p:nvSpPr>
          <p:cNvPr id="15" name="Shape 13"/>
          <p:cNvSpPr/>
          <p:nvPr/>
        </p:nvSpPr>
        <p:spPr>
          <a:xfrm>
            <a:off x="7882128" y="3767328"/>
            <a:ext cx="3383280" cy="868680"/>
          </a:xfrm>
          <a:prstGeom prst="roundRect">
            <a:avLst>
              <a:gd name="adj" fmla="val 9474"/>
            </a:avLst>
          </a:prstGeom>
          <a:solidFill>
            <a:srgbClr val="0F2624"/>
          </a:solidFill>
          <a:ln w="12700">
            <a:solidFill>
              <a:srgbClr val="3ECFA0"/>
            </a:solidFill>
            <a:prstDash val="solid"/>
          </a:ln>
        </p:spPr>
      </p:sp>
      <p:sp>
        <p:nvSpPr>
          <p:cNvPr id="16" name="Text 14"/>
          <p:cNvSpPr txBox="1"/>
          <p:nvPr/>
        </p:nvSpPr>
        <p:spPr>
          <a:xfrm>
            <a:off x="8028432" y="3877056"/>
            <a:ext cx="3108960" cy="219456"/>
          </a:xfrm>
          <a:prstGeom prst="rect">
            <a:avLst/>
          </a:prstGeom>
          <a:noFill/>
          <a:ln/>
        </p:spPr>
        <p:txBody>
          <a:bodyPr wrap="square" lIns="0" tIns="0" rIns="0" bIns="0" rtlCol="0" anchor="ctr"/>
          <a:lstStyle/>
          <a:p>
            <a:pPr algn="l" indent="0" marL="0">
              <a:buNone/>
            </a:pPr>
            <a:r>
              <a:rPr lang="en-US" sz="900" b="1" dirty="0">
                <a:solidFill>
                  <a:srgbClr val="9FB8B2"/>
                </a:solidFill>
                <a:latin typeface="Calibri" pitchFamily="34" charset="0"/>
                <a:ea typeface="Calibri" pitchFamily="34" charset="-122"/>
                <a:cs typeface="Calibri" pitchFamily="34" charset="-120"/>
              </a:rPr>
              <a:t>Shenzhen — supplier receives</a:t>
            </a:r>
            <a:endParaRPr lang="en-US" sz="900" dirty="0"/>
          </a:p>
        </p:txBody>
      </p:sp>
      <p:sp>
        <p:nvSpPr>
          <p:cNvPr id="17" name="Text 15"/>
          <p:cNvSpPr txBox="1"/>
          <p:nvPr/>
        </p:nvSpPr>
        <p:spPr>
          <a:xfrm>
            <a:off x="8028432" y="4114800"/>
            <a:ext cx="3108960" cy="411480"/>
          </a:xfrm>
          <a:prstGeom prst="rect">
            <a:avLst/>
          </a:prstGeom>
          <a:noFill/>
          <a:ln/>
        </p:spPr>
        <p:txBody>
          <a:bodyPr wrap="square" lIns="0" tIns="0" rIns="0" bIns="0" rtlCol="0" anchor="ctr"/>
          <a:lstStyle/>
          <a:p>
            <a:pPr algn="l" indent="0" marL="0">
              <a:buNone/>
            </a:pPr>
            <a:r>
              <a:rPr lang="en-US" sz="2300" b="1" dirty="0">
                <a:solidFill>
                  <a:srgbClr val="3ECFA0"/>
                </a:solidFill>
                <a:latin typeface="Calibri" pitchFamily="34" charset="0"/>
                <a:ea typeface="Calibri" pitchFamily="34" charset="-122"/>
                <a:cs typeface="Calibri" pitchFamily="34" charset="-120"/>
              </a:rPr>
              <a:t>¥ 82,400</a:t>
            </a:r>
            <a:endParaRPr lang="en-US" sz="2300" dirty="0"/>
          </a:p>
        </p:txBody>
      </p:sp>
      <p:sp>
        <p:nvSpPr>
          <p:cNvPr id="18" name="Text 16"/>
          <p:cNvSpPr txBox="1"/>
          <p:nvPr/>
        </p:nvSpPr>
        <p:spPr>
          <a:xfrm>
            <a:off x="7882128" y="4828032"/>
            <a:ext cx="3383280" cy="237744"/>
          </a:xfrm>
          <a:prstGeom prst="rect">
            <a:avLst/>
          </a:prstGeom>
          <a:noFill/>
          <a:ln/>
        </p:spPr>
        <p:txBody>
          <a:bodyPr wrap="square" lIns="0" tIns="0" rIns="0" bIns="0" rtlCol="0" anchor="ctr"/>
          <a:lstStyle/>
          <a:p>
            <a:pPr algn="l" indent="0" marL="0">
              <a:buNone/>
            </a:pPr>
            <a:r>
              <a:rPr lang="en-US" sz="950" b="1" dirty="0">
                <a:solidFill>
                  <a:srgbClr val="9FB8B2"/>
                </a:solidFill>
                <a:latin typeface="Calibri" pitchFamily="34" charset="0"/>
                <a:ea typeface="Calibri" pitchFamily="34" charset="-122"/>
                <a:cs typeface="Calibri" pitchFamily="34" charset="-120"/>
              </a:rPr>
              <a:t>Total cost 2%. A bank takes 8 to 10%.</a:t>
            </a:r>
            <a:endParaRPr lang="en-US" sz="950" dirty="0"/>
          </a:p>
        </p:txBody>
      </p:sp>
      <p:sp>
        <p:nvSpPr>
          <p:cNvPr id="19" name="Text 17"/>
          <p:cNvSpPr txBox="1"/>
          <p:nvPr/>
        </p:nvSpPr>
        <p:spPr>
          <a:xfrm>
            <a:off x="7589520" y="5724144"/>
            <a:ext cx="3959352" cy="256032"/>
          </a:xfrm>
          <a:prstGeom prst="rect">
            <a:avLst/>
          </a:prstGeom>
          <a:noFill/>
          <a:ln/>
        </p:spPr>
        <p:txBody>
          <a:bodyPr wrap="square" lIns="0" tIns="0" rIns="0" bIns="0" rtlCol="0" anchor="ctr"/>
          <a:lstStyle/>
          <a:p>
            <a:pPr algn="l" indent="0" marL="0">
              <a:buNone/>
            </a:pPr>
            <a:r>
              <a:rPr lang="en-US" sz="950" b="1" dirty="0">
                <a:solidFill>
                  <a:srgbClr val="9FB8B2"/>
                </a:solidFill>
                <a:latin typeface="Calibri" pitchFamily="34" charset="0"/>
                <a:ea typeface="Calibri" pitchFamily="34" charset="-122"/>
                <a:cs typeface="Calibri" pitchFamily="34" charset="-120"/>
              </a:rPr>
              <a:t>Nairobi to Shenzhen, our first corridor</a:t>
            </a:r>
            <a:endParaRPr lang="en-US" sz="950" dirty="0"/>
          </a:p>
        </p:txBody>
      </p:sp>
      <p:sp>
        <p:nvSpPr>
          <p:cNvPr id="20" name="Text 18"/>
          <p:cNvSpPr txBox="1"/>
          <p:nvPr/>
        </p:nvSpPr>
        <p:spPr>
          <a:xfrm>
            <a:off x="640080" y="6355080"/>
            <a:ext cx="7863840" cy="292608"/>
          </a:xfrm>
          <a:prstGeom prst="rect">
            <a:avLst/>
          </a:prstGeom>
          <a:noFill/>
          <a:ln/>
        </p:spPr>
        <p:txBody>
          <a:bodyPr wrap="square" lIns="0" tIns="0" rIns="0" bIns="0" rtlCol="0" anchor="ctr"/>
          <a:lstStyle/>
          <a:p>
            <a:pPr algn="l" indent="0" marL="0">
              <a:buNone/>
            </a:pPr>
            <a:r>
              <a:rPr lang="en-US" sz="1000" b="1" dirty="0">
                <a:solidFill>
                  <a:srgbClr val="9FB8B2"/>
                </a:solidFill>
                <a:latin typeface="Calibri" pitchFamily="34" charset="0"/>
                <a:ea typeface="Calibri" pitchFamily="34" charset="-122"/>
                <a:cs typeface="Calibri" pitchFamily="34" charset="-120"/>
              </a:rPr>
              <a:t>Pre-revenue. Volumes and costs come from five customer interviews; pricing from our partners' published rates.</a:t>
            </a:r>
            <a:endParaRPr lang="en-US" sz="1000" dirty="0"/>
          </a:p>
        </p:txBody>
      </p:sp>
      <p:sp>
        <p:nvSpPr>
          <p:cNvPr id="21" name="Text 19"/>
          <p:cNvSpPr txBox="1"/>
          <p:nvPr/>
        </p:nvSpPr>
        <p:spPr>
          <a:xfrm>
            <a:off x="9537192" y="6327648"/>
            <a:ext cx="2011680" cy="347472"/>
          </a:xfrm>
          <a:prstGeom prst="rect">
            <a:avLst/>
          </a:prstGeom>
          <a:noFill/>
          <a:ln/>
        </p:spPr>
        <p:txBody>
          <a:bodyPr wrap="square" lIns="0" tIns="0" rIns="0" bIns="0" rtlCol="0" anchor="ctr"/>
          <a:lstStyle/>
          <a:p>
            <a:pPr algn="r" indent="0" marL="0">
              <a:buNone/>
            </a:pPr>
            <a:r>
              <a:rPr lang="en-US" sz="1300" b="1" dirty="0">
                <a:solidFill>
                  <a:srgbClr val="F2F7F4"/>
                </a:solidFill>
                <a:latin typeface="Calibri" pitchFamily="34" charset="0"/>
                <a:ea typeface="Calibri" pitchFamily="34" charset="-122"/>
                <a:cs typeface="Calibri" pitchFamily="34" charset="-120"/>
              </a:rPr>
              <a:t>Appify</a:t>
            </a:r>
            <a:pPr algn="r" indent="0" marL="0">
              <a:buNone/>
            </a:pPr>
            <a:r>
              <a:rPr lang="en-US" sz="1300" b="1" dirty="0">
                <a:solidFill>
                  <a:srgbClr val="3ECFA0"/>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F5F2"/>
        </a:solidFill>
      </p:bgPr>
    </p:bg>
    <p:spTree>
      <p:nvGrpSpPr>
        <p:cNvPr id="1" name=""/>
        <p:cNvGrpSpPr/>
        <p:nvPr/>
      </p:nvGrpSpPr>
      <p:grpSpPr>
        <a:xfrm>
          <a:off x="0" y="0"/>
          <a:ext cx="0" cy="0"/>
          <a:chOff x="0" y="0"/>
          <a:chExt cx="0" cy="0"/>
        </a:xfrm>
      </p:grpSpPr>
      <p:sp>
        <p:nvSpPr>
          <p:cNvPr id="2" name="Text 0"/>
          <p:cNvSpPr txBox="1"/>
          <p:nvPr/>
        </p:nvSpPr>
        <p:spPr>
          <a:xfrm>
            <a:off x="640080" y="512064"/>
            <a:ext cx="10908792" cy="274320"/>
          </a:xfrm>
          <a:prstGeom prst="rect">
            <a:avLst/>
          </a:prstGeom>
          <a:noFill/>
          <a:ln/>
        </p:spPr>
        <p:txBody>
          <a:bodyPr wrap="square" lIns="0" tIns="0" rIns="0" bIns="0" rtlCol="0" anchor="ctr"/>
          <a:lstStyle/>
          <a:p>
            <a:pPr algn="l" indent="0" marL="0">
              <a:buNone/>
            </a:pPr>
            <a:r>
              <a:rPr lang="en-US" sz="1100" b="1" spc="6000" kern="0" dirty="0">
                <a:solidFill>
                  <a:srgbClr val="4F6B66"/>
                </a:solidFill>
                <a:latin typeface="Calibri" pitchFamily="34" charset="0"/>
                <a:ea typeface="Calibri" pitchFamily="34" charset="-122"/>
                <a:cs typeface="Calibri" pitchFamily="34" charset="-120"/>
              </a:rPr>
              <a:t>02 · PROBLEM</a:t>
            </a:r>
            <a:endParaRPr lang="en-US" sz="1100" dirty="0"/>
          </a:p>
        </p:txBody>
      </p:sp>
      <p:sp>
        <p:nvSpPr>
          <p:cNvPr id="3" name="Text 1"/>
          <p:cNvSpPr txBox="1"/>
          <p:nvPr/>
        </p:nvSpPr>
        <p:spPr>
          <a:xfrm>
            <a:off x="640080" y="868680"/>
            <a:ext cx="10908792" cy="1234440"/>
          </a:xfrm>
          <a:prstGeom prst="rect">
            <a:avLst/>
          </a:prstGeom>
          <a:noFill/>
          <a:ln/>
        </p:spPr>
        <p:txBody>
          <a:bodyPr wrap="square" lIns="0" tIns="0" rIns="0" bIns="0" rtlCol="0" anchor="t"/>
          <a:lstStyle/>
          <a:p>
            <a:pPr indent="0" marL="0">
              <a:lnSpc>
                <a:spcPct val="104000"/>
              </a:lnSpc>
              <a:buNone/>
            </a:pPr>
            <a:r>
              <a:rPr lang="en-US" sz="3000" b="1" dirty="0">
                <a:solidFill>
                  <a:srgbClr val="0F2624"/>
                </a:solidFill>
                <a:latin typeface="Calibri" pitchFamily="34" charset="0"/>
                <a:ea typeface="Calibri" pitchFamily="34" charset="-122"/>
                <a:cs typeface="Calibri" pitchFamily="34" charset="-120"/>
              </a:rPr>
              <a:t>Kenyan importers lose a week and 9% on every supplier payment.</a:t>
            </a:r>
            <a:endParaRPr lang="en-US" sz="3000" dirty="0"/>
          </a:p>
        </p:txBody>
      </p:sp>
      <p:sp>
        <p:nvSpPr>
          <p:cNvPr id="4" name="Shape 2"/>
          <p:cNvSpPr/>
          <p:nvPr/>
        </p:nvSpPr>
        <p:spPr>
          <a:xfrm>
            <a:off x="640080" y="6382512"/>
            <a:ext cx="274320" cy="274320"/>
          </a:xfrm>
          <a:prstGeom prst="roundRect">
            <a:avLst>
              <a:gd name="adj" fmla="val 21800"/>
            </a:avLst>
          </a:prstGeom>
          <a:solidFill>
            <a:srgbClr val="3ECFA0"/>
          </a:solidFill>
          <a:ln w="12700">
            <a:solidFill>
              <a:srgbClr val="3ECFA0"/>
            </a:solidFill>
            <a:prstDash val="solid"/>
          </a:ln>
        </p:spPr>
      </p:sp>
      <p:sp>
        <p:nvSpPr>
          <p:cNvPr id="5" name="Shape 3"/>
          <p:cNvSpPr/>
          <p:nvPr/>
        </p:nvSpPr>
        <p:spPr>
          <a:xfrm>
            <a:off x="717438" y="6459870"/>
            <a:ext cx="119604" cy="119604"/>
          </a:xfrm>
          <a:prstGeom prst="ellipse">
            <a:avLst/>
          </a:prstGeom>
          <a:solidFill>
            <a:srgbClr val="3ECFA0"/>
          </a:solidFill>
          <a:ln w="13868">
            <a:solidFill>
              <a:srgbClr val="0B1A19"/>
            </a:solidFill>
            <a:prstDash val="solid"/>
          </a:ln>
        </p:spPr>
      </p:sp>
      <p:sp>
        <p:nvSpPr>
          <p:cNvPr id="6" name="Text 4"/>
          <p:cNvSpPr txBox="1"/>
          <p:nvPr/>
        </p:nvSpPr>
        <p:spPr>
          <a:xfrm>
            <a:off x="1005840" y="6400800"/>
            <a:ext cx="3291840" cy="237744"/>
          </a:xfrm>
          <a:prstGeom prst="rect">
            <a:avLst/>
          </a:prstGeom>
          <a:noFill/>
          <a:ln/>
        </p:spPr>
        <p:txBody>
          <a:bodyPr wrap="square" lIns="0" tIns="0" rIns="0" bIns="0" rtlCol="0" anchor="ctr"/>
          <a:lstStyle/>
          <a:p>
            <a:pPr algn="l" indent="0" marL="0">
              <a:buNone/>
            </a:pPr>
            <a:r>
              <a:rPr lang="en-US" sz="800" b="1" spc="4000" kern="0" dirty="0">
                <a:solidFill>
                  <a:srgbClr val="4F6B66"/>
                </a:solidFill>
                <a:latin typeface="Calibri" pitchFamily="34" charset="0"/>
                <a:ea typeface="Calibri" pitchFamily="34" charset="-122"/>
                <a:cs typeface="Calibri" pitchFamily="34" charset="-120"/>
              </a:rPr>
              <a:t>MERIDIAN · APPIFY SOFTWARES</a:t>
            </a:r>
            <a:endParaRPr lang="en-US" sz="800" dirty="0"/>
          </a:p>
        </p:txBody>
      </p:sp>
      <p:sp>
        <p:nvSpPr>
          <p:cNvPr id="7" name="Text 5"/>
          <p:cNvSpPr txBox="1"/>
          <p:nvPr/>
        </p:nvSpPr>
        <p:spPr>
          <a:xfrm>
            <a:off x="7434072" y="6400800"/>
            <a:ext cx="4114800" cy="237744"/>
          </a:xfrm>
          <a:prstGeom prst="rect">
            <a:avLst/>
          </a:prstGeom>
          <a:noFill/>
          <a:ln/>
        </p:spPr>
        <p:txBody>
          <a:bodyPr wrap="square" lIns="0" tIns="0" rIns="0" bIns="0" rtlCol="0" anchor="ctr"/>
          <a:lstStyle/>
          <a:p>
            <a:pPr algn="r" indent="0" marL="0">
              <a:buNone/>
            </a:pPr>
            <a:r>
              <a:rPr lang="en-US" sz="800" b="1" spc="4000" kern="0" dirty="0">
                <a:solidFill>
                  <a:srgbClr val="4F6B66"/>
                </a:solidFill>
                <a:latin typeface="Calibri" pitchFamily="34" charset="0"/>
                <a:ea typeface="Calibri" pitchFamily="34" charset="-122"/>
                <a:cs typeface="Calibri" pitchFamily="34" charset="-120"/>
              </a:rPr>
              <a:t>PROJECTIONS ILLUSTRATIVE · 02 / 12</a:t>
            </a:r>
            <a:endParaRPr lang="en-US" sz="800" dirty="0"/>
          </a:p>
        </p:txBody>
      </p:sp>
      <p:sp>
        <p:nvSpPr>
          <p:cNvPr id="8" name="Shape 6"/>
          <p:cNvSpPr/>
          <p:nvPr/>
        </p:nvSpPr>
        <p:spPr>
          <a:xfrm>
            <a:off x="640080" y="2304288"/>
            <a:ext cx="603504" cy="603504"/>
          </a:xfrm>
          <a:prstGeom prst="ellipse">
            <a:avLst/>
          </a:prstGeom>
          <a:solidFill>
            <a:srgbClr val="FFFFFF"/>
          </a:solidFill>
          <a:ln w="12700">
            <a:solidFill>
              <a:srgbClr val="D7E4DF"/>
            </a:solidFill>
            <a:prstDash val="solid"/>
          </a:ln>
        </p:spPr>
      </p:sp>
      <p:pic>
        <p:nvPicPr>
          <p:cNvPr id="9" name="Image 0" descr="preencoded.png">    </p:cNvPr>
          <p:cNvPicPr>
            <a:picLocks noChangeAspect="1"/>
          </p:cNvPicPr>
          <p:nvPr/>
        </p:nvPicPr>
        <p:blipFill>
          <a:blip r:embed="rId1"/>
          <a:stretch>
            <a:fillRect/>
          </a:stretch>
        </p:blipFill>
        <p:spPr>
          <a:xfrm>
            <a:off x="795482" y="2459690"/>
            <a:ext cx="292699" cy="292699"/>
          </a:xfrm>
          <a:prstGeom prst="rect">
            <a:avLst/>
          </a:prstGeom>
        </p:spPr>
      </p:pic>
      <p:sp>
        <p:nvSpPr>
          <p:cNvPr id="10" name="Text 7"/>
          <p:cNvSpPr txBox="1"/>
          <p:nvPr/>
        </p:nvSpPr>
        <p:spPr>
          <a:xfrm>
            <a:off x="1481328" y="2267712"/>
            <a:ext cx="5394960" cy="310896"/>
          </a:xfrm>
          <a:prstGeom prst="rect">
            <a:avLst/>
          </a:prstGeom>
          <a:noFill/>
          <a:ln/>
        </p:spPr>
        <p:txBody>
          <a:bodyPr wrap="square" lIns="0" tIns="0" rIns="0" bIns="0" rtlCol="0" anchor="ctr"/>
          <a:lstStyle/>
          <a:p>
            <a:pPr algn="l" indent="0" marL="0">
              <a:buNone/>
            </a:pPr>
            <a:r>
              <a:rPr lang="en-US" sz="1550" b="1" dirty="0">
                <a:solidFill>
                  <a:srgbClr val="0F2624"/>
                </a:solidFill>
                <a:latin typeface="Calibri" pitchFamily="34" charset="0"/>
                <a:ea typeface="Calibri" pitchFamily="34" charset="-122"/>
                <a:cs typeface="Calibri" pitchFamily="34" charset="-120"/>
              </a:rPr>
              <a:t>4 to 5 days to confirm</a:t>
            </a:r>
            <a:endParaRPr lang="en-US" sz="1550" dirty="0"/>
          </a:p>
        </p:txBody>
      </p:sp>
      <p:sp>
        <p:nvSpPr>
          <p:cNvPr id="11" name="Text 8"/>
          <p:cNvSpPr txBox="1"/>
          <p:nvPr/>
        </p:nvSpPr>
        <p:spPr>
          <a:xfrm>
            <a:off x="1481328" y="2578608"/>
            <a:ext cx="5394960" cy="310896"/>
          </a:xfrm>
          <a:prstGeom prst="rect">
            <a:avLst/>
          </a:prstGeom>
          <a:noFill/>
          <a:ln/>
        </p:spPr>
        <p:txBody>
          <a:bodyPr wrap="square" lIns="0" tIns="0" rIns="0" bIns="0" rtlCol="0" anchor="ctr"/>
          <a:lstStyle/>
          <a:p>
            <a:pPr algn="l" indent="0" marL="0">
              <a:buNone/>
            </a:pPr>
            <a:r>
              <a:rPr lang="en-US" sz="1250" b="1" dirty="0">
                <a:solidFill>
                  <a:srgbClr val="4F6B66"/>
                </a:solidFill>
                <a:latin typeface="Calibri" pitchFamily="34" charset="0"/>
                <a:ea typeface="Calibri" pitchFamily="34" charset="-122"/>
                <a:cs typeface="Calibri" pitchFamily="34" charset="-120"/>
              </a:rPr>
              <a:t>and the factory will not start the order until it lands.</a:t>
            </a:r>
            <a:endParaRPr lang="en-US" sz="1250" dirty="0"/>
          </a:p>
        </p:txBody>
      </p:sp>
      <p:sp>
        <p:nvSpPr>
          <p:cNvPr id="12" name="Shape 9"/>
          <p:cNvSpPr/>
          <p:nvPr/>
        </p:nvSpPr>
        <p:spPr>
          <a:xfrm>
            <a:off x="640080" y="3291840"/>
            <a:ext cx="603504" cy="603504"/>
          </a:xfrm>
          <a:prstGeom prst="ellipse">
            <a:avLst/>
          </a:prstGeom>
          <a:solidFill>
            <a:srgbClr val="FFFFFF"/>
          </a:solidFill>
          <a:ln w="12700">
            <a:solidFill>
              <a:srgbClr val="D7E4DF"/>
            </a:solidFill>
            <a:prstDash val="solid"/>
          </a:ln>
        </p:spPr>
      </p:sp>
      <p:pic>
        <p:nvPicPr>
          <p:cNvPr id="13" name="Image 1" descr="preencoded.png">    </p:cNvPr>
          <p:cNvPicPr>
            <a:picLocks noChangeAspect="1"/>
          </p:cNvPicPr>
          <p:nvPr/>
        </p:nvPicPr>
        <p:blipFill>
          <a:blip r:embed="rId2"/>
          <a:stretch>
            <a:fillRect/>
          </a:stretch>
        </p:blipFill>
        <p:spPr>
          <a:xfrm>
            <a:off x="795482" y="3447242"/>
            <a:ext cx="292699" cy="292699"/>
          </a:xfrm>
          <a:prstGeom prst="rect">
            <a:avLst/>
          </a:prstGeom>
        </p:spPr>
      </p:pic>
      <p:sp>
        <p:nvSpPr>
          <p:cNvPr id="14" name="Text 10"/>
          <p:cNvSpPr txBox="1"/>
          <p:nvPr/>
        </p:nvSpPr>
        <p:spPr>
          <a:xfrm>
            <a:off x="1481328" y="3255264"/>
            <a:ext cx="5394960" cy="310896"/>
          </a:xfrm>
          <a:prstGeom prst="rect">
            <a:avLst/>
          </a:prstGeom>
          <a:noFill/>
          <a:ln/>
        </p:spPr>
        <p:txBody>
          <a:bodyPr wrap="square" lIns="0" tIns="0" rIns="0" bIns="0" rtlCol="0" anchor="ctr"/>
          <a:lstStyle/>
          <a:p>
            <a:pPr algn="l" indent="0" marL="0">
              <a:buNone/>
            </a:pPr>
            <a:r>
              <a:rPr lang="en-US" sz="1550" b="1" dirty="0">
                <a:solidFill>
                  <a:srgbClr val="0F2624"/>
                </a:solidFill>
                <a:latin typeface="Calibri" pitchFamily="34" charset="0"/>
                <a:ea typeface="Calibri" pitchFamily="34" charset="-122"/>
                <a:cs typeface="Calibri" pitchFamily="34" charset="-120"/>
              </a:rPr>
              <a:t>8 to 10% all-in</a:t>
            </a:r>
            <a:endParaRPr lang="en-US" sz="1550" dirty="0"/>
          </a:p>
        </p:txBody>
      </p:sp>
      <p:sp>
        <p:nvSpPr>
          <p:cNvPr id="15" name="Text 11"/>
          <p:cNvSpPr txBox="1"/>
          <p:nvPr/>
        </p:nvSpPr>
        <p:spPr>
          <a:xfrm>
            <a:off x="1481328" y="3566160"/>
            <a:ext cx="5394960" cy="310896"/>
          </a:xfrm>
          <a:prstGeom prst="rect">
            <a:avLst/>
          </a:prstGeom>
          <a:noFill/>
          <a:ln/>
        </p:spPr>
        <p:txBody>
          <a:bodyPr wrap="square" lIns="0" tIns="0" rIns="0" bIns="0" rtlCol="0" anchor="ctr"/>
          <a:lstStyle/>
          <a:p>
            <a:pPr algn="l" indent="0" marL="0">
              <a:buNone/>
            </a:pPr>
            <a:r>
              <a:rPr lang="en-US" sz="1250" b="1" dirty="0">
                <a:solidFill>
                  <a:srgbClr val="4F6B66"/>
                </a:solidFill>
                <a:latin typeface="Calibri" pitchFamily="34" charset="0"/>
                <a:ea typeface="Calibri" pitchFamily="34" charset="-122"/>
                <a:cs typeface="Calibri" pitchFamily="34" charset="-120"/>
              </a:rPr>
              <a:t>bank fees plus a poor rate on a shilling account.</a:t>
            </a:r>
            <a:endParaRPr lang="en-US" sz="1250" dirty="0"/>
          </a:p>
        </p:txBody>
      </p:sp>
      <p:sp>
        <p:nvSpPr>
          <p:cNvPr id="16" name="Shape 12"/>
          <p:cNvSpPr/>
          <p:nvPr/>
        </p:nvSpPr>
        <p:spPr>
          <a:xfrm>
            <a:off x="640080" y="4279392"/>
            <a:ext cx="603504" cy="603504"/>
          </a:xfrm>
          <a:prstGeom prst="ellipse">
            <a:avLst/>
          </a:prstGeom>
          <a:solidFill>
            <a:srgbClr val="FFFFFF"/>
          </a:solidFill>
          <a:ln w="12700">
            <a:solidFill>
              <a:srgbClr val="D7E4DF"/>
            </a:solidFill>
            <a:prstDash val="solid"/>
          </a:ln>
        </p:spPr>
      </p:sp>
      <p:pic>
        <p:nvPicPr>
          <p:cNvPr id="17" name="Image 2" descr="preencoded.png">    </p:cNvPr>
          <p:cNvPicPr>
            <a:picLocks noChangeAspect="1"/>
          </p:cNvPicPr>
          <p:nvPr/>
        </p:nvPicPr>
        <p:blipFill>
          <a:blip r:embed="rId3"/>
          <a:stretch>
            <a:fillRect/>
          </a:stretch>
        </p:blipFill>
        <p:spPr>
          <a:xfrm>
            <a:off x="795482" y="4434794"/>
            <a:ext cx="292699" cy="292699"/>
          </a:xfrm>
          <a:prstGeom prst="rect">
            <a:avLst/>
          </a:prstGeom>
        </p:spPr>
      </p:pic>
      <p:sp>
        <p:nvSpPr>
          <p:cNvPr id="18" name="Text 13"/>
          <p:cNvSpPr txBox="1"/>
          <p:nvPr/>
        </p:nvSpPr>
        <p:spPr>
          <a:xfrm>
            <a:off x="1481328" y="4242816"/>
            <a:ext cx="5394960" cy="310896"/>
          </a:xfrm>
          <a:prstGeom prst="rect">
            <a:avLst/>
          </a:prstGeom>
          <a:noFill/>
          <a:ln/>
        </p:spPr>
        <p:txBody>
          <a:bodyPr wrap="square" lIns="0" tIns="0" rIns="0" bIns="0" rtlCol="0" anchor="ctr"/>
          <a:lstStyle/>
          <a:p>
            <a:pPr algn="l" indent="0" marL="0">
              <a:buNone/>
            </a:pPr>
            <a:r>
              <a:rPr lang="en-US" sz="1550" b="1" dirty="0">
                <a:solidFill>
                  <a:srgbClr val="0F2624"/>
                </a:solidFill>
                <a:latin typeface="Calibri" pitchFamily="34" charset="0"/>
                <a:ea typeface="Calibri" pitchFamily="34" charset="-122"/>
                <a:cs typeface="Calibri" pitchFamily="34" charset="-120"/>
              </a:rPr>
              <a:t>Buyers cannot pay you</a:t>
            </a:r>
            <a:endParaRPr lang="en-US" sz="1550" dirty="0"/>
          </a:p>
        </p:txBody>
      </p:sp>
      <p:sp>
        <p:nvSpPr>
          <p:cNvPr id="19" name="Text 14"/>
          <p:cNvSpPr txBox="1"/>
          <p:nvPr/>
        </p:nvSpPr>
        <p:spPr>
          <a:xfrm>
            <a:off x="1481328" y="4553712"/>
            <a:ext cx="5394960" cy="310896"/>
          </a:xfrm>
          <a:prstGeom prst="rect">
            <a:avLst/>
          </a:prstGeom>
          <a:noFill/>
          <a:ln/>
        </p:spPr>
        <p:txBody>
          <a:bodyPr wrap="square" lIns="0" tIns="0" rIns="0" bIns="0" rtlCol="0" anchor="ctr"/>
          <a:lstStyle/>
          <a:p>
            <a:pPr algn="l" indent="0" marL="0">
              <a:buNone/>
            </a:pPr>
            <a:r>
              <a:rPr lang="en-US" sz="1250" b="1" dirty="0">
                <a:solidFill>
                  <a:srgbClr val="4F6B66"/>
                </a:solidFill>
                <a:latin typeface="Calibri" pitchFamily="34" charset="0"/>
                <a:ea typeface="Calibri" pitchFamily="34" charset="-122"/>
                <a:cs typeface="Calibri" pitchFamily="34" charset="-120"/>
              </a:rPr>
              <a:t>a South Sudan customer flew to Nairobi to pay in cash.</a:t>
            </a:r>
            <a:endParaRPr lang="en-US" sz="1250" dirty="0"/>
          </a:p>
        </p:txBody>
      </p:sp>
      <p:sp>
        <p:nvSpPr>
          <p:cNvPr id="20" name="Shape 15"/>
          <p:cNvSpPr/>
          <p:nvPr/>
        </p:nvSpPr>
        <p:spPr>
          <a:xfrm>
            <a:off x="640080" y="5010912"/>
            <a:ext cx="6016752" cy="1207008"/>
          </a:xfrm>
          <a:prstGeom prst="roundRect">
            <a:avLst>
              <a:gd name="adj" fmla="val 9091"/>
            </a:avLst>
          </a:prstGeom>
          <a:solidFill>
            <a:srgbClr val="FFFFFF"/>
          </a:solidFill>
          <a:ln w="12700">
            <a:solidFill>
              <a:srgbClr val="D7E4DF"/>
            </a:solidFill>
            <a:prstDash val="solid"/>
          </a:ln>
        </p:spPr>
      </p:sp>
      <p:sp>
        <p:nvSpPr>
          <p:cNvPr id="21" name="Text 16"/>
          <p:cNvSpPr txBox="1"/>
          <p:nvPr/>
        </p:nvSpPr>
        <p:spPr>
          <a:xfrm>
            <a:off x="868680" y="5120640"/>
            <a:ext cx="3657600" cy="182880"/>
          </a:xfrm>
          <a:prstGeom prst="rect">
            <a:avLst/>
          </a:prstGeom>
          <a:noFill/>
          <a:ln/>
        </p:spPr>
        <p:txBody>
          <a:bodyPr wrap="square" lIns="0" tIns="0" rIns="0" bIns="0" rtlCol="0" anchor="ctr"/>
          <a:lstStyle/>
          <a:p>
            <a:pPr algn="l" indent="0" marL="0">
              <a:buNone/>
            </a:pPr>
            <a:r>
              <a:rPr lang="en-US" sz="850" b="1" spc="6000" kern="0" dirty="0">
                <a:solidFill>
                  <a:srgbClr val="4F6B66"/>
                </a:solidFill>
                <a:latin typeface="Calibri" pitchFamily="34" charset="0"/>
                <a:ea typeface="Calibri" pitchFamily="34" charset="-122"/>
                <a:cs typeface="Calibri" pitchFamily="34" charset="-120"/>
              </a:rPr>
              <a:t>SAME PAYMENT, TWO ROUTES</a:t>
            </a:r>
            <a:endParaRPr lang="en-US" sz="850" dirty="0"/>
          </a:p>
        </p:txBody>
      </p:sp>
      <p:sp>
        <p:nvSpPr>
          <p:cNvPr id="22" name="Text 17"/>
          <p:cNvSpPr txBox="1"/>
          <p:nvPr/>
        </p:nvSpPr>
        <p:spPr>
          <a:xfrm>
            <a:off x="868680" y="5358384"/>
            <a:ext cx="1188720" cy="219456"/>
          </a:xfrm>
          <a:prstGeom prst="rect">
            <a:avLst/>
          </a:prstGeom>
          <a:noFill/>
          <a:ln/>
        </p:spPr>
        <p:txBody>
          <a:bodyPr wrap="square" lIns="0" tIns="0" rIns="0" bIns="0" rtlCol="0" anchor="ctr"/>
          <a:lstStyle/>
          <a:p>
            <a:pPr algn="l" indent="0" marL="0">
              <a:buNone/>
            </a:pPr>
            <a:r>
              <a:rPr lang="en-US" sz="950" b="1" dirty="0">
                <a:solidFill>
                  <a:srgbClr val="0F2624"/>
                </a:solidFill>
                <a:latin typeface="Calibri" pitchFamily="34" charset="0"/>
                <a:ea typeface="Calibri" pitchFamily="34" charset="-122"/>
                <a:cs typeface="Calibri" pitchFamily="34" charset="-120"/>
              </a:rPr>
              <a:t>Your bank</a:t>
            </a:r>
            <a:endParaRPr lang="en-US" sz="950" dirty="0"/>
          </a:p>
        </p:txBody>
      </p:sp>
      <p:sp>
        <p:nvSpPr>
          <p:cNvPr id="23" name="Shape 18"/>
          <p:cNvSpPr/>
          <p:nvPr/>
        </p:nvSpPr>
        <p:spPr>
          <a:xfrm>
            <a:off x="2148840" y="5404104"/>
            <a:ext cx="3017520" cy="137160"/>
          </a:xfrm>
          <a:prstGeom prst="rect">
            <a:avLst/>
          </a:prstGeom>
          <a:solidFill>
            <a:srgbClr val="7FA39C"/>
          </a:solidFill>
          <a:ln/>
        </p:spPr>
      </p:sp>
      <p:sp>
        <p:nvSpPr>
          <p:cNvPr id="24" name="Text 19"/>
          <p:cNvSpPr txBox="1"/>
          <p:nvPr/>
        </p:nvSpPr>
        <p:spPr>
          <a:xfrm>
            <a:off x="5303520" y="5358384"/>
            <a:ext cx="1280160" cy="219456"/>
          </a:xfrm>
          <a:prstGeom prst="rect">
            <a:avLst/>
          </a:prstGeom>
          <a:noFill/>
          <a:ln/>
        </p:spPr>
        <p:txBody>
          <a:bodyPr wrap="square" lIns="0" tIns="0" rIns="0" bIns="0" rtlCol="0" anchor="ctr"/>
          <a:lstStyle/>
          <a:p>
            <a:pPr algn="l" indent="0" marL="0">
              <a:buNone/>
            </a:pPr>
            <a:r>
              <a:rPr lang="en-US" sz="950" b="1" dirty="0">
                <a:solidFill>
                  <a:srgbClr val="4F6B66"/>
                </a:solidFill>
                <a:latin typeface="Calibri" pitchFamily="34" charset="0"/>
                <a:ea typeface="Calibri" pitchFamily="34" charset="-122"/>
                <a:cs typeface="Calibri" pitchFamily="34" charset="-120"/>
              </a:rPr>
              <a:t>4 to 5 days</a:t>
            </a:r>
            <a:endParaRPr lang="en-US" sz="950" dirty="0"/>
          </a:p>
        </p:txBody>
      </p:sp>
      <p:sp>
        <p:nvSpPr>
          <p:cNvPr id="25" name="Text 20"/>
          <p:cNvSpPr txBox="1"/>
          <p:nvPr/>
        </p:nvSpPr>
        <p:spPr>
          <a:xfrm>
            <a:off x="868680" y="5669280"/>
            <a:ext cx="1188720" cy="219456"/>
          </a:xfrm>
          <a:prstGeom prst="rect">
            <a:avLst/>
          </a:prstGeom>
          <a:noFill/>
          <a:ln/>
        </p:spPr>
        <p:txBody>
          <a:bodyPr wrap="square" lIns="0" tIns="0" rIns="0" bIns="0" rtlCol="0" anchor="ctr"/>
          <a:lstStyle/>
          <a:p>
            <a:pPr algn="l" indent="0" marL="0">
              <a:buNone/>
            </a:pPr>
            <a:r>
              <a:rPr lang="en-US" sz="950" b="1" dirty="0">
                <a:solidFill>
                  <a:srgbClr val="0F2624"/>
                </a:solidFill>
                <a:latin typeface="Calibri" pitchFamily="34" charset="0"/>
                <a:ea typeface="Calibri" pitchFamily="34" charset="-122"/>
                <a:cs typeface="Calibri" pitchFamily="34" charset="-120"/>
              </a:rPr>
              <a:t>Meridian</a:t>
            </a:r>
            <a:endParaRPr lang="en-US" sz="950" dirty="0"/>
          </a:p>
        </p:txBody>
      </p:sp>
      <p:sp>
        <p:nvSpPr>
          <p:cNvPr id="26" name="Shape 21"/>
          <p:cNvSpPr/>
          <p:nvPr/>
        </p:nvSpPr>
        <p:spPr>
          <a:xfrm>
            <a:off x="2148840" y="5715000"/>
            <a:ext cx="274320" cy="137160"/>
          </a:xfrm>
          <a:prstGeom prst="rect">
            <a:avLst/>
          </a:prstGeom>
          <a:solidFill>
            <a:srgbClr val="3ECFA0"/>
          </a:solidFill>
          <a:ln/>
        </p:spPr>
      </p:sp>
      <p:sp>
        <p:nvSpPr>
          <p:cNvPr id="27" name="Text 22"/>
          <p:cNvSpPr txBox="1"/>
          <p:nvPr/>
        </p:nvSpPr>
        <p:spPr>
          <a:xfrm>
            <a:off x="2542032" y="5669280"/>
            <a:ext cx="1463040" cy="219456"/>
          </a:xfrm>
          <a:prstGeom prst="rect">
            <a:avLst/>
          </a:prstGeom>
          <a:noFill/>
          <a:ln/>
        </p:spPr>
        <p:txBody>
          <a:bodyPr wrap="square" lIns="0" tIns="0" rIns="0" bIns="0" rtlCol="0" anchor="ctr"/>
          <a:lstStyle/>
          <a:p>
            <a:pPr algn="l" indent="0" marL="0">
              <a:buNone/>
            </a:pPr>
            <a:r>
              <a:rPr lang="en-US" sz="950" b="1" dirty="0">
                <a:solidFill>
                  <a:srgbClr val="12705A"/>
                </a:solidFill>
                <a:latin typeface="Calibri" pitchFamily="34" charset="0"/>
                <a:ea typeface="Calibri" pitchFamily="34" charset="-122"/>
                <a:cs typeface="Calibri" pitchFamily="34" charset="-120"/>
              </a:rPr>
              <a:t>Minutes</a:t>
            </a:r>
            <a:endParaRPr lang="en-US" sz="950" dirty="0"/>
          </a:p>
        </p:txBody>
      </p:sp>
      <p:sp>
        <p:nvSpPr>
          <p:cNvPr id="28" name="Text 23"/>
          <p:cNvSpPr txBox="1"/>
          <p:nvPr/>
        </p:nvSpPr>
        <p:spPr>
          <a:xfrm>
            <a:off x="868680" y="5943600"/>
            <a:ext cx="5394960" cy="182880"/>
          </a:xfrm>
          <a:prstGeom prst="rect">
            <a:avLst/>
          </a:prstGeom>
          <a:noFill/>
          <a:ln/>
        </p:spPr>
        <p:txBody>
          <a:bodyPr wrap="square" lIns="0" tIns="0" rIns="0" bIns="0" rtlCol="0" anchor="ctr"/>
          <a:lstStyle/>
          <a:p>
            <a:pPr algn="l" indent="0" marL="0">
              <a:buNone/>
            </a:pPr>
            <a:r>
              <a:rPr lang="en-US" sz="850" b="1" dirty="0">
                <a:solidFill>
                  <a:srgbClr val="4F6B66"/>
                </a:solidFill>
                <a:latin typeface="Calibri" pitchFamily="34" charset="0"/>
                <a:ea typeface="Calibri" pitchFamily="34" charset="-122"/>
                <a:cs typeface="Calibri" pitchFamily="34" charset="-120"/>
              </a:rPr>
              <a:t>KES 1.5M, Nairobi to Shenzhen. Bank timing reported by interviewees.</a:t>
            </a:r>
            <a:endParaRPr lang="en-US" sz="850" dirty="0"/>
          </a:p>
        </p:txBody>
      </p:sp>
      <p:sp>
        <p:nvSpPr>
          <p:cNvPr id="29" name="Shape 24"/>
          <p:cNvSpPr/>
          <p:nvPr/>
        </p:nvSpPr>
        <p:spPr>
          <a:xfrm>
            <a:off x="7178040" y="2240280"/>
            <a:ext cx="4370832" cy="3977640"/>
          </a:xfrm>
          <a:prstGeom prst="roundRect">
            <a:avLst>
              <a:gd name="adj" fmla="val 3218"/>
            </a:avLst>
          </a:prstGeom>
          <a:solidFill>
            <a:srgbClr val="0F2624"/>
          </a:solidFill>
          <a:ln/>
        </p:spPr>
      </p:sp>
      <p:sp>
        <p:nvSpPr>
          <p:cNvPr id="30" name="Text 25"/>
          <p:cNvSpPr txBox="1"/>
          <p:nvPr/>
        </p:nvSpPr>
        <p:spPr>
          <a:xfrm>
            <a:off x="7543800" y="2606040"/>
            <a:ext cx="3657600" cy="274320"/>
          </a:xfrm>
          <a:prstGeom prst="rect">
            <a:avLst/>
          </a:prstGeom>
          <a:noFill/>
          <a:ln/>
        </p:spPr>
        <p:txBody>
          <a:bodyPr wrap="square" lIns="0" tIns="0" rIns="0" bIns="0" rtlCol="0" anchor="ctr"/>
          <a:lstStyle/>
          <a:p>
            <a:pPr algn="l" indent="0" marL="0">
              <a:buNone/>
            </a:pPr>
            <a:r>
              <a:rPr lang="en-US" sz="1000" b="1" spc="6000" kern="0" dirty="0">
                <a:solidFill>
                  <a:srgbClr val="9FB8B2"/>
                </a:solidFill>
                <a:latin typeface="Calibri" pitchFamily="34" charset="0"/>
                <a:ea typeface="Calibri" pitchFamily="34" charset="-122"/>
                <a:cs typeface="Calibri" pitchFamily="34" charset="-120"/>
              </a:rPr>
              <a:t>THE COST OF WAITING</a:t>
            </a:r>
            <a:endParaRPr lang="en-US" sz="1000" dirty="0"/>
          </a:p>
        </p:txBody>
      </p:sp>
      <p:sp>
        <p:nvSpPr>
          <p:cNvPr id="31" name="Text 26"/>
          <p:cNvSpPr txBox="1"/>
          <p:nvPr/>
        </p:nvSpPr>
        <p:spPr>
          <a:xfrm>
            <a:off x="7543800" y="2880360"/>
            <a:ext cx="3657600" cy="1463040"/>
          </a:xfrm>
          <a:prstGeom prst="rect">
            <a:avLst/>
          </a:prstGeom>
          <a:noFill/>
          <a:ln/>
        </p:spPr>
        <p:txBody>
          <a:bodyPr wrap="square" lIns="0" tIns="0" rIns="0" bIns="0" rtlCol="0" anchor="ctr"/>
          <a:lstStyle/>
          <a:p>
            <a:pPr algn="l" indent="0" marL="0">
              <a:buNone/>
            </a:pPr>
            <a:r>
              <a:rPr lang="en-US" sz="7400" b="1" dirty="0">
                <a:solidFill>
                  <a:srgbClr val="3ECFA0"/>
                </a:solidFill>
                <a:latin typeface="Calibri" pitchFamily="34" charset="0"/>
                <a:ea typeface="Calibri" pitchFamily="34" charset="-122"/>
                <a:cs typeface="Calibri" pitchFamily="34" charset="-120"/>
              </a:rPr>
              <a:t>200,000</a:t>
            </a:r>
            <a:endParaRPr lang="en-US" sz="7400" dirty="0"/>
          </a:p>
        </p:txBody>
      </p:sp>
      <p:sp>
        <p:nvSpPr>
          <p:cNvPr id="32" name="Text 27"/>
          <p:cNvSpPr txBox="1"/>
          <p:nvPr/>
        </p:nvSpPr>
        <p:spPr>
          <a:xfrm>
            <a:off x="7543800" y="4709160"/>
            <a:ext cx="3657600" cy="320040"/>
          </a:xfrm>
          <a:prstGeom prst="rect">
            <a:avLst/>
          </a:prstGeom>
          <a:noFill/>
          <a:ln/>
        </p:spPr>
        <p:txBody>
          <a:bodyPr wrap="square" lIns="0" tIns="0" rIns="0" bIns="0" rtlCol="0" anchor="ctr"/>
          <a:lstStyle/>
          <a:p>
            <a:pPr algn="l" indent="0" marL="0">
              <a:buNone/>
            </a:pPr>
            <a:r>
              <a:rPr lang="en-US" sz="1500" b="1" dirty="0">
                <a:solidFill>
                  <a:srgbClr val="F2F7F4"/>
                </a:solidFill>
                <a:latin typeface="Calibri" pitchFamily="34" charset="0"/>
                <a:ea typeface="Calibri" pitchFamily="34" charset="-122"/>
                <a:cs typeface="Calibri" pitchFamily="34" charset="-120"/>
              </a:rPr>
              <a:t>KES lost per importer, every month</a:t>
            </a:r>
            <a:endParaRPr lang="en-US" sz="1500" dirty="0"/>
          </a:p>
        </p:txBody>
      </p:sp>
      <p:sp>
        <p:nvSpPr>
          <p:cNvPr id="33" name="Text 28"/>
          <p:cNvSpPr txBox="1"/>
          <p:nvPr/>
        </p:nvSpPr>
        <p:spPr>
          <a:xfrm>
            <a:off x="7543800" y="5440680"/>
            <a:ext cx="3657600" cy="411480"/>
          </a:xfrm>
          <a:prstGeom prst="rect">
            <a:avLst/>
          </a:prstGeom>
          <a:noFill/>
          <a:ln/>
        </p:spPr>
        <p:txBody>
          <a:bodyPr wrap="square" lIns="0" tIns="0" rIns="0" bIns="0" rtlCol="0" anchor="t"/>
          <a:lstStyle/>
          <a:p>
            <a:pPr algn="l" indent="0" marL="0">
              <a:lnSpc>
                <a:spcPct val="120000"/>
              </a:lnSpc>
              <a:buNone/>
            </a:pPr>
            <a:r>
              <a:rPr lang="en-US" sz="950" b="1" dirty="0">
                <a:solidFill>
                  <a:srgbClr val="9FB8B2"/>
                </a:solidFill>
                <a:latin typeface="Calibri" pitchFamily="34" charset="0"/>
                <a:ea typeface="Calibri" pitchFamily="34" charset="-122"/>
                <a:cs typeface="Calibri" pitchFamily="34" charset="-120"/>
              </a:rPr>
              <a:t>*On KES 2M monthly volume at 8–10%, the range importers reported to us.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F5F2"/>
        </a:solidFill>
      </p:bgPr>
    </p:bg>
    <p:spTree>
      <p:nvGrpSpPr>
        <p:cNvPr id="1" name=""/>
        <p:cNvGrpSpPr/>
        <p:nvPr/>
      </p:nvGrpSpPr>
      <p:grpSpPr>
        <a:xfrm>
          <a:off x="0" y="0"/>
          <a:ext cx="0" cy="0"/>
          <a:chOff x="0" y="0"/>
          <a:chExt cx="0" cy="0"/>
        </a:xfrm>
      </p:grpSpPr>
      <p:sp>
        <p:nvSpPr>
          <p:cNvPr id="2" name="Text 0"/>
          <p:cNvSpPr txBox="1"/>
          <p:nvPr/>
        </p:nvSpPr>
        <p:spPr>
          <a:xfrm>
            <a:off x="640080" y="512064"/>
            <a:ext cx="10908792" cy="274320"/>
          </a:xfrm>
          <a:prstGeom prst="rect">
            <a:avLst/>
          </a:prstGeom>
          <a:noFill/>
          <a:ln/>
        </p:spPr>
        <p:txBody>
          <a:bodyPr wrap="square" lIns="0" tIns="0" rIns="0" bIns="0" rtlCol="0" anchor="ctr"/>
          <a:lstStyle/>
          <a:p>
            <a:pPr algn="l" indent="0" marL="0">
              <a:buNone/>
            </a:pPr>
            <a:r>
              <a:rPr lang="en-US" sz="1100" b="1" spc="6000" kern="0" dirty="0">
                <a:solidFill>
                  <a:srgbClr val="4F6B66"/>
                </a:solidFill>
                <a:latin typeface="Calibri" pitchFamily="34" charset="0"/>
                <a:ea typeface="Calibri" pitchFamily="34" charset="-122"/>
                <a:cs typeface="Calibri" pitchFamily="34" charset="-120"/>
              </a:rPr>
              <a:t>03 · SOLUTION</a:t>
            </a:r>
            <a:endParaRPr lang="en-US" sz="1100" dirty="0"/>
          </a:p>
        </p:txBody>
      </p:sp>
      <p:sp>
        <p:nvSpPr>
          <p:cNvPr id="3" name="Text 1"/>
          <p:cNvSpPr txBox="1"/>
          <p:nvPr/>
        </p:nvSpPr>
        <p:spPr>
          <a:xfrm>
            <a:off x="640080" y="868680"/>
            <a:ext cx="10908792" cy="1234440"/>
          </a:xfrm>
          <a:prstGeom prst="rect">
            <a:avLst/>
          </a:prstGeom>
          <a:noFill/>
          <a:ln/>
        </p:spPr>
        <p:txBody>
          <a:bodyPr wrap="square" lIns="0" tIns="0" rIns="0" bIns="0" rtlCol="0" anchor="t"/>
          <a:lstStyle/>
          <a:p>
            <a:pPr indent="0" marL="0">
              <a:lnSpc>
                <a:spcPct val="104000"/>
              </a:lnSpc>
              <a:buNone/>
            </a:pPr>
            <a:r>
              <a:rPr lang="en-US" sz="3000" b="1" dirty="0">
                <a:solidFill>
                  <a:srgbClr val="0F2624"/>
                </a:solidFill>
                <a:latin typeface="Calibri" pitchFamily="34" charset="0"/>
                <a:ea typeface="Calibri" pitchFamily="34" charset="-122"/>
                <a:cs typeface="Calibri" pitchFamily="34" charset="-120"/>
              </a:rPr>
              <a:t>Meridian: one screen, supplier paid the same day.</a:t>
            </a:r>
            <a:endParaRPr lang="en-US" sz="3000" dirty="0"/>
          </a:p>
        </p:txBody>
      </p:sp>
      <p:sp>
        <p:nvSpPr>
          <p:cNvPr id="4" name="Shape 2"/>
          <p:cNvSpPr/>
          <p:nvPr/>
        </p:nvSpPr>
        <p:spPr>
          <a:xfrm>
            <a:off x="640080" y="6382512"/>
            <a:ext cx="274320" cy="274320"/>
          </a:xfrm>
          <a:prstGeom prst="roundRect">
            <a:avLst>
              <a:gd name="adj" fmla="val 21800"/>
            </a:avLst>
          </a:prstGeom>
          <a:solidFill>
            <a:srgbClr val="3ECFA0"/>
          </a:solidFill>
          <a:ln w="12700">
            <a:solidFill>
              <a:srgbClr val="3ECFA0"/>
            </a:solidFill>
            <a:prstDash val="solid"/>
          </a:ln>
        </p:spPr>
      </p:sp>
      <p:sp>
        <p:nvSpPr>
          <p:cNvPr id="5" name="Shape 3"/>
          <p:cNvSpPr/>
          <p:nvPr/>
        </p:nvSpPr>
        <p:spPr>
          <a:xfrm>
            <a:off x="717438" y="6459870"/>
            <a:ext cx="119604" cy="119604"/>
          </a:xfrm>
          <a:prstGeom prst="ellipse">
            <a:avLst/>
          </a:prstGeom>
          <a:solidFill>
            <a:srgbClr val="3ECFA0"/>
          </a:solidFill>
          <a:ln w="13868">
            <a:solidFill>
              <a:srgbClr val="0B1A19"/>
            </a:solidFill>
            <a:prstDash val="solid"/>
          </a:ln>
        </p:spPr>
      </p:sp>
      <p:sp>
        <p:nvSpPr>
          <p:cNvPr id="6" name="Text 4"/>
          <p:cNvSpPr txBox="1"/>
          <p:nvPr/>
        </p:nvSpPr>
        <p:spPr>
          <a:xfrm>
            <a:off x="1005840" y="6400800"/>
            <a:ext cx="3291840" cy="237744"/>
          </a:xfrm>
          <a:prstGeom prst="rect">
            <a:avLst/>
          </a:prstGeom>
          <a:noFill/>
          <a:ln/>
        </p:spPr>
        <p:txBody>
          <a:bodyPr wrap="square" lIns="0" tIns="0" rIns="0" bIns="0" rtlCol="0" anchor="ctr"/>
          <a:lstStyle/>
          <a:p>
            <a:pPr algn="l" indent="0" marL="0">
              <a:buNone/>
            </a:pPr>
            <a:r>
              <a:rPr lang="en-US" sz="800" b="1" spc="4000" kern="0" dirty="0">
                <a:solidFill>
                  <a:srgbClr val="4F6B66"/>
                </a:solidFill>
                <a:latin typeface="Calibri" pitchFamily="34" charset="0"/>
                <a:ea typeface="Calibri" pitchFamily="34" charset="-122"/>
                <a:cs typeface="Calibri" pitchFamily="34" charset="-120"/>
              </a:rPr>
              <a:t>MERIDIAN · APPIFY SOFTWARES</a:t>
            </a:r>
            <a:endParaRPr lang="en-US" sz="800" dirty="0"/>
          </a:p>
        </p:txBody>
      </p:sp>
      <p:sp>
        <p:nvSpPr>
          <p:cNvPr id="7" name="Text 5"/>
          <p:cNvSpPr txBox="1"/>
          <p:nvPr/>
        </p:nvSpPr>
        <p:spPr>
          <a:xfrm>
            <a:off x="7434072" y="6400800"/>
            <a:ext cx="4114800" cy="237744"/>
          </a:xfrm>
          <a:prstGeom prst="rect">
            <a:avLst/>
          </a:prstGeom>
          <a:noFill/>
          <a:ln/>
        </p:spPr>
        <p:txBody>
          <a:bodyPr wrap="square" lIns="0" tIns="0" rIns="0" bIns="0" rtlCol="0" anchor="ctr"/>
          <a:lstStyle/>
          <a:p>
            <a:pPr algn="r" indent="0" marL="0">
              <a:buNone/>
            </a:pPr>
            <a:r>
              <a:rPr lang="en-US" sz="800" b="1" spc="4000" kern="0" dirty="0">
                <a:solidFill>
                  <a:srgbClr val="4F6B66"/>
                </a:solidFill>
                <a:latin typeface="Calibri" pitchFamily="34" charset="0"/>
                <a:ea typeface="Calibri" pitchFamily="34" charset="-122"/>
                <a:cs typeface="Calibri" pitchFamily="34" charset="-120"/>
              </a:rPr>
              <a:t>PROJECTIONS ILLUSTRATIVE · 03 / 12</a:t>
            </a:r>
            <a:endParaRPr lang="en-US" sz="800" dirty="0"/>
          </a:p>
        </p:txBody>
      </p:sp>
      <p:sp>
        <p:nvSpPr>
          <p:cNvPr id="8" name="Shape 6"/>
          <p:cNvSpPr/>
          <p:nvPr/>
        </p:nvSpPr>
        <p:spPr>
          <a:xfrm>
            <a:off x="640080" y="2286000"/>
            <a:ext cx="3310128" cy="2523744"/>
          </a:xfrm>
          <a:prstGeom prst="roundRect">
            <a:avLst>
              <a:gd name="adj" fmla="val 4348"/>
            </a:avLst>
          </a:prstGeom>
          <a:solidFill>
            <a:srgbClr val="FFFFFF"/>
          </a:solidFill>
          <a:ln w="12700">
            <a:solidFill>
              <a:srgbClr val="D7E4DF"/>
            </a:solidFill>
            <a:prstDash val="solid"/>
          </a:ln>
        </p:spPr>
      </p:sp>
      <p:sp>
        <p:nvSpPr>
          <p:cNvPr id="9" name="Shape 7"/>
          <p:cNvSpPr/>
          <p:nvPr/>
        </p:nvSpPr>
        <p:spPr>
          <a:xfrm>
            <a:off x="932688" y="2596896"/>
            <a:ext cx="658368" cy="658368"/>
          </a:xfrm>
          <a:prstGeom prst="ellipse">
            <a:avLst/>
          </a:prstGeom>
          <a:solidFill>
            <a:srgbClr val="EFF5F2"/>
          </a:solidFill>
          <a:ln w="12700">
            <a:solidFill>
              <a:srgbClr val="D7E4DF"/>
            </a:solidFill>
            <a:prstDash val="solid"/>
          </a:ln>
        </p:spPr>
      </p:sp>
      <p:pic>
        <p:nvPicPr>
          <p:cNvPr id="10" name="Image 0" descr="preencoded.png">    </p:cNvPr>
          <p:cNvPicPr>
            <a:picLocks noChangeAspect="1"/>
          </p:cNvPicPr>
          <p:nvPr/>
        </p:nvPicPr>
        <p:blipFill>
          <a:blip r:embed="rId1"/>
          <a:stretch>
            <a:fillRect/>
          </a:stretch>
        </p:blipFill>
        <p:spPr>
          <a:xfrm>
            <a:off x="1102218" y="2766426"/>
            <a:ext cx="319308" cy="319308"/>
          </a:xfrm>
          <a:prstGeom prst="rect">
            <a:avLst/>
          </a:prstGeom>
        </p:spPr>
      </p:pic>
      <p:sp>
        <p:nvSpPr>
          <p:cNvPr id="11" name="Text 8"/>
          <p:cNvSpPr txBox="1"/>
          <p:nvPr/>
        </p:nvSpPr>
        <p:spPr>
          <a:xfrm>
            <a:off x="932688" y="3419856"/>
            <a:ext cx="2724912" cy="237744"/>
          </a:xfrm>
          <a:prstGeom prst="rect">
            <a:avLst/>
          </a:prstGeom>
          <a:noFill/>
          <a:ln/>
        </p:spPr>
        <p:txBody>
          <a:bodyPr wrap="square" lIns="0" tIns="0" rIns="0" bIns="0" rtlCol="0" anchor="ctr"/>
          <a:lstStyle/>
          <a:p>
            <a:pPr algn="l" indent="0" marL="0">
              <a:buNone/>
            </a:pPr>
            <a:r>
              <a:rPr lang="en-US" sz="900" b="1" spc="7000" kern="0" dirty="0">
                <a:solidFill>
                  <a:srgbClr val="4F6B66"/>
                </a:solidFill>
                <a:latin typeface="Calibri" pitchFamily="34" charset="0"/>
                <a:ea typeface="Calibri" pitchFamily="34" charset="-122"/>
                <a:cs typeface="Calibri" pitchFamily="34" charset="-120"/>
              </a:rPr>
              <a:t>TODAY</a:t>
            </a:r>
            <a:endParaRPr lang="en-US" sz="900" dirty="0"/>
          </a:p>
        </p:txBody>
      </p:sp>
      <p:sp>
        <p:nvSpPr>
          <p:cNvPr id="12" name="Text 9"/>
          <p:cNvSpPr txBox="1"/>
          <p:nvPr/>
        </p:nvSpPr>
        <p:spPr>
          <a:xfrm>
            <a:off x="932688" y="3657600"/>
            <a:ext cx="2724912" cy="329184"/>
          </a:xfrm>
          <a:prstGeom prst="rect">
            <a:avLst/>
          </a:prstGeom>
          <a:noFill/>
          <a:ln/>
        </p:spPr>
        <p:txBody>
          <a:bodyPr wrap="square" lIns="0" tIns="0" rIns="0" bIns="0" rtlCol="0" anchor="ctr"/>
          <a:lstStyle/>
          <a:p>
            <a:pPr algn="l" indent="0" marL="0">
              <a:buNone/>
            </a:pPr>
            <a:r>
              <a:rPr lang="en-US" sz="1650" b="1" dirty="0">
                <a:solidFill>
                  <a:srgbClr val="0F2624"/>
                </a:solidFill>
                <a:latin typeface="Calibri" pitchFamily="34" charset="0"/>
                <a:ea typeface="Calibri" pitchFamily="34" charset="-122"/>
                <a:cs typeface="Calibri" pitchFamily="34" charset="-120"/>
              </a:rPr>
              <a:t>Bank transfer</a:t>
            </a:r>
            <a:endParaRPr lang="en-US" sz="1650" dirty="0"/>
          </a:p>
        </p:txBody>
      </p:sp>
      <p:sp>
        <p:nvSpPr>
          <p:cNvPr id="13" name="Text 10"/>
          <p:cNvSpPr txBox="1"/>
          <p:nvPr/>
        </p:nvSpPr>
        <p:spPr>
          <a:xfrm>
            <a:off x="932688" y="4023360"/>
            <a:ext cx="2724912" cy="566928"/>
          </a:xfrm>
          <a:prstGeom prst="rect">
            <a:avLst/>
          </a:prstGeom>
          <a:noFill/>
          <a:ln/>
        </p:spPr>
        <p:txBody>
          <a:bodyPr wrap="square" lIns="0" tIns="0" rIns="0" bIns="0" rtlCol="0" anchor="t"/>
          <a:lstStyle/>
          <a:p>
            <a:pPr algn="l" indent="0" marL="0">
              <a:lnSpc>
                <a:spcPct val="120000"/>
              </a:lnSpc>
              <a:buNone/>
            </a:pPr>
            <a:r>
              <a:rPr lang="en-US" sz="1250" b="1" dirty="0">
                <a:solidFill>
                  <a:srgbClr val="4F6B66"/>
                </a:solidFill>
                <a:latin typeface="Calibri" pitchFamily="34" charset="0"/>
                <a:ea typeface="Calibri" pitchFamily="34" charset="-122"/>
                <a:cs typeface="Calibri" pitchFamily="34" charset="-120"/>
              </a:rPr>
              <a:t>Familiar, but four to five days and eight to ten percent.</a:t>
            </a:r>
            <a:endParaRPr lang="en-US" sz="1250" dirty="0"/>
          </a:p>
        </p:txBody>
      </p:sp>
      <p:sp>
        <p:nvSpPr>
          <p:cNvPr id="14" name="Shape 11"/>
          <p:cNvSpPr/>
          <p:nvPr/>
        </p:nvSpPr>
        <p:spPr>
          <a:xfrm>
            <a:off x="4434840" y="2286000"/>
            <a:ext cx="3310128" cy="2523744"/>
          </a:xfrm>
          <a:prstGeom prst="roundRect">
            <a:avLst>
              <a:gd name="adj" fmla="val 4348"/>
            </a:avLst>
          </a:prstGeom>
          <a:solidFill>
            <a:srgbClr val="FFFFFF"/>
          </a:solidFill>
          <a:ln w="12700">
            <a:solidFill>
              <a:srgbClr val="D7E4DF"/>
            </a:solidFill>
            <a:prstDash val="solid"/>
          </a:ln>
        </p:spPr>
      </p:sp>
      <p:sp>
        <p:nvSpPr>
          <p:cNvPr id="15" name="Shape 12"/>
          <p:cNvSpPr/>
          <p:nvPr/>
        </p:nvSpPr>
        <p:spPr>
          <a:xfrm>
            <a:off x="4727448" y="2596896"/>
            <a:ext cx="658368" cy="658368"/>
          </a:xfrm>
          <a:prstGeom prst="ellipse">
            <a:avLst/>
          </a:prstGeom>
          <a:solidFill>
            <a:srgbClr val="EFF5F2"/>
          </a:solidFill>
          <a:ln w="12700">
            <a:solidFill>
              <a:srgbClr val="D7E4DF"/>
            </a:solidFill>
            <a:prstDash val="solid"/>
          </a:ln>
        </p:spPr>
      </p:sp>
      <p:pic>
        <p:nvPicPr>
          <p:cNvPr id="16" name="Image 1" descr="preencoded.png">    </p:cNvPr>
          <p:cNvPicPr>
            <a:picLocks noChangeAspect="1"/>
          </p:cNvPicPr>
          <p:nvPr/>
        </p:nvPicPr>
        <p:blipFill>
          <a:blip r:embed="rId2"/>
          <a:stretch>
            <a:fillRect/>
          </a:stretch>
        </p:blipFill>
        <p:spPr>
          <a:xfrm>
            <a:off x="4896978" y="2766426"/>
            <a:ext cx="319308" cy="319308"/>
          </a:xfrm>
          <a:prstGeom prst="rect">
            <a:avLst/>
          </a:prstGeom>
        </p:spPr>
      </p:pic>
      <p:sp>
        <p:nvSpPr>
          <p:cNvPr id="17" name="Text 13"/>
          <p:cNvSpPr txBox="1"/>
          <p:nvPr/>
        </p:nvSpPr>
        <p:spPr>
          <a:xfrm>
            <a:off x="4727448" y="3419856"/>
            <a:ext cx="2724912" cy="237744"/>
          </a:xfrm>
          <a:prstGeom prst="rect">
            <a:avLst/>
          </a:prstGeom>
          <a:noFill/>
          <a:ln/>
        </p:spPr>
        <p:txBody>
          <a:bodyPr wrap="square" lIns="0" tIns="0" rIns="0" bIns="0" rtlCol="0" anchor="ctr"/>
          <a:lstStyle/>
          <a:p>
            <a:pPr algn="l" indent="0" marL="0">
              <a:buNone/>
            </a:pPr>
            <a:r>
              <a:rPr lang="en-US" sz="900" b="1" spc="7000" kern="0" dirty="0">
                <a:solidFill>
                  <a:srgbClr val="4F6B66"/>
                </a:solidFill>
                <a:latin typeface="Calibri" pitchFamily="34" charset="0"/>
                <a:ea typeface="Calibri" pitchFamily="34" charset="-122"/>
                <a:cs typeface="Calibri" pitchFamily="34" charset="-120"/>
              </a:rPr>
              <a:t>STEP 1</a:t>
            </a:r>
            <a:endParaRPr lang="en-US" sz="900" dirty="0"/>
          </a:p>
        </p:txBody>
      </p:sp>
      <p:sp>
        <p:nvSpPr>
          <p:cNvPr id="18" name="Text 14"/>
          <p:cNvSpPr txBox="1"/>
          <p:nvPr/>
        </p:nvSpPr>
        <p:spPr>
          <a:xfrm>
            <a:off x="4727448" y="3657600"/>
            <a:ext cx="2724912" cy="329184"/>
          </a:xfrm>
          <a:prstGeom prst="rect">
            <a:avLst/>
          </a:prstGeom>
          <a:noFill/>
          <a:ln/>
        </p:spPr>
        <p:txBody>
          <a:bodyPr wrap="square" lIns="0" tIns="0" rIns="0" bIns="0" rtlCol="0" anchor="ctr"/>
          <a:lstStyle/>
          <a:p>
            <a:pPr algn="l" indent="0" marL="0">
              <a:buNone/>
            </a:pPr>
            <a:r>
              <a:rPr lang="en-US" sz="1650" b="1" dirty="0">
                <a:solidFill>
                  <a:srgbClr val="0F2624"/>
                </a:solidFill>
                <a:latin typeface="Calibri" pitchFamily="34" charset="0"/>
                <a:ea typeface="Calibri" pitchFamily="34" charset="-122"/>
                <a:cs typeface="Calibri" pitchFamily="34" charset="-120"/>
              </a:rPr>
              <a:t>One screen</a:t>
            </a:r>
            <a:endParaRPr lang="en-US" sz="1650" dirty="0"/>
          </a:p>
        </p:txBody>
      </p:sp>
      <p:sp>
        <p:nvSpPr>
          <p:cNvPr id="19" name="Text 15"/>
          <p:cNvSpPr txBox="1"/>
          <p:nvPr/>
        </p:nvSpPr>
        <p:spPr>
          <a:xfrm>
            <a:off x="4727448" y="4023360"/>
            <a:ext cx="2724912" cy="566928"/>
          </a:xfrm>
          <a:prstGeom prst="rect">
            <a:avLst/>
          </a:prstGeom>
          <a:noFill/>
          <a:ln/>
        </p:spPr>
        <p:txBody>
          <a:bodyPr wrap="square" lIns="0" tIns="0" rIns="0" bIns="0" rtlCol="0" anchor="t"/>
          <a:lstStyle/>
          <a:p>
            <a:pPr algn="l" indent="0" marL="0">
              <a:lnSpc>
                <a:spcPct val="120000"/>
              </a:lnSpc>
              <a:buNone/>
            </a:pPr>
            <a:r>
              <a:rPr lang="en-US" sz="1250" b="1" dirty="0">
                <a:solidFill>
                  <a:srgbClr val="4F6B66"/>
                </a:solidFill>
                <a:latin typeface="Calibri" pitchFamily="34" charset="0"/>
                <a:ea typeface="Calibri" pitchFamily="34" charset="-122"/>
                <a:cs typeface="Calibri" pitchFamily="34" charset="-120"/>
              </a:rPr>
              <a:t>Pick the supplier, see the full cost, pay from M-Pesa or bank.</a:t>
            </a:r>
            <a:endParaRPr lang="en-US" sz="1250" dirty="0"/>
          </a:p>
        </p:txBody>
      </p:sp>
      <p:sp>
        <p:nvSpPr>
          <p:cNvPr id="20" name="Shape 16"/>
          <p:cNvSpPr/>
          <p:nvPr/>
        </p:nvSpPr>
        <p:spPr>
          <a:xfrm>
            <a:off x="8229600" y="2286000"/>
            <a:ext cx="3310128" cy="2523744"/>
          </a:xfrm>
          <a:prstGeom prst="roundRect">
            <a:avLst>
              <a:gd name="adj" fmla="val 4348"/>
            </a:avLst>
          </a:prstGeom>
          <a:solidFill>
            <a:srgbClr val="FFFFFF"/>
          </a:solidFill>
          <a:ln w="12700">
            <a:solidFill>
              <a:srgbClr val="D7E4DF"/>
            </a:solidFill>
            <a:prstDash val="solid"/>
          </a:ln>
        </p:spPr>
      </p:sp>
      <p:sp>
        <p:nvSpPr>
          <p:cNvPr id="21" name="Shape 17"/>
          <p:cNvSpPr/>
          <p:nvPr/>
        </p:nvSpPr>
        <p:spPr>
          <a:xfrm>
            <a:off x="8522208" y="2596896"/>
            <a:ext cx="658368" cy="658368"/>
          </a:xfrm>
          <a:prstGeom prst="ellipse">
            <a:avLst/>
          </a:prstGeom>
          <a:solidFill>
            <a:srgbClr val="0F2624"/>
          </a:solidFill>
          <a:ln w="12700">
            <a:solidFill>
              <a:srgbClr val="0F2624"/>
            </a:solidFill>
            <a:prstDash val="solid"/>
          </a:ln>
        </p:spPr>
      </p:sp>
      <p:pic>
        <p:nvPicPr>
          <p:cNvPr id="22" name="Image 2" descr="preencoded.png">    </p:cNvPr>
          <p:cNvPicPr>
            <a:picLocks noChangeAspect="1"/>
          </p:cNvPicPr>
          <p:nvPr/>
        </p:nvPicPr>
        <p:blipFill>
          <a:blip r:embed="rId3"/>
          <a:stretch>
            <a:fillRect/>
          </a:stretch>
        </p:blipFill>
        <p:spPr>
          <a:xfrm>
            <a:off x="8691738" y="2766426"/>
            <a:ext cx="319308" cy="319308"/>
          </a:xfrm>
          <a:prstGeom prst="rect">
            <a:avLst/>
          </a:prstGeom>
        </p:spPr>
      </p:pic>
      <p:sp>
        <p:nvSpPr>
          <p:cNvPr id="23" name="Text 18"/>
          <p:cNvSpPr txBox="1"/>
          <p:nvPr/>
        </p:nvSpPr>
        <p:spPr>
          <a:xfrm>
            <a:off x="8522208" y="3419856"/>
            <a:ext cx="2724912" cy="237744"/>
          </a:xfrm>
          <a:prstGeom prst="rect">
            <a:avLst/>
          </a:prstGeom>
          <a:noFill/>
          <a:ln/>
        </p:spPr>
        <p:txBody>
          <a:bodyPr wrap="square" lIns="0" tIns="0" rIns="0" bIns="0" rtlCol="0" anchor="ctr"/>
          <a:lstStyle/>
          <a:p>
            <a:pPr algn="l" indent="0" marL="0">
              <a:buNone/>
            </a:pPr>
            <a:r>
              <a:rPr lang="en-US" sz="900" b="1" spc="7000" kern="0" dirty="0">
                <a:solidFill>
                  <a:srgbClr val="4F6B66"/>
                </a:solidFill>
                <a:latin typeface="Calibri" pitchFamily="34" charset="0"/>
                <a:ea typeface="Calibri" pitchFamily="34" charset="-122"/>
                <a:cs typeface="Calibri" pitchFamily="34" charset="-120"/>
              </a:rPr>
              <a:t>PAYOFF</a:t>
            </a:r>
            <a:endParaRPr lang="en-US" sz="900" dirty="0"/>
          </a:p>
        </p:txBody>
      </p:sp>
      <p:sp>
        <p:nvSpPr>
          <p:cNvPr id="24" name="Text 19"/>
          <p:cNvSpPr txBox="1"/>
          <p:nvPr/>
        </p:nvSpPr>
        <p:spPr>
          <a:xfrm>
            <a:off x="8522208" y="3657600"/>
            <a:ext cx="2724912" cy="329184"/>
          </a:xfrm>
          <a:prstGeom prst="rect">
            <a:avLst/>
          </a:prstGeom>
          <a:noFill/>
          <a:ln/>
        </p:spPr>
        <p:txBody>
          <a:bodyPr wrap="square" lIns="0" tIns="0" rIns="0" bIns="0" rtlCol="0" anchor="ctr"/>
          <a:lstStyle/>
          <a:p>
            <a:pPr algn="l" indent="0" marL="0">
              <a:buNone/>
            </a:pPr>
            <a:r>
              <a:rPr lang="en-US" sz="1650" b="1" dirty="0">
                <a:solidFill>
                  <a:srgbClr val="0F2624"/>
                </a:solidFill>
                <a:latin typeface="Calibri" pitchFamily="34" charset="0"/>
                <a:ea typeface="Calibri" pitchFamily="34" charset="-122"/>
                <a:cs typeface="Calibri" pitchFamily="34" charset="-120"/>
              </a:rPr>
              <a:t>Settled today</a:t>
            </a:r>
            <a:endParaRPr lang="en-US" sz="1650" dirty="0"/>
          </a:p>
        </p:txBody>
      </p:sp>
      <p:sp>
        <p:nvSpPr>
          <p:cNvPr id="25" name="Text 20"/>
          <p:cNvSpPr txBox="1"/>
          <p:nvPr/>
        </p:nvSpPr>
        <p:spPr>
          <a:xfrm>
            <a:off x="8522208" y="4023360"/>
            <a:ext cx="2724912" cy="566928"/>
          </a:xfrm>
          <a:prstGeom prst="rect">
            <a:avLst/>
          </a:prstGeom>
          <a:noFill/>
          <a:ln/>
        </p:spPr>
        <p:txBody>
          <a:bodyPr wrap="square" lIns="0" tIns="0" rIns="0" bIns="0" rtlCol="0" anchor="t"/>
          <a:lstStyle/>
          <a:p>
            <a:pPr algn="l" indent="0" marL="0">
              <a:lnSpc>
                <a:spcPct val="120000"/>
              </a:lnSpc>
              <a:buNone/>
            </a:pPr>
            <a:r>
              <a:rPr lang="en-US" sz="1250" b="1" dirty="0">
                <a:solidFill>
                  <a:srgbClr val="4F6B66"/>
                </a:solidFill>
                <a:latin typeface="Calibri" pitchFamily="34" charset="0"/>
                <a:ea typeface="Calibri" pitchFamily="34" charset="-122"/>
                <a:cs typeface="Calibri" pitchFamily="34" charset="-120"/>
              </a:rPr>
              <a:t>Local currency in their account. Receipts to both sides.</a:t>
            </a:r>
            <a:endParaRPr lang="en-US" sz="1250" dirty="0"/>
          </a:p>
        </p:txBody>
      </p:sp>
      <p:sp>
        <p:nvSpPr>
          <p:cNvPr id="26" name="Text 21"/>
          <p:cNvSpPr txBox="1"/>
          <p:nvPr/>
        </p:nvSpPr>
        <p:spPr>
          <a:xfrm>
            <a:off x="4041648" y="3255264"/>
            <a:ext cx="365760" cy="411480"/>
          </a:xfrm>
          <a:prstGeom prst="rect">
            <a:avLst/>
          </a:prstGeom>
          <a:noFill/>
          <a:ln/>
        </p:spPr>
        <p:txBody>
          <a:bodyPr wrap="square" lIns="0" tIns="0" rIns="0" bIns="0" rtlCol="0" anchor="ctr"/>
          <a:lstStyle/>
          <a:p>
            <a:pPr indent="0" marL="0">
              <a:buNone/>
            </a:pPr>
            <a:r>
              <a:rPr lang="en-US" sz="2200" b="1" dirty="0">
                <a:solidFill>
                  <a:srgbClr val="4F6B66"/>
                </a:solidFill>
                <a:latin typeface="Calibri" pitchFamily="34" charset="0"/>
                <a:ea typeface="Calibri" pitchFamily="34" charset="-122"/>
                <a:cs typeface="Calibri" pitchFamily="34" charset="-120"/>
              </a:rPr>
              <a:t>→</a:t>
            </a:r>
            <a:endParaRPr lang="en-US" sz="2200" dirty="0"/>
          </a:p>
        </p:txBody>
      </p:sp>
      <p:sp>
        <p:nvSpPr>
          <p:cNvPr id="27" name="Text 22"/>
          <p:cNvSpPr txBox="1"/>
          <p:nvPr/>
        </p:nvSpPr>
        <p:spPr>
          <a:xfrm>
            <a:off x="7827264" y="3255264"/>
            <a:ext cx="365760" cy="411480"/>
          </a:xfrm>
          <a:prstGeom prst="rect">
            <a:avLst/>
          </a:prstGeom>
          <a:noFill/>
          <a:ln/>
        </p:spPr>
        <p:txBody>
          <a:bodyPr wrap="square" lIns="0" tIns="0" rIns="0" bIns="0" rtlCol="0" anchor="ctr"/>
          <a:lstStyle/>
          <a:p>
            <a:pPr indent="0" marL="0">
              <a:buNone/>
            </a:pPr>
            <a:r>
              <a:rPr lang="en-US" sz="2200" b="1" dirty="0">
                <a:solidFill>
                  <a:srgbClr val="4F6B66"/>
                </a:solidFill>
                <a:latin typeface="Calibri" pitchFamily="34" charset="0"/>
                <a:ea typeface="Calibri" pitchFamily="34" charset="-122"/>
                <a:cs typeface="Calibri" pitchFamily="34" charset="-120"/>
              </a:rPr>
              <a:t>→</a:t>
            </a:r>
            <a:endParaRPr lang="en-US" sz="2200" dirty="0"/>
          </a:p>
        </p:txBody>
      </p:sp>
      <p:sp>
        <p:nvSpPr>
          <p:cNvPr id="28" name="Text 23"/>
          <p:cNvSpPr txBox="1"/>
          <p:nvPr/>
        </p:nvSpPr>
        <p:spPr>
          <a:xfrm>
            <a:off x="640080" y="5166360"/>
            <a:ext cx="10908792" cy="411480"/>
          </a:xfrm>
          <a:prstGeom prst="rect">
            <a:avLst/>
          </a:prstGeom>
          <a:noFill/>
          <a:ln/>
        </p:spPr>
        <p:txBody>
          <a:bodyPr wrap="square" lIns="0" tIns="0" rIns="0" bIns="0" rtlCol="0" anchor="ctr"/>
          <a:lstStyle/>
          <a:p>
            <a:pPr indent="0" marL="0">
              <a:buNone/>
            </a:pPr>
            <a:r>
              <a:rPr lang="en-US" sz="1200" b="1" spc="6000" kern="0" dirty="0">
                <a:solidFill>
                  <a:srgbClr val="0F2624"/>
                </a:solidFill>
                <a:latin typeface="Calibri" pitchFamily="34" charset="0"/>
                <a:ea typeface="Calibri" pitchFamily="34" charset="-122"/>
                <a:cs typeface="Calibri" pitchFamily="34" charset="-120"/>
              </a:rPr>
              <a:t>WHY NOW: </a:t>
            </a:r>
            <a:pPr indent="0" marL="0">
              <a:buNone/>
            </a:pPr>
            <a:r>
              <a:rPr lang="en-US" sz="1450" b="1" dirty="0">
                <a:solidFill>
                  <a:srgbClr val="0F2624"/>
                </a:solidFill>
                <a:latin typeface="Calibri" pitchFamily="34" charset="0"/>
                <a:ea typeface="Calibri" pitchFamily="34" charset="-122"/>
                <a:cs typeface="Calibri" pitchFamily="34" charset="-120"/>
              </a:rPr>
              <a:t>partners now reach Africa, China and global wires through one API, and stablecoin settlement is regulated.</a:t>
            </a:r>
            <a:endParaRPr lang="en-US" sz="1200" dirty="0"/>
          </a:p>
        </p:txBody>
      </p:sp>
      <p:sp>
        <p:nvSpPr>
          <p:cNvPr id="29" name="Text 24"/>
          <p:cNvSpPr txBox="1"/>
          <p:nvPr/>
        </p:nvSpPr>
        <p:spPr>
          <a:xfrm>
            <a:off x="640080" y="5614416"/>
            <a:ext cx="10908792" cy="310896"/>
          </a:xfrm>
          <a:prstGeom prst="rect">
            <a:avLst/>
          </a:prstGeom>
          <a:noFill/>
          <a:ln/>
        </p:spPr>
        <p:txBody>
          <a:bodyPr wrap="square" lIns="0" tIns="0" rIns="0" bIns="0" rtlCol="0" anchor="ctr"/>
          <a:lstStyle/>
          <a:p>
            <a:pPr algn="l" indent="0" marL="0">
              <a:buNone/>
            </a:pPr>
            <a:r>
              <a:rPr lang="en-US" sz="1250" b="1" dirty="0">
                <a:solidFill>
                  <a:srgbClr val="4F6B66"/>
                </a:solidFill>
                <a:latin typeface="Calibri" pitchFamily="34" charset="0"/>
                <a:ea typeface="Calibri" pitchFamily="34" charset="-122"/>
                <a:cs typeface="Calibri" pitchFamily="34" charset="-120"/>
              </a:rPr>
              <a:t>The rails exist. Meridian is the business layer on top of them.</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F5F2"/>
        </a:solidFill>
      </p:bgPr>
    </p:bg>
    <p:spTree>
      <p:nvGrpSpPr>
        <p:cNvPr id="1" name=""/>
        <p:cNvGrpSpPr/>
        <p:nvPr/>
      </p:nvGrpSpPr>
      <p:grpSpPr>
        <a:xfrm>
          <a:off x="0" y="0"/>
          <a:ext cx="0" cy="0"/>
          <a:chOff x="0" y="0"/>
          <a:chExt cx="0" cy="0"/>
        </a:xfrm>
      </p:grpSpPr>
      <p:sp>
        <p:nvSpPr>
          <p:cNvPr id="2" name="Text 0"/>
          <p:cNvSpPr txBox="1"/>
          <p:nvPr/>
        </p:nvSpPr>
        <p:spPr>
          <a:xfrm>
            <a:off x="640080" y="512064"/>
            <a:ext cx="10908792" cy="274320"/>
          </a:xfrm>
          <a:prstGeom prst="rect">
            <a:avLst/>
          </a:prstGeom>
          <a:noFill/>
          <a:ln/>
        </p:spPr>
        <p:txBody>
          <a:bodyPr wrap="square" lIns="0" tIns="0" rIns="0" bIns="0" rtlCol="0" anchor="ctr"/>
          <a:lstStyle/>
          <a:p>
            <a:pPr algn="l" indent="0" marL="0">
              <a:buNone/>
            </a:pPr>
            <a:r>
              <a:rPr lang="en-US" sz="1100" b="1" spc="6000" kern="0" dirty="0">
                <a:solidFill>
                  <a:srgbClr val="4F6B66"/>
                </a:solidFill>
                <a:latin typeface="Calibri" pitchFamily="34" charset="0"/>
                <a:ea typeface="Calibri" pitchFamily="34" charset="-122"/>
                <a:cs typeface="Calibri" pitchFamily="34" charset="-120"/>
              </a:rPr>
              <a:t>04 · PRODUCT</a:t>
            </a:r>
            <a:endParaRPr lang="en-US" sz="1100" dirty="0"/>
          </a:p>
        </p:txBody>
      </p:sp>
      <p:sp>
        <p:nvSpPr>
          <p:cNvPr id="3" name="Text 1"/>
          <p:cNvSpPr txBox="1"/>
          <p:nvPr/>
        </p:nvSpPr>
        <p:spPr>
          <a:xfrm>
            <a:off x="640080" y="868680"/>
            <a:ext cx="10908792" cy="1234440"/>
          </a:xfrm>
          <a:prstGeom prst="rect">
            <a:avLst/>
          </a:prstGeom>
          <a:noFill/>
          <a:ln/>
        </p:spPr>
        <p:txBody>
          <a:bodyPr wrap="square" lIns="0" tIns="0" rIns="0" bIns="0" rtlCol="0" anchor="t"/>
          <a:lstStyle/>
          <a:p>
            <a:pPr indent="0" marL="0">
              <a:lnSpc>
                <a:spcPct val="104000"/>
              </a:lnSpc>
              <a:buNone/>
            </a:pPr>
            <a:r>
              <a:rPr lang="en-US" sz="3000" b="1" dirty="0">
                <a:solidFill>
                  <a:srgbClr val="0F2624"/>
                </a:solidFill>
                <a:latin typeface="Calibri" pitchFamily="34" charset="0"/>
                <a:ea typeface="Calibri" pitchFamily="34" charset="-122"/>
                <a:cs typeface="Calibri" pitchFamily="34" charset="-120"/>
              </a:rPr>
              <a:t>Send. Collect. Clear.</a:t>
            </a:r>
            <a:endParaRPr lang="en-US" sz="3000" dirty="0"/>
          </a:p>
        </p:txBody>
      </p:sp>
      <p:sp>
        <p:nvSpPr>
          <p:cNvPr id="4" name="Shape 2"/>
          <p:cNvSpPr/>
          <p:nvPr/>
        </p:nvSpPr>
        <p:spPr>
          <a:xfrm>
            <a:off x="640080" y="6382512"/>
            <a:ext cx="274320" cy="274320"/>
          </a:xfrm>
          <a:prstGeom prst="roundRect">
            <a:avLst>
              <a:gd name="adj" fmla="val 21800"/>
            </a:avLst>
          </a:prstGeom>
          <a:solidFill>
            <a:srgbClr val="3ECFA0"/>
          </a:solidFill>
          <a:ln w="12700">
            <a:solidFill>
              <a:srgbClr val="3ECFA0"/>
            </a:solidFill>
            <a:prstDash val="solid"/>
          </a:ln>
        </p:spPr>
      </p:sp>
      <p:sp>
        <p:nvSpPr>
          <p:cNvPr id="5" name="Shape 3"/>
          <p:cNvSpPr/>
          <p:nvPr/>
        </p:nvSpPr>
        <p:spPr>
          <a:xfrm>
            <a:off x="717438" y="6459870"/>
            <a:ext cx="119604" cy="119604"/>
          </a:xfrm>
          <a:prstGeom prst="ellipse">
            <a:avLst/>
          </a:prstGeom>
          <a:solidFill>
            <a:srgbClr val="3ECFA0"/>
          </a:solidFill>
          <a:ln w="13868">
            <a:solidFill>
              <a:srgbClr val="0B1A19"/>
            </a:solidFill>
            <a:prstDash val="solid"/>
          </a:ln>
        </p:spPr>
      </p:sp>
      <p:sp>
        <p:nvSpPr>
          <p:cNvPr id="6" name="Text 4"/>
          <p:cNvSpPr txBox="1"/>
          <p:nvPr/>
        </p:nvSpPr>
        <p:spPr>
          <a:xfrm>
            <a:off x="1005840" y="6400800"/>
            <a:ext cx="3291840" cy="237744"/>
          </a:xfrm>
          <a:prstGeom prst="rect">
            <a:avLst/>
          </a:prstGeom>
          <a:noFill/>
          <a:ln/>
        </p:spPr>
        <p:txBody>
          <a:bodyPr wrap="square" lIns="0" tIns="0" rIns="0" bIns="0" rtlCol="0" anchor="ctr"/>
          <a:lstStyle/>
          <a:p>
            <a:pPr algn="l" indent="0" marL="0">
              <a:buNone/>
            </a:pPr>
            <a:r>
              <a:rPr lang="en-US" sz="800" b="1" spc="4000" kern="0" dirty="0">
                <a:solidFill>
                  <a:srgbClr val="4F6B66"/>
                </a:solidFill>
                <a:latin typeface="Calibri" pitchFamily="34" charset="0"/>
                <a:ea typeface="Calibri" pitchFamily="34" charset="-122"/>
                <a:cs typeface="Calibri" pitchFamily="34" charset="-120"/>
              </a:rPr>
              <a:t>MERIDIAN · APPIFY SOFTWARES</a:t>
            </a:r>
            <a:endParaRPr lang="en-US" sz="800" dirty="0"/>
          </a:p>
        </p:txBody>
      </p:sp>
      <p:sp>
        <p:nvSpPr>
          <p:cNvPr id="7" name="Text 5"/>
          <p:cNvSpPr txBox="1"/>
          <p:nvPr/>
        </p:nvSpPr>
        <p:spPr>
          <a:xfrm>
            <a:off x="7434072" y="6400800"/>
            <a:ext cx="4114800" cy="237744"/>
          </a:xfrm>
          <a:prstGeom prst="rect">
            <a:avLst/>
          </a:prstGeom>
          <a:noFill/>
          <a:ln/>
        </p:spPr>
        <p:txBody>
          <a:bodyPr wrap="square" lIns="0" tIns="0" rIns="0" bIns="0" rtlCol="0" anchor="ctr"/>
          <a:lstStyle/>
          <a:p>
            <a:pPr algn="r" indent="0" marL="0">
              <a:buNone/>
            </a:pPr>
            <a:r>
              <a:rPr lang="en-US" sz="800" b="1" spc="4000" kern="0" dirty="0">
                <a:solidFill>
                  <a:srgbClr val="4F6B66"/>
                </a:solidFill>
                <a:latin typeface="Calibri" pitchFamily="34" charset="0"/>
                <a:ea typeface="Calibri" pitchFamily="34" charset="-122"/>
                <a:cs typeface="Calibri" pitchFamily="34" charset="-120"/>
              </a:rPr>
              <a:t>PROJECTIONS ILLUSTRATIVE · 04 / 12</a:t>
            </a:r>
            <a:endParaRPr lang="en-US" sz="800" dirty="0"/>
          </a:p>
        </p:txBody>
      </p:sp>
      <p:sp>
        <p:nvSpPr>
          <p:cNvPr id="8" name="Shape 6"/>
          <p:cNvSpPr/>
          <p:nvPr/>
        </p:nvSpPr>
        <p:spPr>
          <a:xfrm>
            <a:off x="640080" y="2331720"/>
            <a:ext cx="603504" cy="603504"/>
          </a:xfrm>
          <a:prstGeom prst="ellipse">
            <a:avLst/>
          </a:prstGeom>
          <a:solidFill>
            <a:srgbClr val="FFFFFF"/>
          </a:solidFill>
          <a:ln w="12700">
            <a:solidFill>
              <a:srgbClr val="D7E4DF"/>
            </a:solidFill>
            <a:prstDash val="solid"/>
          </a:ln>
        </p:spPr>
      </p:sp>
      <p:pic>
        <p:nvPicPr>
          <p:cNvPr id="9" name="Image 0" descr="preencoded.png">    </p:cNvPr>
          <p:cNvPicPr>
            <a:picLocks noChangeAspect="1"/>
          </p:cNvPicPr>
          <p:nvPr/>
        </p:nvPicPr>
        <p:blipFill>
          <a:blip r:embed="rId1"/>
          <a:stretch>
            <a:fillRect/>
          </a:stretch>
        </p:blipFill>
        <p:spPr>
          <a:xfrm>
            <a:off x="795482" y="2487122"/>
            <a:ext cx="292699" cy="292699"/>
          </a:xfrm>
          <a:prstGeom prst="rect">
            <a:avLst/>
          </a:prstGeom>
        </p:spPr>
      </p:pic>
      <p:sp>
        <p:nvSpPr>
          <p:cNvPr id="10" name="Text 7"/>
          <p:cNvSpPr txBox="1"/>
          <p:nvPr/>
        </p:nvSpPr>
        <p:spPr>
          <a:xfrm>
            <a:off x="1481328" y="2441448"/>
            <a:ext cx="6492240" cy="402336"/>
          </a:xfrm>
          <a:prstGeom prst="rect">
            <a:avLst/>
          </a:prstGeom>
          <a:noFill/>
          <a:ln/>
        </p:spPr>
        <p:txBody>
          <a:bodyPr wrap="square" lIns="0" tIns="0" rIns="0" bIns="0" rtlCol="0" anchor="ctr"/>
          <a:lstStyle/>
          <a:p>
            <a:pPr indent="0" marL="0">
              <a:lnSpc>
                <a:spcPct val="115000"/>
              </a:lnSpc>
              <a:buNone/>
            </a:pPr>
            <a:r>
              <a:rPr lang="en-US" sz="1550" b="1" dirty="0">
                <a:solidFill>
                  <a:srgbClr val="0F2624"/>
                </a:solidFill>
                <a:latin typeface="Calibri" pitchFamily="34" charset="0"/>
                <a:ea typeface="Calibri" pitchFamily="34" charset="-122"/>
                <a:cs typeface="Calibri" pitchFamily="34" charset="-120"/>
              </a:rPr>
              <a:t>Send  </a:t>
            </a:r>
            <a:pPr indent="0" marL="0">
              <a:lnSpc>
                <a:spcPct val="115000"/>
              </a:lnSpc>
              <a:buNone/>
            </a:pPr>
            <a:r>
              <a:rPr lang="en-US" sz="1300" b="1" dirty="0">
                <a:solidFill>
                  <a:srgbClr val="4F6B66"/>
                </a:solidFill>
                <a:latin typeface="Calibri" pitchFamily="34" charset="0"/>
                <a:ea typeface="Calibri" pitchFamily="34" charset="-122"/>
                <a:cs typeface="Calibri" pitchFamily="34" charset="-120"/>
              </a:rPr>
              <a:t>·  Pay a supplier in China, Dubai or Accra. Full cost shown first.</a:t>
            </a:r>
            <a:endParaRPr lang="en-US" sz="1550" dirty="0"/>
          </a:p>
        </p:txBody>
      </p:sp>
      <p:sp>
        <p:nvSpPr>
          <p:cNvPr id="11" name="Shape 8"/>
          <p:cNvSpPr/>
          <p:nvPr/>
        </p:nvSpPr>
        <p:spPr>
          <a:xfrm>
            <a:off x="640080" y="3392424"/>
            <a:ext cx="603504" cy="603504"/>
          </a:xfrm>
          <a:prstGeom prst="ellipse">
            <a:avLst/>
          </a:prstGeom>
          <a:solidFill>
            <a:srgbClr val="FFFFFF"/>
          </a:solidFill>
          <a:ln w="12700">
            <a:solidFill>
              <a:srgbClr val="D7E4DF"/>
            </a:solidFill>
            <a:prstDash val="solid"/>
          </a:ln>
        </p:spPr>
      </p:sp>
      <p:pic>
        <p:nvPicPr>
          <p:cNvPr id="12" name="Image 1" descr="preencoded.png">    </p:cNvPr>
          <p:cNvPicPr>
            <a:picLocks noChangeAspect="1"/>
          </p:cNvPicPr>
          <p:nvPr/>
        </p:nvPicPr>
        <p:blipFill>
          <a:blip r:embed="rId2"/>
          <a:stretch>
            <a:fillRect/>
          </a:stretch>
        </p:blipFill>
        <p:spPr>
          <a:xfrm>
            <a:off x="795482" y="3547826"/>
            <a:ext cx="292699" cy="292699"/>
          </a:xfrm>
          <a:prstGeom prst="rect">
            <a:avLst/>
          </a:prstGeom>
        </p:spPr>
      </p:pic>
      <p:sp>
        <p:nvSpPr>
          <p:cNvPr id="13" name="Text 9"/>
          <p:cNvSpPr txBox="1"/>
          <p:nvPr/>
        </p:nvSpPr>
        <p:spPr>
          <a:xfrm>
            <a:off x="1481328" y="3502152"/>
            <a:ext cx="6492240" cy="402336"/>
          </a:xfrm>
          <a:prstGeom prst="rect">
            <a:avLst/>
          </a:prstGeom>
          <a:noFill/>
          <a:ln/>
        </p:spPr>
        <p:txBody>
          <a:bodyPr wrap="square" lIns="0" tIns="0" rIns="0" bIns="0" rtlCol="0" anchor="ctr"/>
          <a:lstStyle/>
          <a:p>
            <a:pPr indent="0" marL="0">
              <a:lnSpc>
                <a:spcPct val="115000"/>
              </a:lnSpc>
              <a:buNone/>
            </a:pPr>
            <a:r>
              <a:rPr lang="en-US" sz="1550" b="1" dirty="0">
                <a:solidFill>
                  <a:srgbClr val="0F2624"/>
                </a:solidFill>
                <a:latin typeface="Calibri" pitchFamily="34" charset="0"/>
                <a:ea typeface="Calibri" pitchFamily="34" charset="-122"/>
                <a:cs typeface="Calibri" pitchFamily="34" charset="-120"/>
              </a:rPr>
              <a:t>Collect  </a:t>
            </a:r>
            <a:pPr indent="0" marL="0">
              <a:lnSpc>
                <a:spcPct val="115000"/>
              </a:lnSpc>
              <a:buNone/>
            </a:pPr>
            <a:r>
              <a:rPr lang="en-US" sz="1300" b="1" dirty="0">
                <a:solidFill>
                  <a:srgbClr val="4F6B66"/>
                </a:solidFill>
                <a:latin typeface="Calibri" pitchFamily="34" charset="0"/>
                <a:ea typeface="Calibri" pitchFamily="34" charset="-122"/>
                <a:cs typeface="Calibri" pitchFamily="34" charset="-120"/>
              </a:rPr>
              <a:t>·  A payment link, or our checkout embedded on your own site.</a:t>
            </a:r>
            <a:endParaRPr lang="en-US" sz="1550" dirty="0"/>
          </a:p>
        </p:txBody>
      </p:sp>
      <p:sp>
        <p:nvSpPr>
          <p:cNvPr id="14" name="Shape 10"/>
          <p:cNvSpPr/>
          <p:nvPr/>
        </p:nvSpPr>
        <p:spPr>
          <a:xfrm>
            <a:off x="640080" y="4453128"/>
            <a:ext cx="603504" cy="603504"/>
          </a:xfrm>
          <a:prstGeom prst="ellipse">
            <a:avLst/>
          </a:prstGeom>
          <a:solidFill>
            <a:srgbClr val="FFFFFF"/>
          </a:solidFill>
          <a:ln w="12700">
            <a:solidFill>
              <a:srgbClr val="D7E4DF"/>
            </a:solidFill>
            <a:prstDash val="solid"/>
          </a:ln>
        </p:spPr>
      </p:sp>
      <p:pic>
        <p:nvPicPr>
          <p:cNvPr id="15" name="Image 2" descr="preencoded.png">    </p:cNvPr>
          <p:cNvPicPr>
            <a:picLocks noChangeAspect="1"/>
          </p:cNvPicPr>
          <p:nvPr/>
        </p:nvPicPr>
        <p:blipFill>
          <a:blip r:embed="rId3"/>
          <a:stretch>
            <a:fillRect/>
          </a:stretch>
        </p:blipFill>
        <p:spPr>
          <a:xfrm>
            <a:off x="795482" y="4608530"/>
            <a:ext cx="292699" cy="292699"/>
          </a:xfrm>
          <a:prstGeom prst="rect">
            <a:avLst/>
          </a:prstGeom>
        </p:spPr>
      </p:pic>
      <p:sp>
        <p:nvSpPr>
          <p:cNvPr id="16" name="Text 11"/>
          <p:cNvSpPr txBox="1"/>
          <p:nvPr/>
        </p:nvSpPr>
        <p:spPr>
          <a:xfrm>
            <a:off x="1481328" y="4562856"/>
            <a:ext cx="6492240" cy="402336"/>
          </a:xfrm>
          <a:prstGeom prst="rect">
            <a:avLst/>
          </a:prstGeom>
          <a:noFill/>
          <a:ln/>
        </p:spPr>
        <p:txBody>
          <a:bodyPr wrap="square" lIns="0" tIns="0" rIns="0" bIns="0" rtlCol="0" anchor="ctr"/>
          <a:lstStyle/>
          <a:p>
            <a:pPr indent="0" marL="0">
              <a:lnSpc>
                <a:spcPct val="115000"/>
              </a:lnSpc>
              <a:buNone/>
            </a:pPr>
            <a:r>
              <a:rPr lang="en-US" sz="1550" b="1" dirty="0">
                <a:solidFill>
                  <a:srgbClr val="0F2624"/>
                </a:solidFill>
                <a:latin typeface="Calibri" pitchFamily="34" charset="0"/>
                <a:ea typeface="Calibri" pitchFamily="34" charset="-122"/>
                <a:cs typeface="Calibri" pitchFamily="34" charset="-120"/>
              </a:rPr>
              <a:t>Clear  </a:t>
            </a:r>
            <a:pPr indent="0" marL="0">
              <a:lnSpc>
                <a:spcPct val="115000"/>
              </a:lnSpc>
              <a:buNone/>
            </a:pPr>
            <a:r>
              <a:rPr lang="en-US" sz="1300" b="1" dirty="0">
                <a:solidFill>
                  <a:srgbClr val="4F6B66"/>
                </a:solidFill>
                <a:latin typeface="Calibri" pitchFamily="34" charset="0"/>
                <a:ea typeface="Calibri" pitchFamily="34" charset="-122"/>
                <a:cs typeface="Calibri" pitchFamily="34" charset="-120"/>
              </a:rPr>
              <a:t>·  KYB in a day. Sanctions and AML checks on every payment.</a:t>
            </a:r>
            <a:endParaRPr lang="en-US" sz="1550" dirty="0"/>
          </a:p>
        </p:txBody>
      </p:sp>
      <p:sp>
        <p:nvSpPr>
          <p:cNvPr id="17" name="Shape 12"/>
          <p:cNvSpPr/>
          <p:nvPr/>
        </p:nvSpPr>
        <p:spPr>
          <a:xfrm>
            <a:off x="640080" y="5623560"/>
            <a:ext cx="3520440" cy="402336"/>
          </a:xfrm>
          <a:prstGeom prst="roundRect">
            <a:avLst>
              <a:gd name="adj" fmla="val 50000"/>
            </a:avLst>
          </a:prstGeom>
          <a:solidFill>
            <a:srgbClr val="FFFFFF"/>
          </a:solidFill>
          <a:ln w="12700">
            <a:solidFill>
              <a:srgbClr val="D7E4DF"/>
            </a:solidFill>
            <a:prstDash val="solid"/>
          </a:ln>
        </p:spPr>
      </p:sp>
      <p:sp>
        <p:nvSpPr>
          <p:cNvPr id="18" name="Text 13"/>
          <p:cNvSpPr txBox="1"/>
          <p:nvPr/>
        </p:nvSpPr>
        <p:spPr>
          <a:xfrm>
            <a:off x="640080" y="5605272"/>
            <a:ext cx="3520440" cy="402336"/>
          </a:xfrm>
          <a:prstGeom prst="rect">
            <a:avLst/>
          </a:prstGeom>
          <a:noFill/>
          <a:ln/>
        </p:spPr>
        <p:txBody>
          <a:bodyPr wrap="square" lIns="0" tIns="0" rIns="0" bIns="0" rtlCol="0" anchor="ctr"/>
          <a:lstStyle/>
          <a:p>
            <a:pPr indent="0" marL="0">
              <a:buNone/>
            </a:pPr>
            <a:r>
              <a:rPr lang="en-US" sz="900" b="1" dirty="0">
                <a:solidFill>
                  <a:srgbClr val="0F2624"/>
                </a:solidFill>
                <a:latin typeface="Calibri" pitchFamily="34" charset="0"/>
                <a:ea typeface="Calibri" pitchFamily="34" charset="-122"/>
                <a:cs typeface="Calibri" pitchFamily="34" charset="-120"/>
              </a:rPr>
              <a:t>DEMOS LIVE · CHECKOUT · SEND · PAYMENT LINK</a:t>
            </a:r>
            <a:endParaRPr lang="en-US" sz="900" dirty="0"/>
          </a:p>
        </p:txBody>
      </p:sp>
      <p:sp>
        <p:nvSpPr>
          <p:cNvPr id="19" name="Shape 14"/>
          <p:cNvSpPr/>
          <p:nvPr/>
        </p:nvSpPr>
        <p:spPr>
          <a:xfrm>
            <a:off x="4343400" y="5623560"/>
            <a:ext cx="1783080" cy="402336"/>
          </a:xfrm>
          <a:prstGeom prst="roundRect">
            <a:avLst>
              <a:gd name="adj" fmla="val 50000"/>
            </a:avLst>
          </a:prstGeom>
          <a:solidFill>
            <a:srgbClr val="0F2624"/>
          </a:solidFill>
          <a:ln w="12700">
            <a:solidFill>
              <a:srgbClr val="0F2624"/>
            </a:solidFill>
            <a:prstDash val="solid"/>
          </a:ln>
        </p:spPr>
      </p:sp>
      <p:sp>
        <p:nvSpPr>
          <p:cNvPr id="20" name="Text 15"/>
          <p:cNvSpPr txBox="1"/>
          <p:nvPr/>
        </p:nvSpPr>
        <p:spPr>
          <a:xfrm>
            <a:off x="4343400" y="5605272"/>
            <a:ext cx="1783080" cy="402336"/>
          </a:xfrm>
          <a:prstGeom prst="rect">
            <a:avLst/>
          </a:prstGeom>
          <a:noFill/>
          <a:ln/>
        </p:spPr>
        <p:txBody>
          <a:bodyPr wrap="square" lIns="0" tIns="0" rIns="0" bIns="0" rtlCol="0" anchor="ctr"/>
          <a:lstStyle/>
          <a:p>
            <a:pPr indent="0" marL="0">
              <a:buNone/>
            </a:pPr>
            <a:r>
              <a:rPr lang="en-US" sz="900" b="1" dirty="0">
                <a:solidFill>
                  <a:srgbClr val="F2F7F4"/>
                </a:solidFill>
                <a:latin typeface="Calibri" pitchFamily="34" charset="0"/>
                <a:ea typeface="Calibri" pitchFamily="34" charset="-122"/>
                <a:cs typeface="Calibri" pitchFamily="34" charset="-120"/>
              </a:rPr>
              <a:t>NEXT · LIVE RAILS</a:t>
            </a:r>
            <a:endParaRPr lang="en-US" sz="900" dirty="0"/>
          </a:p>
        </p:txBody>
      </p:sp>
      <p:sp>
        <p:nvSpPr>
          <p:cNvPr id="21" name="Shape 16"/>
          <p:cNvSpPr/>
          <p:nvPr/>
        </p:nvSpPr>
        <p:spPr>
          <a:xfrm>
            <a:off x="8732520" y="1463040"/>
            <a:ext cx="2816352" cy="4754880"/>
          </a:xfrm>
          <a:prstGeom prst="roundRect">
            <a:avLst>
              <a:gd name="adj" fmla="val 9740"/>
            </a:avLst>
          </a:prstGeom>
          <a:solidFill>
            <a:srgbClr val="0F2624"/>
          </a:solidFill>
          <a:ln/>
        </p:spPr>
      </p:sp>
      <p:sp>
        <p:nvSpPr>
          <p:cNvPr id="22" name="Shape 17"/>
          <p:cNvSpPr/>
          <p:nvPr/>
        </p:nvSpPr>
        <p:spPr>
          <a:xfrm>
            <a:off x="8860536" y="1618488"/>
            <a:ext cx="2560320" cy="4443984"/>
          </a:xfrm>
          <a:prstGeom prst="roundRect">
            <a:avLst>
              <a:gd name="adj" fmla="val 7143"/>
            </a:avLst>
          </a:prstGeom>
          <a:solidFill>
            <a:srgbClr val="FFFFFF"/>
          </a:solidFill>
          <a:ln/>
        </p:spPr>
      </p:sp>
      <p:sp>
        <p:nvSpPr>
          <p:cNvPr id="23" name="Text 18"/>
          <p:cNvSpPr txBox="1"/>
          <p:nvPr/>
        </p:nvSpPr>
        <p:spPr>
          <a:xfrm>
            <a:off x="9015984" y="1792224"/>
            <a:ext cx="2221992" cy="274320"/>
          </a:xfrm>
          <a:prstGeom prst="rect">
            <a:avLst/>
          </a:prstGeom>
          <a:noFill/>
          <a:ln/>
        </p:spPr>
        <p:txBody>
          <a:bodyPr wrap="square" lIns="0" tIns="0" rIns="0" bIns="0" rtlCol="0" anchor="ctr"/>
          <a:lstStyle/>
          <a:p>
            <a:pPr indent="0" marL="0">
              <a:buNone/>
            </a:pPr>
            <a:r>
              <a:rPr lang="en-US" sz="1200" b="1" dirty="0">
                <a:solidFill>
                  <a:srgbClr val="0F2624"/>
                </a:solidFill>
                <a:latin typeface="Calibri" pitchFamily="34" charset="0"/>
                <a:ea typeface="Calibri" pitchFamily="34" charset="-122"/>
                <a:cs typeface="Calibri" pitchFamily="34" charset="-120"/>
              </a:rPr>
              <a:t>Meridian</a:t>
            </a:r>
            <a:pPr indent="0" marL="0">
              <a:buNone/>
            </a:pPr>
            <a:r>
              <a:rPr lang="en-US" sz="1200" b="1" dirty="0">
                <a:solidFill>
                  <a:srgbClr val="3ECFA0"/>
                </a:solidFill>
                <a:latin typeface="Calibri" pitchFamily="34" charset="0"/>
                <a:ea typeface="Calibri" pitchFamily="34" charset="-122"/>
                <a:cs typeface="Calibri" pitchFamily="34" charset="-120"/>
              </a:rPr>
              <a:t>.</a:t>
            </a:r>
            <a:endParaRPr lang="en-US" sz="1200" dirty="0"/>
          </a:p>
        </p:txBody>
      </p:sp>
      <p:sp>
        <p:nvSpPr>
          <p:cNvPr id="24" name="Shape 19"/>
          <p:cNvSpPr/>
          <p:nvPr/>
        </p:nvSpPr>
        <p:spPr>
          <a:xfrm>
            <a:off x="9015984" y="2212848"/>
            <a:ext cx="2221992" cy="658368"/>
          </a:xfrm>
          <a:prstGeom prst="roundRect">
            <a:avLst>
              <a:gd name="adj" fmla="val 12500"/>
            </a:avLst>
          </a:prstGeom>
          <a:solidFill>
            <a:srgbClr val="EFF5F2"/>
          </a:solidFill>
          <a:ln/>
        </p:spPr>
      </p:sp>
      <p:sp>
        <p:nvSpPr>
          <p:cNvPr id="25" name="Text 20"/>
          <p:cNvSpPr txBox="1"/>
          <p:nvPr/>
        </p:nvSpPr>
        <p:spPr>
          <a:xfrm>
            <a:off x="9144000" y="2286000"/>
            <a:ext cx="1965960" cy="530352"/>
          </a:xfrm>
          <a:prstGeom prst="rect">
            <a:avLst/>
          </a:prstGeom>
          <a:noFill/>
          <a:ln/>
        </p:spPr>
        <p:txBody>
          <a:bodyPr wrap="square" lIns="0" tIns="0" rIns="0" bIns="0" rtlCol="0" anchor="ctr"/>
          <a:lstStyle/>
          <a:p>
            <a:pPr indent="0" marL="0">
              <a:lnSpc>
                <a:spcPct val="130000"/>
              </a:lnSpc>
              <a:buNone/>
            </a:pPr>
            <a:r>
              <a:rPr lang="en-US" sz="1000" b="1" dirty="0">
                <a:solidFill>
                  <a:srgbClr val="0F2624"/>
                </a:solidFill>
                <a:latin typeface="Calibri" pitchFamily="34" charset="0"/>
                <a:ea typeface="Calibri" pitchFamily="34" charset="-122"/>
                <a:cs typeface="Calibri" pitchFamily="34" charset="-120"/>
              </a:rPr>
              <a:t>Transfer settled</a:t>
            </a:r>
            <a:endParaRPr lang="en-US" sz="1000" dirty="0"/>
          </a:p>
          <a:p>
            <a:pPr indent="0" marL="0">
              <a:lnSpc>
                <a:spcPct val="130000"/>
              </a:lnSpc>
              <a:buNone/>
            </a:pPr>
            <a:r>
              <a:rPr lang="en-US" sz="850" b="1" dirty="0">
                <a:solidFill>
                  <a:srgbClr val="4F6B66"/>
                </a:solidFill>
                <a:latin typeface="Calibri" pitchFamily="34" charset="0"/>
                <a:ea typeface="Calibri" pitchFamily="34" charset="-122"/>
                <a:cs typeface="Calibri" pitchFamily="34" charset="-120"/>
              </a:rPr>
              <a:t>¥82,400 to Shenzhen Tools</a:t>
            </a:r>
            <a:endParaRPr lang="en-US" sz="1000" dirty="0"/>
          </a:p>
        </p:txBody>
      </p:sp>
      <p:sp>
        <p:nvSpPr>
          <p:cNvPr id="26" name="Shape 21"/>
          <p:cNvSpPr/>
          <p:nvPr/>
        </p:nvSpPr>
        <p:spPr>
          <a:xfrm>
            <a:off x="9015984" y="2999232"/>
            <a:ext cx="2221992" cy="658368"/>
          </a:xfrm>
          <a:prstGeom prst="roundRect">
            <a:avLst>
              <a:gd name="adj" fmla="val 12500"/>
            </a:avLst>
          </a:prstGeom>
          <a:solidFill>
            <a:srgbClr val="EFF5F2"/>
          </a:solidFill>
          <a:ln/>
        </p:spPr>
      </p:sp>
      <p:sp>
        <p:nvSpPr>
          <p:cNvPr id="27" name="Text 22"/>
          <p:cNvSpPr txBox="1"/>
          <p:nvPr/>
        </p:nvSpPr>
        <p:spPr>
          <a:xfrm>
            <a:off x="9144000" y="3072384"/>
            <a:ext cx="1965960" cy="530352"/>
          </a:xfrm>
          <a:prstGeom prst="rect">
            <a:avLst/>
          </a:prstGeom>
          <a:noFill/>
          <a:ln/>
        </p:spPr>
        <p:txBody>
          <a:bodyPr wrap="square" lIns="0" tIns="0" rIns="0" bIns="0" rtlCol="0" anchor="ctr"/>
          <a:lstStyle/>
          <a:p>
            <a:pPr indent="0" marL="0">
              <a:lnSpc>
                <a:spcPct val="130000"/>
              </a:lnSpc>
              <a:buNone/>
            </a:pPr>
            <a:r>
              <a:rPr lang="en-US" sz="1000" b="1" dirty="0">
                <a:solidFill>
                  <a:srgbClr val="0F2624"/>
                </a:solidFill>
                <a:latin typeface="Calibri" pitchFamily="34" charset="0"/>
                <a:ea typeface="Calibri" pitchFamily="34" charset="-122"/>
                <a:cs typeface="Calibri" pitchFamily="34" charset="-120"/>
              </a:rPr>
              <a:t>Cost shown first</a:t>
            </a:r>
            <a:endParaRPr lang="en-US" sz="1000" dirty="0"/>
          </a:p>
          <a:p>
            <a:pPr indent="0" marL="0">
              <a:lnSpc>
                <a:spcPct val="130000"/>
              </a:lnSpc>
              <a:buNone/>
            </a:pPr>
            <a:r>
              <a:rPr lang="en-US" sz="850" b="1" dirty="0">
                <a:solidFill>
                  <a:srgbClr val="4F6B66"/>
                </a:solidFill>
                <a:latin typeface="Calibri" pitchFamily="34" charset="0"/>
                <a:ea typeface="Calibri" pitchFamily="34" charset="-122"/>
                <a:cs typeface="Calibri" pitchFamily="34" charset="-120"/>
              </a:rPr>
              <a:t>Partner 1.5% + Meridian 1%</a:t>
            </a:r>
            <a:endParaRPr lang="en-US" sz="1000" dirty="0"/>
          </a:p>
        </p:txBody>
      </p:sp>
      <p:sp>
        <p:nvSpPr>
          <p:cNvPr id="28" name="Shape 23"/>
          <p:cNvSpPr/>
          <p:nvPr/>
        </p:nvSpPr>
        <p:spPr>
          <a:xfrm>
            <a:off x="9015984" y="3785616"/>
            <a:ext cx="2221992" cy="896112"/>
          </a:xfrm>
          <a:prstGeom prst="roundRect">
            <a:avLst>
              <a:gd name="adj" fmla="val 9184"/>
            </a:avLst>
          </a:prstGeom>
          <a:solidFill>
            <a:srgbClr val="3ECFA0"/>
          </a:solidFill>
          <a:ln/>
        </p:spPr>
      </p:sp>
      <p:sp>
        <p:nvSpPr>
          <p:cNvPr id="29" name="Text 24"/>
          <p:cNvSpPr txBox="1"/>
          <p:nvPr/>
        </p:nvSpPr>
        <p:spPr>
          <a:xfrm>
            <a:off x="9144000" y="3858768"/>
            <a:ext cx="1965960" cy="786384"/>
          </a:xfrm>
          <a:prstGeom prst="rect">
            <a:avLst/>
          </a:prstGeom>
          <a:noFill/>
          <a:ln/>
        </p:spPr>
        <p:txBody>
          <a:bodyPr wrap="square" lIns="0" tIns="0" rIns="0" bIns="0" rtlCol="0" anchor="ctr"/>
          <a:lstStyle/>
          <a:p>
            <a:pPr indent="0" marL="0">
              <a:lnSpc>
                <a:spcPct val="110000"/>
              </a:lnSpc>
              <a:buNone/>
            </a:pPr>
            <a:r>
              <a:rPr lang="en-US" sz="850" b="1" spc="6000" kern="0" dirty="0">
                <a:solidFill>
                  <a:srgbClr val="0F2624"/>
                </a:solidFill>
                <a:latin typeface="Calibri" pitchFamily="34" charset="0"/>
                <a:ea typeface="Calibri" pitchFamily="34" charset="-122"/>
                <a:cs typeface="Calibri" pitchFamily="34" charset="-120"/>
              </a:rPr>
              <a:t>SETTLED IN</a:t>
            </a:r>
            <a:endParaRPr lang="en-US" sz="850" dirty="0"/>
          </a:p>
          <a:p>
            <a:pPr indent="0" marL="0">
              <a:lnSpc>
                <a:spcPct val="110000"/>
              </a:lnSpc>
              <a:buNone/>
            </a:pPr>
            <a:r>
              <a:rPr lang="en-US" sz="2600" b="1" dirty="0">
                <a:solidFill>
                  <a:srgbClr val="0F2624"/>
                </a:solidFill>
                <a:latin typeface="Calibri" pitchFamily="34" charset="0"/>
                <a:ea typeface="Calibri" pitchFamily="34" charset="-122"/>
                <a:cs typeface="Calibri" pitchFamily="34" charset="-120"/>
              </a:rPr>
              <a:t>4 min</a:t>
            </a:r>
            <a:endParaRPr lang="en-US" sz="850" dirty="0"/>
          </a:p>
        </p:txBody>
      </p:sp>
      <p:sp>
        <p:nvSpPr>
          <p:cNvPr id="30" name="Text 25"/>
          <p:cNvSpPr txBox="1"/>
          <p:nvPr/>
        </p:nvSpPr>
        <p:spPr>
          <a:xfrm>
            <a:off x="9015984" y="4809744"/>
            <a:ext cx="2221992" cy="274320"/>
          </a:xfrm>
          <a:prstGeom prst="rect">
            <a:avLst/>
          </a:prstGeom>
          <a:noFill/>
          <a:ln/>
        </p:spPr>
        <p:txBody>
          <a:bodyPr wrap="square" lIns="0" tIns="0" rIns="0" bIns="0" rtlCol="0" anchor="ctr"/>
          <a:lstStyle/>
          <a:p>
            <a:pPr algn="l" indent="0" marL="0">
              <a:buNone/>
            </a:pPr>
            <a:r>
              <a:rPr lang="en-US" sz="850" b="1" dirty="0">
                <a:solidFill>
                  <a:srgbClr val="4F6B66"/>
                </a:solidFill>
                <a:latin typeface="Calibri" pitchFamily="34" charset="0"/>
                <a:ea typeface="Calibri" pitchFamily="34" charset="-122"/>
                <a:cs typeface="Calibri" pitchFamily="34" charset="-120"/>
              </a:rPr>
              <a:t>receipt sent to both sides</a:t>
            </a:r>
            <a:endParaRPr lang="en-US" sz="850" dirty="0"/>
          </a:p>
        </p:txBody>
      </p:sp>
      <p:sp>
        <p:nvSpPr>
          <p:cNvPr id="31" name="Shape 26"/>
          <p:cNvSpPr/>
          <p:nvPr/>
        </p:nvSpPr>
        <p:spPr>
          <a:xfrm>
            <a:off x="9866376" y="5888736"/>
            <a:ext cx="548640" cy="54864"/>
          </a:xfrm>
          <a:prstGeom prst="roundRect">
            <a:avLst>
              <a:gd name="adj" fmla="val 50000"/>
            </a:avLst>
          </a:prstGeom>
          <a:solidFill>
            <a:srgbClr val="D7E4DF"/>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F5F2"/>
        </a:solidFill>
      </p:bgPr>
    </p:bg>
    <p:spTree>
      <p:nvGrpSpPr>
        <p:cNvPr id="1" name=""/>
        <p:cNvGrpSpPr/>
        <p:nvPr/>
      </p:nvGrpSpPr>
      <p:grpSpPr>
        <a:xfrm>
          <a:off x="0" y="0"/>
          <a:ext cx="0" cy="0"/>
          <a:chOff x="0" y="0"/>
          <a:chExt cx="0" cy="0"/>
        </a:xfrm>
      </p:grpSpPr>
      <p:sp>
        <p:nvSpPr>
          <p:cNvPr id="2" name="Text 0"/>
          <p:cNvSpPr txBox="1"/>
          <p:nvPr/>
        </p:nvSpPr>
        <p:spPr>
          <a:xfrm>
            <a:off x="640080" y="512064"/>
            <a:ext cx="10908792" cy="274320"/>
          </a:xfrm>
          <a:prstGeom prst="rect">
            <a:avLst/>
          </a:prstGeom>
          <a:noFill/>
          <a:ln/>
        </p:spPr>
        <p:txBody>
          <a:bodyPr wrap="square" lIns="0" tIns="0" rIns="0" bIns="0" rtlCol="0" anchor="ctr"/>
          <a:lstStyle/>
          <a:p>
            <a:pPr algn="l" indent="0" marL="0">
              <a:buNone/>
            </a:pPr>
            <a:r>
              <a:rPr lang="en-US" sz="1100" b="1" spc="6000" kern="0" dirty="0">
                <a:solidFill>
                  <a:srgbClr val="4F6B66"/>
                </a:solidFill>
                <a:latin typeface="Calibri" pitchFamily="34" charset="0"/>
                <a:ea typeface="Calibri" pitchFamily="34" charset="-122"/>
                <a:cs typeface="Calibri" pitchFamily="34" charset="-120"/>
              </a:rPr>
              <a:t>05 · MARKET</a:t>
            </a:r>
            <a:endParaRPr lang="en-US" sz="1100" dirty="0"/>
          </a:p>
        </p:txBody>
      </p:sp>
      <p:sp>
        <p:nvSpPr>
          <p:cNvPr id="3" name="Text 1"/>
          <p:cNvSpPr txBox="1"/>
          <p:nvPr/>
        </p:nvSpPr>
        <p:spPr>
          <a:xfrm>
            <a:off x="640080" y="868680"/>
            <a:ext cx="10908792" cy="1234440"/>
          </a:xfrm>
          <a:prstGeom prst="rect">
            <a:avLst/>
          </a:prstGeom>
          <a:noFill/>
          <a:ln/>
        </p:spPr>
        <p:txBody>
          <a:bodyPr wrap="square" lIns="0" tIns="0" rIns="0" bIns="0" rtlCol="0" anchor="t"/>
          <a:lstStyle/>
          <a:p>
            <a:pPr indent="0" marL="0">
              <a:lnSpc>
                <a:spcPct val="104000"/>
              </a:lnSpc>
              <a:buNone/>
            </a:pPr>
            <a:r>
              <a:rPr lang="en-US" sz="3000" b="1" dirty="0">
                <a:solidFill>
                  <a:srgbClr val="0F2624"/>
                </a:solidFill>
                <a:latin typeface="Calibri" pitchFamily="34" charset="0"/>
                <a:ea typeface="Calibri" pitchFamily="34" charset="-122"/>
                <a:cs typeface="Calibri" pitchFamily="34" charset="-120"/>
              </a:rPr>
              <a:t>500 Kenyan trading businesses: our first wedge.</a:t>
            </a:r>
            <a:endParaRPr lang="en-US" sz="3000" dirty="0"/>
          </a:p>
        </p:txBody>
      </p:sp>
      <p:sp>
        <p:nvSpPr>
          <p:cNvPr id="4" name="Shape 2"/>
          <p:cNvSpPr/>
          <p:nvPr/>
        </p:nvSpPr>
        <p:spPr>
          <a:xfrm>
            <a:off x="640080" y="6382512"/>
            <a:ext cx="274320" cy="274320"/>
          </a:xfrm>
          <a:prstGeom prst="roundRect">
            <a:avLst>
              <a:gd name="adj" fmla="val 21800"/>
            </a:avLst>
          </a:prstGeom>
          <a:solidFill>
            <a:srgbClr val="3ECFA0"/>
          </a:solidFill>
          <a:ln w="12700">
            <a:solidFill>
              <a:srgbClr val="3ECFA0"/>
            </a:solidFill>
            <a:prstDash val="solid"/>
          </a:ln>
        </p:spPr>
      </p:sp>
      <p:sp>
        <p:nvSpPr>
          <p:cNvPr id="5" name="Shape 3"/>
          <p:cNvSpPr/>
          <p:nvPr/>
        </p:nvSpPr>
        <p:spPr>
          <a:xfrm>
            <a:off x="717438" y="6459870"/>
            <a:ext cx="119604" cy="119604"/>
          </a:xfrm>
          <a:prstGeom prst="ellipse">
            <a:avLst/>
          </a:prstGeom>
          <a:solidFill>
            <a:srgbClr val="3ECFA0"/>
          </a:solidFill>
          <a:ln w="13868">
            <a:solidFill>
              <a:srgbClr val="0B1A19"/>
            </a:solidFill>
            <a:prstDash val="solid"/>
          </a:ln>
        </p:spPr>
      </p:sp>
      <p:sp>
        <p:nvSpPr>
          <p:cNvPr id="6" name="Text 4"/>
          <p:cNvSpPr txBox="1"/>
          <p:nvPr/>
        </p:nvSpPr>
        <p:spPr>
          <a:xfrm>
            <a:off x="1005840" y="6400800"/>
            <a:ext cx="3291840" cy="237744"/>
          </a:xfrm>
          <a:prstGeom prst="rect">
            <a:avLst/>
          </a:prstGeom>
          <a:noFill/>
          <a:ln/>
        </p:spPr>
        <p:txBody>
          <a:bodyPr wrap="square" lIns="0" tIns="0" rIns="0" bIns="0" rtlCol="0" anchor="ctr"/>
          <a:lstStyle/>
          <a:p>
            <a:pPr algn="l" indent="0" marL="0">
              <a:buNone/>
            </a:pPr>
            <a:r>
              <a:rPr lang="en-US" sz="800" b="1" spc="4000" kern="0" dirty="0">
                <a:solidFill>
                  <a:srgbClr val="4F6B66"/>
                </a:solidFill>
                <a:latin typeface="Calibri" pitchFamily="34" charset="0"/>
                <a:ea typeface="Calibri" pitchFamily="34" charset="-122"/>
                <a:cs typeface="Calibri" pitchFamily="34" charset="-120"/>
              </a:rPr>
              <a:t>MERIDIAN · APPIFY SOFTWARES</a:t>
            </a:r>
            <a:endParaRPr lang="en-US" sz="800" dirty="0"/>
          </a:p>
        </p:txBody>
      </p:sp>
      <p:sp>
        <p:nvSpPr>
          <p:cNvPr id="7" name="Text 5"/>
          <p:cNvSpPr txBox="1"/>
          <p:nvPr/>
        </p:nvSpPr>
        <p:spPr>
          <a:xfrm>
            <a:off x="7434072" y="6400800"/>
            <a:ext cx="4114800" cy="237744"/>
          </a:xfrm>
          <a:prstGeom prst="rect">
            <a:avLst/>
          </a:prstGeom>
          <a:noFill/>
          <a:ln/>
        </p:spPr>
        <p:txBody>
          <a:bodyPr wrap="square" lIns="0" tIns="0" rIns="0" bIns="0" rtlCol="0" anchor="ctr"/>
          <a:lstStyle/>
          <a:p>
            <a:pPr algn="r" indent="0" marL="0">
              <a:buNone/>
            </a:pPr>
            <a:r>
              <a:rPr lang="en-US" sz="800" b="1" spc="4000" kern="0" dirty="0">
                <a:solidFill>
                  <a:srgbClr val="4F6B66"/>
                </a:solidFill>
                <a:latin typeface="Calibri" pitchFamily="34" charset="0"/>
                <a:ea typeface="Calibri" pitchFamily="34" charset="-122"/>
                <a:cs typeface="Calibri" pitchFamily="34" charset="-120"/>
              </a:rPr>
              <a:t>PROJECTIONS ILLUSTRATIVE · 05 / 12</a:t>
            </a:r>
            <a:endParaRPr lang="en-US" sz="800" dirty="0"/>
          </a:p>
        </p:txBody>
      </p:sp>
      <p:sp>
        <p:nvSpPr>
          <p:cNvPr id="8" name="Shape 6"/>
          <p:cNvSpPr/>
          <p:nvPr/>
        </p:nvSpPr>
        <p:spPr>
          <a:xfrm>
            <a:off x="822960" y="2423160"/>
            <a:ext cx="1554480" cy="3063240"/>
          </a:xfrm>
          <a:prstGeom prst="rect">
            <a:avLst/>
          </a:prstGeom>
          <a:solidFill>
            <a:srgbClr val="0F2624"/>
          </a:solidFill>
          <a:ln/>
        </p:spPr>
      </p:sp>
      <p:sp>
        <p:nvSpPr>
          <p:cNvPr id="9" name="Text 7"/>
          <p:cNvSpPr txBox="1"/>
          <p:nvPr/>
        </p:nvSpPr>
        <p:spPr>
          <a:xfrm>
            <a:off x="640080" y="2039112"/>
            <a:ext cx="1920240" cy="329184"/>
          </a:xfrm>
          <a:prstGeom prst="rect">
            <a:avLst/>
          </a:prstGeom>
          <a:noFill/>
          <a:ln/>
        </p:spPr>
        <p:txBody>
          <a:bodyPr wrap="square" lIns="0" tIns="0" rIns="0" bIns="0" rtlCol="0" anchor="ctr"/>
          <a:lstStyle/>
          <a:p>
            <a:pPr indent="0" marL="0">
              <a:buNone/>
            </a:pPr>
            <a:r>
              <a:rPr lang="en-US" sz="1700" b="1" dirty="0">
                <a:solidFill>
                  <a:srgbClr val="0F2624"/>
                </a:solidFill>
                <a:latin typeface="Calibri" pitchFamily="34" charset="0"/>
                <a:ea typeface="Calibri" pitchFamily="34" charset="-122"/>
                <a:cs typeface="Calibri" pitchFamily="34" charset="-120"/>
              </a:rPr>
              <a:t>$260M</a:t>
            </a:r>
            <a:endParaRPr lang="en-US" sz="1700" dirty="0"/>
          </a:p>
        </p:txBody>
      </p:sp>
      <p:sp>
        <p:nvSpPr>
          <p:cNvPr id="10" name="Text 8"/>
          <p:cNvSpPr txBox="1"/>
          <p:nvPr/>
        </p:nvSpPr>
        <p:spPr>
          <a:xfrm>
            <a:off x="640080" y="5577840"/>
            <a:ext cx="1920240" cy="640080"/>
          </a:xfrm>
          <a:prstGeom prst="rect">
            <a:avLst/>
          </a:prstGeom>
          <a:noFill/>
          <a:ln/>
        </p:spPr>
        <p:txBody>
          <a:bodyPr wrap="square" lIns="0" tIns="0" rIns="0" bIns="0" rtlCol="0" anchor="t"/>
          <a:lstStyle/>
          <a:p>
            <a:pPr indent="0" marL="0">
              <a:lnSpc>
                <a:spcPct val="120000"/>
              </a:lnSpc>
              <a:buNone/>
            </a:pPr>
            <a:r>
              <a:rPr lang="en-US" sz="1100" b="1" spc="4000" kern="0" dirty="0">
                <a:solidFill>
                  <a:srgbClr val="0F2624"/>
                </a:solidFill>
                <a:latin typeface="Calibri" pitchFamily="34" charset="0"/>
                <a:ea typeface="Calibri" pitchFamily="34" charset="-122"/>
                <a:cs typeface="Calibri" pitchFamily="34" charset="-120"/>
              </a:rPr>
              <a:t>TAM</a:t>
            </a:r>
            <a:endParaRPr lang="en-US" sz="1100" dirty="0"/>
          </a:p>
          <a:p>
            <a:pPr indent="0" marL="0">
              <a:lnSpc>
                <a:spcPct val="120000"/>
              </a:lnSpc>
              <a:buNone/>
            </a:pPr>
            <a:r>
              <a:rPr lang="en-US" sz="900" b="1" dirty="0">
                <a:solidFill>
                  <a:srgbClr val="4F6B66"/>
                </a:solidFill>
                <a:latin typeface="Calibri" pitchFamily="34" charset="0"/>
                <a:ea typeface="Calibri" pitchFamily="34" charset="-122"/>
                <a:cs typeface="Calibri" pitchFamily="34" charset="-120"/>
              </a:rPr>
              <a:t>Kenya cross-border</a:t>
            </a:r>
            <a:endParaRPr lang="en-US" sz="1100" dirty="0"/>
          </a:p>
          <a:p>
            <a:pPr indent="0" marL="0">
              <a:lnSpc>
                <a:spcPct val="120000"/>
              </a:lnSpc>
              <a:buNone/>
            </a:pPr>
            <a:r>
              <a:rPr lang="en-US" sz="900" b="1" dirty="0">
                <a:solidFill>
                  <a:srgbClr val="4F6B66"/>
                </a:solidFill>
                <a:latin typeface="Calibri" pitchFamily="34" charset="0"/>
                <a:ea typeface="Calibri" pitchFamily="34" charset="-122"/>
                <a:cs typeface="Calibri" pitchFamily="34" charset="-120"/>
              </a:rPr>
              <a:t>goods trade, at 1%*</a:t>
            </a:r>
            <a:endParaRPr lang="en-US" sz="1100" dirty="0"/>
          </a:p>
        </p:txBody>
      </p:sp>
      <p:sp>
        <p:nvSpPr>
          <p:cNvPr id="11" name="Shape 9"/>
          <p:cNvSpPr/>
          <p:nvPr/>
        </p:nvSpPr>
        <p:spPr>
          <a:xfrm>
            <a:off x="2834640" y="3657600"/>
            <a:ext cx="1554480" cy="1828800"/>
          </a:xfrm>
          <a:prstGeom prst="rect">
            <a:avLst/>
          </a:prstGeom>
          <a:solidFill>
            <a:srgbClr val="7FA39C"/>
          </a:solidFill>
          <a:ln/>
        </p:spPr>
      </p:sp>
      <p:sp>
        <p:nvSpPr>
          <p:cNvPr id="12" name="Text 10"/>
          <p:cNvSpPr txBox="1"/>
          <p:nvPr/>
        </p:nvSpPr>
        <p:spPr>
          <a:xfrm>
            <a:off x="2651760" y="3273552"/>
            <a:ext cx="1920240" cy="329184"/>
          </a:xfrm>
          <a:prstGeom prst="rect">
            <a:avLst/>
          </a:prstGeom>
          <a:noFill/>
          <a:ln/>
        </p:spPr>
        <p:txBody>
          <a:bodyPr wrap="square" lIns="0" tIns="0" rIns="0" bIns="0" rtlCol="0" anchor="ctr"/>
          <a:lstStyle/>
          <a:p>
            <a:pPr indent="0" marL="0">
              <a:buNone/>
            </a:pPr>
            <a:r>
              <a:rPr lang="en-US" sz="1700" b="1" dirty="0">
                <a:solidFill>
                  <a:srgbClr val="0F2624"/>
                </a:solidFill>
                <a:latin typeface="Calibri" pitchFamily="34" charset="0"/>
                <a:ea typeface="Calibri" pitchFamily="34" charset="-122"/>
                <a:cs typeface="Calibri" pitchFamily="34" charset="-120"/>
              </a:rPr>
              <a:t>$40M</a:t>
            </a:r>
            <a:endParaRPr lang="en-US" sz="1700" dirty="0"/>
          </a:p>
        </p:txBody>
      </p:sp>
      <p:sp>
        <p:nvSpPr>
          <p:cNvPr id="13" name="Text 11"/>
          <p:cNvSpPr txBox="1"/>
          <p:nvPr/>
        </p:nvSpPr>
        <p:spPr>
          <a:xfrm>
            <a:off x="2651760" y="5577840"/>
            <a:ext cx="1920240" cy="640080"/>
          </a:xfrm>
          <a:prstGeom prst="rect">
            <a:avLst/>
          </a:prstGeom>
          <a:noFill/>
          <a:ln/>
        </p:spPr>
        <p:txBody>
          <a:bodyPr wrap="square" lIns="0" tIns="0" rIns="0" bIns="0" rtlCol="0" anchor="t"/>
          <a:lstStyle/>
          <a:p>
            <a:pPr indent="0" marL="0">
              <a:lnSpc>
                <a:spcPct val="120000"/>
              </a:lnSpc>
              <a:buNone/>
            </a:pPr>
            <a:r>
              <a:rPr lang="en-US" sz="1100" b="1" spc="4000" kern="0" dirty="0">
                <a:solidFill>
                  <a:srgbClr val="0F2624"/>
                </a:solidFill>
                <a:latin typeface="Calibri" pitchFamily="34" charset="0"/>
                <a:ea typeface="Calibri" pitchFamily="34" charset="-122"/>
                <a:cs typeface="Calibri" pitchFamily="34" charset="-120"/>
              </a:rPr>
              <a:t>SAM</a:t>
            </a:r>
            <a:endParaRPr lang="en-US" sz="1100" dirty="0"/>
          </a:p>
          <a:p>
            <a:pPr indent="0" marL="0">
              <a:lnSpc>
                <a:spcPct val="120000"/>
              </a:lnSpc>
              <a:buNone/>
            </a:pPr>
            <a:r>
              <a:rPr lang="en-US" sz="900" b="1" dirty="0">
                <a:solidFill>
                  <a:srgbClr val="4F6B66"/>
                </a:solidFill>
                <a:latin typeface="Calibri" pitchFamily="34" charset="0"/>
                <a:ea typeface="Calibri" pitchFamily="34" charset="-122"/>
                <a:cs typeface="Calibri" pitchFamily="34" charset="-120"/>
              </a:rPr>
              <a:t>SME trade inside our</a:t>
            </a:r>
            <a:endParaRPr lang="en-US" sz="1100" dirty="0"/>
          </a:p>
          <a:p>
            <a:pPr indent="0" marL="0">
              <a:lnSpc>
                <a:spcPct val="120000"/>
              </a:lnSpc>
              <a:buNone/>
            </a:pPr>
            <a:r>
              <a:rPr lang="en-US" sz="900" b="1" dirty="0">
                <a:solidFill>
                  <a:srgbClr val="4F6B66"/>
                </a:solidFill>
                <a:latin typeface="Calibri" pitchFamily="34" charset="0"/>
                <a:ea typeface="Calibri" pitchFamily="34" charset="-122"/>
                <a:cs typeface="Calibri" pitchFamily="34" charset="-120"/>
              </a:rPr>
              <a:t>partners' corridors*</a:t>
            </a:r>
            <a:endParaRPr lang="en-US" sz="1100" dirty="0"/>
          </a:p>
        </p:txBody>
      </p:sp>
      <p:sp>
        <p:nvSpPr>
          <p:cNvPr id="14" name="Shape 12"/>
          <p:cNvSpPr/>
          <p:nvPr/>
        </p:nvSpPr>
        <p:spPr>
          <a:xfrm>
            <a:off x="4846320" y="4709160"/>
            <a:ext cx="1554480" cy="777240"/>
          </a:xfrm>
          <a:prstGeom prst="rect">
            <a:avLst/>
          </a:prstGeom>
          <a:solidFill>
            <a:srgbClr val="E5C158"/>
          </a:solidFill>
          <a:ln/>
        </p:spPr>
      </p:sp>
      <p:sp>
        <p:nvSpPr>
          <p:cNvPr id="15" name="Text 13"/>
          <p:cNvSpPr txBox="1"/>
          <p:nvPr/>
        </p:nvSpPr>
        <p:spPr>
          <a:xfrm>
            <a:off x="4663440" y="4325112"/>
            <a:ext cx="1920240" cy="329184"/>
          </a:xfrm>
          <a:prstGeom prst="rect">
            <a:avLst/>
          </a:prstGeom>
          <a:noFill/>
          <a:ln/>
        </p:spPr>
        <p:txBody>
          <a:bodyPr wrap="square" lIns="0" tIns="0" rIns="0" bIns="0" rtlCol="0" anchor="ctr"/>
          <a:lstStyle/>
          <a:p>
            <a:pPr indent="0" marL="0">
              <a:buNone/>
            </a:pPr>
            <a:r>
              <a:rPr lang="en-US" sz="1700" b="1" dirty="0">
                <a:solidFill>
                  <a:srgbClr val="12705A"/>
                </a:solidFill>
                <a:latin typeface="Calibri" pitchFamily="34" charset="0"/>
                <a:ea typeface="Calibri" pitchFamily="34" charset="-122"/>
                <a:cs typeface="Calibri" pitchFamily="34" charset="-120"/>
              </a:rPr>
              <a:t>$700K/yr</a:t>
            </a:r>
            <a:endParaRPr lang="en-US" sz="1700" dirty="0"/>
          </a:p>
        </p:txBody>
      </p:sp>
      <p:sp>
        <p:nvSpPr>
          <p:cNvPr id="16" name="Text 14"/>
          <p:cNvSpPr txBox="1"/>
          <p:nvPr/>
        </p:nvSpPr>
        <p:spPr>
          <a:xfrm>
            <a:off x="4663440" y="5577840"/>
            <a:ext cx="1920240" cy="640080"/>
          </a:xfrm>
          <a:prstGeom prst="rect">
            <a:avLst/>
          </a:prstGeom>
          <a:noFill/>
          <a:ln/>
        </p:spPr>
        <p:txBody>
          <a:bodyPr wrap="square" lIns="0" tIns="0" rIns="0" bIns="0" rtlCol="0" anchor="t"/>
          <a:lstStyle/>
          <a:p>
            <a:pPr indent="0" marL="0">
              <a:lnSpc>
                <a:spcPct val="120000"/>
              </a:lnSpc>
              <a:buNone/>
            </a:pPr>
            <a:r>
              <a:rPr lang="en-US" sz="1100" b="1" spc="4000" kern="0" dirty="0">
                <a:solidFill>
                  <a:srgbClr val="0F2624"/>
                </a:solidFill>
                <a:latin typeface="Calibri" pitchFamily="34" charset="0"/>
                <a:ea typeface="Calibri" pitchFamily="34" charset="-122"/>
                <a:cs typeface="Calibri" pitchFamily="34" charset="-120"/>
              </a:rPr>
              <a:t>SOM</a:t>
            </a:r>
            <a:endParaRPr lang="en-US" sz="1100" dirty="0"/>
          </a:p>
          <a:p>
            <a:pPr indent="0" marL="0">
              <a:lnSpc>
                <a:spcPct val="120000"/>
              </a:lnSpc>
              <a:buNone/>
            </a:pPr>
            <a:r>
              <a:rPr lang="en-US" sz="900" b="1" dirty="0">
                <a:solidFill>
                  <a:srgbClr val="4F6B66"/>
                </a:solidFill>
                <a:latin typeface="Calibri" pitchFamily="34" charset="0"/>
                <a:ea typeface="Calibri" pitchFamily="34" charset="-122"/>
                <a:cs typeface="Calibri" pitchFamily="34" charset="-120"/>
              </a:rPr>
              <a:t>500 businesses ×</a:t>
            </a:r>
            <a:endParaRPr lang="en-US" sz="1100" dirty="0"/>
          </a:p>
          <a:p>
            <a:pPr indent="0" marL="0">
              <a:lnSpc>
                <a:spcPct val="120000"/>
              </a:lnSpc>
              <a:buNone/>
            </a:pPr>
            <a:r>
              <a:rPr lang="en-US" sz="900" b="1" dirty="0">
                <a:solidFill>
                  <a:srgbClr val="4F6B66"/>
                </a:solidFill>
                <a:latin typeface="Calibri" pitchFamily="34" charset="0"/>
                <a:ea typeface="Calibri" pitchFamily="34" charset="-122"/>
                <a:cs typeface="Calibri" pitchFamily="34" charset="-120"/>
              </a:rPr>
              <a:t>KES 1.5M/mo</a:t>
            </a:r>
            <a:endParaRPr lang="en-US" sz="1100" dirty="0"/>
          </a:p>
        </p:txBody>
      </p:sp>
      <p:sp>
        <p:nvSpPr>
          <p:cNvPr id="17" name="Shape 15"/>
          <p:cNvSpPr/>
          <p:nvPr/>
        </p:nvSpPr>
        <p:spPr>
          <a:xfrm>
            <a:off x="7178040" y="2286000"/>
            <a:ext cx="4370832" cy="3456432"/>
          </a:xfrm>
          <a:prstGeom prst="roundRect">
            <a:avLst>
              <a:gd name="adj" fmla="val 3704"/>
            </a:avLst>
          </a:prstGeom>
          <a:solidFill>
            <a:srgbClr val="FFFFFF"/>
          </a:solidFill>
          <a:ln w="12700">
            <a:solidFill>
              <a:srgbClr val="D7E4DF"/>
            </a:solidFill>
            <a:prstDash val="solid"/>
          </a:ln>
        </p:spPr>
      </p:sp>
      <p:sp>
        <p:nvSpPr>
          <p:cNvPr id="18" name="Text 16"/>
          <p:cNvSpPr txBox="1"/>
          <p:nvPr/>
        </p:nvSpPr>
        <p:spPr>
          <a:xfrm>
            <a:off x="7543800" y="2606040"/>
            <a:ext cx="3685032" cy="256032"/>
          </a:xfrm>
          <a:prstGeom prst="rect">
            <a:avLst/>
          </a:prstGeom>
          <a:noFill/>
          <a:ln/>
        </p:spPr>
        <p:txBody>
          <a:bodyPr wrap="square" lIns="0" tIns="0" rIns="0" bIns="0" rtlCol="0" anchor="ctr"/>
          <a:lstStyle/>
          <a:p>
            <a:pPr algn="l" indent="0" marL="0">
              <a:buNone/>
            </a:pPr>
            <a:r>
              <a:rPr lang="en-US" sz="1000" b="1" spc="6000" kern="0" dirty="0">
                <a:solidFill>
                  <a:srgbClr val="4F6B66"/>
                </a:solidFill>
                <a:latin typeface="Calibri" pitchFamily="34" charset="0"/>
                <a:ea typeface="Calibri" pitchFamily="34" charset="-122"/>
                <a:cs typeface="Calibri" pitchFamily="34" charset="-120"/>
              </a:rPr>
              <a:t>THE WEDGE MATH · BOTTOM-UP</a:t>
            </a:r>
            <a:endParaRPr lang="en-US" sz="1000" dirty="0"/>
          </a:p>
        </p:txBody>
      </p:sp>
      <p:sp>
        <p:nvSpPr>
          <p:cNvPr id="19" name="Text 17"/>
          <p:cNvSpPr txBox="1"/>
          <p:nvPr/>
        </p:nvSpPr>
        <p:spPr>
          <a:xfrm>
            <a:off x="7543800" y="2971800"/>
            <a:ext cx="3685032" cy="1417320"/>
          </a:xfrm>
          <a:prstGeom prst="rect">
            <a:avLst/>
          </a:prstGeom>
          <a:noFill/>
          <a:ln/>
        </p:spPr>
        <p:txBody>
          <a:bodyPr wrap="square" lIns="0" tIns="0" rIns="0" bIns="0" rtlCol="0" anchor="t"/>
          <a:lstStyle/>
          <a:p>
            <a:pPr indent="0" marL="0">
              <a:lnSpc>
                <a:spcPct val="135000"/>
              </a:lnSpc>
              <a:buNone/>
            </a:pPr>
            <a:r>
              <a:rPr lang="en-US" sz="1700" b="1" dirty="0">
                <a:solidFill>
                  <a:srgbClr val="0F2624"/>
                </a:solidFill>
                <a:latin typeface="Calibri" pitchFamily="34" charset="0"/>
                <a:ea typeface="Calibri" pitchFamily="34" charset="-122"/>
                <a:cs typeface="Calibri" pitchFamily="34" charset="-120"/>
              </a:rPr>
              <a:t>500 businesses</a:t>
            </a:r>
            <a:endParaRPr lang="en-US" sz="1700" dirty="0"/>
          </a:p>
          <a:p>
            <a:pPr indent="0" marL="0">
              <a:lnSpc>
                <a:spcPct val="135000"/>
              </a:lnSpc>
              <a:buNone/>
            </a:pPr>
            <a:r>
              <a:rPr lang="en-US" sz="1400" b="1" dirty="0">
                <a:solidFill>
                  <a:srgbClr val="0F2624"/>
                </a:solidFill>
                <a:latin typeface="Calibri" pitchFamily="34" charset="0"/>
                <a:ea typeface="Calibri" pitchFamily="34" charset="-122"/>
                <a:cs typeface="Calibri" pitchFamily="34" charset="-120"/>
              </a:rPr>
              <a:t>× KES 1.5M a month</a:t>
            </a:r>
            <a:endParaRPr lang="en-US" sz="1700" dirty="0"/>
          </a:p>
          <a:p>
            <a:pPr indent="0" marL="0">
              <a:lnSpc>
                <a:spcPct val="135000"/>
              </a:lnSpc>
              <a:buNone/>
            </a:pPr>
            <a:r>
              <a:rPr lang="en-US" sz="1400" b="1" dirty="0">
                <a:solidFill>
                  <a:srgbClr val="0F2624"/>
                </a:solidFill>
                <a:latin typeface="Calibri" pitchFamily="34" charset="0"/>
                <a:ea typeface="Calibri" pitchFamily="34" charset="-122"/>
                <a:cs typeface="Calibri" pitchFamily="34" charset="-120"/>
              </a:rPr>
              <a:t>× 1%</a:t>
            </a:r>
            <a:endParaRPr lang="en-US" sz="1700" dirty="0"/>
          </a:p>
          <a:p>
            <a:pPr indent="0" marL="0">
              <a:lnSpc>
                <a:spcPct val="135000"/>
              </a:lnSpc>
              <a:buNone/>
            </a:pPr>
            <a:r>
              <a:rPr lang="en-US" sz="1400" b="1" dirty="0">
                <a:solidFill>
                  <a:srgbClr val="12705A"/>
                </a:solidFill>
                <a:latin typeface="Calibri" pitchFamily="34" charset="0"/>
                <a:ea typeface="Calibri" pitchFamily="34" charset="-122"/>
                <a:cs typeface="Calibri" pitchFamily="34" charset="-120"/>
              </a:rPr>
              <a:t>= KES 90M a year  (~$700K)</a:t>
            </a:r>
            <a:endParaRPr lang="en-US" sz="1700" dirty="0"/>
          </a:p>
        </p:txBody>
      </p:sp>
      <p:sp>
        <p:nvSpPr>
          <p:cNvPr id="20" name="Text 18"/>
          <p:cNvSpPr txBox="1"/>
          <p:nvPr/>
        </p:nvSpPr>
        <p:spPr>
          <a:xfrm>
            <a:off x="7543800" y="4572000"/>
            <a:ext cx="3685032" cy="502920"/>
          </a:xfrm>
          <a:prstGeom prst="rect">
            <a:avLst/>
          </a:prstGeom>
          <a:noFill/>
          <a:ln/>
        </p:spPr>
        <p:txBody>
          <a:bodyPr wrap="square" lIns="0" tIns="0" rIns="0" bIns="0" rtlCol="0" anchor="t"/>
          <a:lstStyle/>
          <a:p>
            <a:pPr algn="l" indent="0" marL="0">
              <a:lnSpc>
                <a:spcPct val="120000"/>
              </a:lnSpc>
              <a:buNone/>
            </a:pPr>
            <a:r>
              <a:rPr lang="en-US" sz="1250" b="1" dirty="0">
                <a:solidFill>
                  <a:srgbClr val="4F6B66"/>
                </a:solidFill>
                <a:latin typeface="Calibri" pitchFamily="34" charset="0"/>
                <a:ea typeface="Calibri" pitchFamily="34" charset="-122"/>
                <a:cs typeface="Calibri" pitchFamily="34" charset="-120"/>
              </a:rPr>
              <a:t>Exporters lift this sharply. One avocado exporter alone moves about USD 150,000 a month.</a:t>
            </a:r>
            <a:endParaRPr lang="en-US" sz="1250" dirty="0"/>
          </a:p>
        </p:txBody>
      </p:sp>
      <p:sp>
        <p:nvSpPr>
          <p:cNvPr id="21" name="Text 19"/>
          <p:cNvSpPr txBox="1"/>
          <p:nvPr/>
        </p:nvSpPr>
        <p:spPr>
          <a:xfrm>
            <a:off x="7543800" y="5330952"/>
            <a:ext cx="3685032" cy="274320"/>
          </a:xfrm>
          <a:prstGeom prst="rect">
            <a:avLst/>
          </a:prstGeom>
          <a:noFill/>
          <a:ln/>
        </p:spPr>
        <p:txBody>
          <a:bodyPr wrap="square" lIns="0" tIns="0" rIns="0" bIns="0" rtlCol="0" anchor="ctr"/>
          <a:lstStyle/>
          <a:p>
            <a:pPr algn="l" indent="0" marL="0">
              <a:buNone/>
            </a:pPr>
            <a:r>
              <a:rPr lang="en-US" sz="950" b="1" dirty="0">
                <a:solidFill>
                  <a:srgbClr val="4F6B66"/>
                </a:solidFill>
                <a:latin typeface="Calibri" pitchFamily="34" charset="0"/>
                <a:ea typeface="Calibri" pitchFamily="34" charset="-122"/>
                <a:cs typeface="Calibri" pitchFamily="34" charset="-120"/>
              </a:rPr>
              <a:t>*Top-down figures approximate. Verify before circulating.</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F5F2"/>
        </a:solidFill>
      </p:bgPr>
    </p:bg>
    <p:spTree>
      <p:nvGrpSpPr>
        <p:cNvPr id="1" name=""/>
        <p:cNvGrpSpPr/>
        <p:nvPr/>
      </p:nvGrpSpPr>
      <p:grpSpPr>
        <a:xfrm>
          <a:off x="0" y="0"/>
          <a:ext cx="0" cy="0"/>
          <a:chOff x="0" y="0"/>
          <a:chExt cx="0" cy="0"/>
        </a:xfrm>
      </p:grpSpPr>
      <p:sp>
        <p:nvSpPr>
          <p:cNvPr id="2" name="Text 0"/>
          <p:cNvSpPr txBox="1"/>
          <p:nvPr/>
        </p:nvSpPr>
        <p:spPr>
          <a:xfrm>
            <a:off x="640080" y="512064"/>
            <a:ext cx="10908792" cy="274320"/>
          </a:xfrm>
          <a:prstGeom prst="rect">
            <a:avLst/>
          </a:prstGeom>
          <a:noFill/>
          <a:ln/>
        </p:spPr>
        <p:txBody>
          <a:bodyPr wrap="square" lIns="0" tIns="0" rIns="0" bIns="0" rtlCol="0" anchor="ctr"/>
          <a:lstStyle/>
          <a:p>
            <a:pPr algn="l" indent="0" marL="0">
              <a:buNone/>
            </a:pPr>
            <a:r>
              <a:rPr lang="en-US" sz="1100" b="1" spc="6000" kern="0" dirty="0">
                <a:solidFill>
                  <a:srgbClr val="4F6B66"/>
                </a:solidFill>
                <a:latin typeface="Calibri" pitchFamily="34" charset="0"/>
                <a:ea typeface="Calibri" pitchFamily="34" charset="-122"/>
                <a:cs typeface="Calibri" pitchFamily="34" charset="-120"/>
              </a:rPr>
              <a:t>06 · BUSINESS MODEL</a:t>
            </a:r>
            <a:endParaRPr lang="en-US" sz="1100" dirty="0"/>
          </a:p>
        </p:txBody>
      </p:sp>
      <p:sp>
        <p:nvSpPr>
          <p:cNvPr id="3" name="Text 1"/>
          <p:cNvSpPr txBox="1"/>
          <p:nvPr/>
        </p:nvSpPr>
        <p:spPr>
          <a:xfrm>
            <a:off x="640080" y="868680"/>
            <a:ext cx="10908792" cy="1234440"/>
          </a:xfrm>
          <a:prstGeom prst="rect">
            <a:avLst/>
          </a:prstGeom>
          <a:noFill/>
          <a:ln/>
        </p:spPr>
        <p:txBody>
          <a:bodyPr wrap="square" lIns="0" tIns="0" rIns="0" bIns="0" rtlCol="0" anchor="t"/>
          <a:lstStyle/>
          <a:p>
            <a:pPr indent="0" marL="0">
              <a:lnSpc>
                <a:spcPct val="104000"/>
              </a:lnSpc>
              <a:buNone/>
            </a:pPr>
            <a:r>
              <a:rPr lang="en-US" sz="3000" b="1" dirty="0">
                <a:solidFill>
                  <a:srgbClr val="0F2624"/>
                </a:solidFill>
                <a:latin typeface="Calibri" pitchFamily="34" charset="0"/>
                <a:ea typeface="Calibri" pitchFamily="34" charset="-122"/>
                <a:cs typeface="Calibri" pitchFamily="34" charset="-120"/>
              </a:rPr>
              <a:t>Flat 1% of every payment. Nothing on the exchange rate.</a:t>
            </a:r>
            <a:endParaRPr lang="en-US" sz="3000" dirty="0"/>
          </a:p>
        </p:txBody>
      </p:sp>
      <p:sp>
        <p:nvSpPr>
          <p:cNvPr id="4" name="Shape 2"/>
          <p:cNvSpPr/>
          <p:nvPr/>
        </p:nvSpPr>
        <p:spPr>
          <a:xfrm>
            <a:off x="640080" y="6382512"/>
            <a:ext cx="274320" cy="274320"/>
          </a:xfrm>
          <a:prstGeom prst="roundRect">
            <a:avLst>
              <a:gd name="adj" fmla="val 21800"/>
            </a:avLst>
          </a:prstGeom>
          <a:solidFill>
            <a:srgbClr val="3ECFA0"/>
          </a:solidFill>
          <a:ln w="12700">
            <a:solidFill>
              <a:srgbClr val="3ECFA0"/>
            </a:solidFill>
            <a:prstDash val="solid"/>
          </a:ln>
        </p:spPr>
      </p:sp>
      <p:sp>
        <p:nvSpPr>
          <p:cNvPr id="5" name="Shape 3"/>
          <p:cNvSpPr/>
          <p:nvPr/>
        </p:nvSpPr>
        <p:spPr>
          <a:xfrm>
            <a:off x="717438" y="6459870"/>
            <a:ext cx="119604" cy="119604"/>
          </a:xfrm>
          <a:prstGeom prst="ellipse">
            <a:avLst/>
          </a:prstGeom>
          <a:solidFill>
            <a:srgbClr val="3ECFA0"/>
          </a:solidFill>
          <a:ln w="13868">
            <a:solidFill>
              <a:srgbClr val="0B1A19"/>
            </a:solidFill>
            <a:prstDash val="solid"/>
          </a:ln>
        </p:spPr>
      </p:sp>
      <p:sp>
        <p:nvSpPr>
          <p:cNvPr id="6" name="Text 4"/>
          <p:cNvSpPr txBox="1"/>
          <p:nvPr/>
        </p:nvSpPr>
        <p:spPr>
          <a:xfrm>
            <a:off x="1005840" y="6400800"/>
            <a:ext cx="3291840" cy="237744"/>
          </a:xfrm>
          <a:prstGeom prst="rect">
            <a:avLst/>
          </a:prstGeom>
          <a:noFill/>
          <a:ln/>
        </p:spPr>
        <p:txBody>
          <a:bodyPr wrap="square" lIns="0" tIns="0" rIns="0" bIns="0" rtlCol="0" anchor="ctr"/>
          <a:lstStyle/>
          <a:p>
            <a:pPr algn="l" indent="0" marL="0">
              <a:buNone/>
            </a:pPr>
            <a:r>
              <a:rPr lang="en-US" sz="800" b="1" spc="4000" kern="0" dirty="0">
                <a:solidFill>
                  <a:srgbClr val="4F6B66"/>
                </a:solidFill>
                <a:latin typeface="Calibri" pitchFamily="34" charset="0"/>
                <a:ea typeface="Calibri" pitchFamily="34" charset="-122"/>
                <a:cs typeface="Calibri" pitchFamily="34" charset="-120"/>
              </a:rPr>
              <a:t>MERIDIAN · APPIFY SOFTWARES</a:t>
            </a:r>
            <a:endParaRPr lang="en-US" sz="800" dirty="0"/>
          </a:p>
        </p:txBody>
      </p:sp>
      <p:sp>
        <p:nvSpPr>
          <p:cNvPr id="7" name="Text 5"/>
          <p:cNvSpPr txBox="1"/>
          <p:nvPr/>
        </p:nvSpPr>
        <p:spPr>
          <a:xfrm>
            <a:off x="7434072" y="6400800"/>
            <a:ext cx="4114800" cy="237744"/>
          </a:xfrm>
          <a:prstGeom prst="rect">
            <a:avLst/>
          </a:prstGeom>
          <a:noFill/>
          <a:ln/>
        </p:spPr>
        <p:txBody>
          <a:bodyPr wrap="square" lIns="0" tIns="0" rIns="0" bIns="0" rtlCol="0" anchor="ctr"/>
          <a:lstStyle/>
          <a:p>
            <a:pPr algn="r" indent="0" marL="0">
              <a:buNone/>
            </a:pPr>
            <a:r>
              <a:rPr lang="en-US" sz="800" b="1" spc="4000" kern="0" dirty="0">
                <a:solidFill>
                  <a:srgbClr val="4F6B66"/>
                </a:solidFill>
                <a:latin typeface="Calibri" pitchFamily="34" charset="0"/>
                <a:ea typeface="Calibri" pitchFamily="34" charset="-122"/>
                <a:cs typeface="Calibri" pitchFamily="34" charset="-120"/>
              </a:rPr>
              <a:t>PROJECTIONS ILLUSTRATIVE · 06 / 12</a:t>
            </a:r>
            <a:endParaRPr lang="en-US" sz="800" dirty="0"/>
          </a:p>
        </p:txBody>
      </p:sp>
      <p:sp>
        <p:nvSpPr>
          <p:cNvPr id="8" name="Shape 6"/>
          <p:cNvSpPr/>
          <p:nvPr/>
        </p:nvSpPr>
        <p:spPr>
          <a:xfrm>
            <a:off x="640080" y="2212848"/>
            <a:ext cx="3386023" cy="1810512"/>
          </a:xfrm>
          <a:prstGeom prst="roundRect">
            <a:avLst>
              <a:gd name="adj" fmla="val 6061"/>
            </a:avLst>
          </a:prstGeom>
          <a:solidFill>
            <a:srgbClr val="FFFFFF"/>
          </a:solidFill>
          <a:ln w="12700">
            <a:solidFill>
              <a:srgbClr val="D7E4DF"/>
            </a:solidFill>
            <a:prstDash val="solid"/>
          </a:ln>
        </p:spPr>
      </p:sp>
      <p:sp>
        <p:nvSpPr>
          <p:cNvPr id="9" name="Shape 7"/>
          <p:cNvSpPr/>
          <p:nvPr/>
        </p:nvSpPr>
        <p:spPr>
          <a:xfrm>
            <a:off x="896112" y="2487168"/>
            <a:ext cx="548640" cy="548640"/>
          </a:xfrm>
          <a:prstGeom prst="ellipse">
            <a:avLst/>
          </a:prstGeom>
          <a:solidFill>
            <a:srgbClr val="EFF5F2"/>
          </a:solidFill>
          <a:ln w="12700">
            <a:solidFill>
              <a:srgbClr val="D7E4DF"/>
            </a:solidFill>
            <a:prstDash val="solid"/>
          </a:ln>
        </p:spPr>
      </p:sp>
      <p:pic>
        <p:nvPicPr>
          <p:cNvPr id="10" name="Image 0" descr="preencoded.png">    </p:cNvPr>
          <p:cNvPicPr>
            <a:picLocks noChangeAspect="1"/>
          </p:cNvPicPr>
          <p:nvPr/>
        </p:nvPicPr>
        <p:blipFill>
          <a:blip r:embed="rId1"/>
          <a:stretch>
            <a:fillRect/>
          </a:stretch>
        </p:blipFill>
        <p:spPr>
          <a:xfrm>
            <a:off x="1037387" y="2628443"/>
            <a:ext cx="266090" cy="266090"/>
          </a:xfrm>
          <a:prstGeom prst="rect">
            <a:avLst/>
          </a:prstGeom>
        </p:spPr>
      </p:pic>
      <p:sp>
        <p:nvSpPr>
          <p:cNvPr id="11" name="Text 8"/>
          <p:cNvSpPr txBox="1"/>
          <p:nvPr/>
        </p:nvSpPr>
        <p:spPr>
          <a:xfrm>
            <a:off x="1572768" y="2523744"/>
            <a:ext cx="2197303" cy="237744"/>
          </a:xfrm>
          <a:prstGeom prst="rect">
            <a:avLst/>
          </a:prstGeom>
          <a:noFill/>
          <a:ln/>
        </p:spPr>
        <p:txBody>
          <a:bodyPr wrap="square" lIns="0" tIns="0" rIns="0" bIns="0" rtlCol="0" anchor="ctr"/>
          <a:lstStyle/>
          <a:p>
            <a:pPr algn="l" indent="0" marL="0">
              <a:buNone/>
            </a:pPr>
            <a:r>
              <a:rPr lang="en-US" sz="1000" b="1" spc="7000" kern="0" dirty="0">
                <a:solidFill>
                  <a:srgbClr val="4F6B66"/>
                </a:solidFill>
                <a:latin typeface="Calibri" pitchFamily="34" charset="0"/>
                <a:ea typeface="Calibri" pitchFamily="34" charset="-122"/>
                <a:cs typeface="Calibri" pitchFamily="34" charset="-120"/>
              </a:rPr>
              <a:t>CAC</a:t>
            </a:r>
            <a:endParaRPr lang="en-US" sz="1000" dirty="0"/>
          </a:p>
        </p:txBody>
      </p:sp>
      <p:sp>
        <p:nvSpPr>
          <p:cNvPr id="12" name="Text 9"/>
          <p:cNvSpPr txBox="1"/>
          <p:nvPr/>
        </p:nvSpPr>
        <p:spPr>
          <a:xfrm>
            <a:off x="1572768" y="2743200"/>
            <a:ext cx="2197303" cy="566928"/>
          </a:xfrm>
          <a:prstGeom prst="rect">
            <a:avLst/>
          </a:prstGeom>
          <a:noFill/>
          <a:ln/>
        </p:spPr>
        <p:txBody>
          <a:bodyPr wrap="square" lIns="0" tIns="0" rIns="0" bIns="0" rtlCol="0" anchor="ctr"/>
          <a:lstStyle/>
          <a:p>
            <a:pPr algn="l" indent="0" marL="0">
              <a:buNone/>
            </a:pPr>
            <a:r>
              <a:rPr lang="en-US" sz="3000" b="1" dirty="0">
                <a:solidFill>
                  <a:srgbClr val="0F2624"/>
                </a:solidFill>
                <a:latin typeface="Calibri" pitchFamily="34" charset="0"/>
                <a:ea typeface="Calibri" pitchFamily="34" charset="-122"/>
                <a:cs typeface="Calibri" pitchFamily="34" charset="-120"/>
              </a:rPr>
              <a:t>$200</a:t>
            </a:r>
            <a:endParaRPr lang="en-US" sz="3000" dirty="0"/>
          </a:p>
        </p:txBody>
      </p:sp>
      <p:sp>
        <p:nvSpPr>
          <p:cNvPr id="13" name="Text 10"/>
          <p:cNvSpPr txBox="1"/>
          <p:nvPr/>
        </p:nvSpPr>
        <p:spPr>
          <a:xfrm>
            <a:off x="896112" y="3511296"/>
            <a:ext cx="2873959" cy="329184"/>
          </a:xfrm>
          <a:prstGeom prst="rect">
            <a:avLst/>
          </a:prstGeom>
          <a:noFill/>
          <a:ln/>
        </p:spPr>
        <p:txBody>
          <a:bodyPr wrap="square" lIns="0" tIns="0" rIns="0" bIns="0" rtlCol="0" anchor="ctr"/>
          <a:lstStyle/>
          <a:p>
            <a:pPr algn="l" indent="0" marL="0">
              <a:buNone/>
            </a:pPr>
            <a:r>
              <a:rPr lang="en-US" sz="1200" b="1" dirty="0">
                <a:solidFill>
                  <a:srgbClr val="4F6B66"/>
                </a:solidFill>
                <a:latin typeface="Calibri" pitchFamily="34" charset="0"/>
                <a:ea typeface="Calibri" pitchFamily="34" charset="-122"/>
                <a:cs typeface="Calibri" pitchFamily="34" charset="-120"/>
              </a:rPr>
              <a:t>founder-led and referral</a:t>
            </a:r>
            <a:endParaRPr lang="en-US" sz="1200" dirty="0"/>
          </a:p>
        </p:txBody>
      </p:sp>
      <p:sp>
        <p:nvSpPr>
          <p:cNvPr id="14" name="Shape 11"/>
          <p:cNvSpPr/>
          <p:nvPr/>
        </p:nvSpPr>
        <p:spPr>
          <a:xfrm>
            <a:off x="4401007" y="2212848"/>
            <a:ext cx="3386023" cy="1810512"/>
          </a:xfrm>
          <a:prstGeom prst="roundRect">
            <a:avLst>
              <a:gd name="adj" fmla="val 6061"/>
            </a:avLst>
          </a:prstGeom>
          <a:solidFill>
            <a:srgbClr val="FFFFFF"/>
          </a:solidFill>
          <a:ln w="12700">
            <a:solidFill>
              <a:srgbClr val="D7E4DF"/>
            </a:solidFill>
            <a:prstDash val="solid"/>
          </a:ln>
        </p:spPr>
      </p:sp>
      <p:sp>
        <p:nvSpPr>
          <p:cNvPr id="15" name="Shape 12"/>
          <p:cNvSpPr/>
          <p:nvPr/>
        </p:nvSpPr>
        <p:spPr>
          <a:xfrm>
            <a:off x="4657039" y="2487168"/>
            <a:ext cx="548640" cy="548640"/>
          </a:xfrm>
          <a:prstGeom prst="ellipse">
            <a:avLst/>
          </a:prstGeom>
          <a:solidFill>
            <a:srgbClr val="EFF5F2"/>
          </a:solidFill>
          <a:ln w="12700">
            <a:solidFill>
              <a:srgbClr val="D7E4DF"/>
            </a:solidFill>
            <a:prstDash val="solid"/>
          </a:ln>
        </p:spPr>
      </p:sp>
      <p:pic>
        <p:nvPicPr>
          <p:cNvPr id="16" name="Image 1" descr="preencoded.png">    </p:cNvPr>
          <p:cNvPicPr>
            <a:picLocks noChangeAspect="1"/>
          </p:cNvPicPr>
          <p:nvPr/>
        </p:nvPicPr>
        <p:blipFill>
          <a:blip r:embed="rId2"/>
          <a:stretch>
            <a:fillRect/>
          </a:stretch>
        </p:blipFill>
        <p:spPr>
          <a:xfrm>
            <a:off x="4798314" y="2628443"/>
            <a:ext cx="266090" cy="266090"/>
          </a:xfrm>
          <a:prstGeom prst="rect">
            <a:avLst/>
          </a:prstGeom>
        </p:spPr>
      </p:pic>
      <p:sp>
        <p:nvSpPr>
          <p:cNvPr id="17" name="Text 13"/>
          <p:cNvSpPr txBox="1"/>
          <p:nvPr/>
        </p:nvSpPr>
        <p:spPr>
          <a:xfrm>
            <a:off x="5333695" y="2523744"/>
            <a:ext cx="2197303" cy="237744"/>
          </a:xfrm>
          <a:prstGeom prst="rect">
            <a:avLst/>
          </a:prstGeom>
          <a:noFill/>
          <a:ln/>
        </p:spPr>
        <p:txBody>
          <a:bodyPr wrap="square" lIns="0" tIns="0" rIns="0" bIns="0" rtlCol="0" anchor="ctr"/>
          <a:lstStyle/>
          <a:p>
            <a:pPr algn="l" indent="0" marL="0">
              <a:buNone/>
            </a:pPr>
            <a:r>
              <a:rPr lang="en-US" sz="1000" b="1" spc="7000" kern="0" dirty="0">
                <a:solidFill>
                  <a:srgbClr val="4F6B66"/>
                </a:solidFill>
                <a:latin typeface="Calibri" pitchFamily="34" charset="0"/>
                <a:ea typeface="Calibri" pitchFamily="34" charset="-122"/>
                <a:cs typeface="Calibri" pitchFamily="34" charset="-120"/>
              </a:rPr>
              <a:t>PAYBACK</a:t>
            </a:r>
            <a:endParaRPr lang="en-US" sz="1000" dirty="0"/>
          </a:p>
        </p:txBody>
      </p:sp>
      <p:sp>
        <p:nvSpPr>
          <p:cNvPr id="18" name="Text 14"/>
          <p:cNvSpPr txBox="1"/>
          <p:nvPr/>
        </p:nvSpPr>
        <p:spPr>
          <a:xfrm>
            <a:off x="5333695" y="2743200"/>
            <a:ext cx="2197303" cy="566928"/>
          </a:xfrm>
          <a:prstGeom prst="rect">
            <a:avLst/>
          </a:prstGeom>
          <a:noFill/>
          <a:ln/>
        </p:spPr>
        <p:txBody>
          <a:bodyPr wrap="square" lIns="0" tIns="0" rIns="0" bIns="0" rtlCol="0" anchor="ctr"/>
          <a:lstStyle/>
          <a:p>
            <a:pPr algn="l" indent="0" marL="0">
              <a:buNone/>
            </a:pPr>
            <a:r>
              <a:rPr lang="en-US" sz="3000" b="1" dirty="0">
                <a:solidFill>
                  <a:srgbClr val="0F2624"/>
                </a:solidFill>
                <a:latin typeface="Calibri" pitchFamily="34" charset="0"/>
                <a:ea typeface="Calibri" pitchFamily="34" charset="-122"/>
                <a:cs typeface="Calibri" pitchFamily="34" charset="-120"/>
              </a:rPr>
              <a:t>~2 mo</a:t>
            </a:r>
            <a:endParaRPr lang="en-US" sz="3000" dirty="0"/>
          </a:p>
        </p:txBody>
      </p:sp>
      <p:sp>
        <p:nvSpPr>
          <p:cNvPr id="19" name="Text 15"/>
          <p:cNvSpPr txBox="1"/>
          <p:nvPr/>
        </p:nvSpPr>
        <p:spPr>
          <a:xfrm>
            <a:off x="4657039" y="3511296"/>
            <a:ext cx="2873959" cy="329184"/>
          </a:xfrm>
          <a:prstGeom prst="rect">
            <a:avLst/>
          </a:prstGeom>
          <a:noFill/>
          <a:ln/>
        </p:spPr>
        <p:txBody>
          <a:bodyPr wrap="square" lIns="0" tIns="0" rIns="0" bIns="0" rtlCol="0" anchor="ctr"/>
          <a:lstStyle/>
          <a:p>
            <a:pPr algn="l" indent="0" marL="0">
              <a:buNone/>
            </a:pPr>
            <a:r>
              <a:rPr lang="en-US" sz="1200" b="1" dirty="0">
                <a:solidFill>
                  <a:srgbClr val="4F6B66"/>
                </a:solidFill>
                <a:latin typeface="Calibri" pitchFamily="34" charset="0"/>
                <a:ea typeface="Calibri" pitchFamily="34" charset="-122"/>
                <a:cs typeface="Calibri" pitchFamily="34" charset="-120"/>
              </a:rPr>
              <a:t>on fees alone</a:t>
            </a:r>
            <a:endParaRPr lang="en-US" sz="1200" dirty="0"/>
          </a:p>
        </p:txBody>
      </p:sp>
      <p:sp>
        <p:nvSpPr>
          <p:cNvPr id="20" name="Shape 16"/>
          <p:cNvSpPr/>
          <p:nvPr/>
        </p:nvSpPr>
        <p:spPr>
          <a:xfrm>
            <a:off x="8161934" y="2212848"/>
            <a:ext cx="3386023" cy="1810512"/>
          </a:xfrm>
          <a:prstGeom prst="roundRect">
            <a:avLst>
              <a:gd name="adj" fmla="val 6061"/>
            </a:avLst>
          </a:prstGeom>
          <a:solidFill>
            <a:srgbClr val="FFFFFF"/>
          </a:solidFill>
          <a:ln w="12700">
            <a:solidFill>
              <a:srgbClr val="D7E4DF"/>
            </a:solidFill>
            <a:prstDash val="solid"/>
          </a:ln>
        </p:spPr>
      </p:sp>
      <p:sp>
        <p:nvSpPr>
          <p:cNvPr id="21" name="Shape 17"/>
          <p:cNvSpPr/>
          <p:nvPr/>
        </p:nvSpPr>
        <p:spPr>
          <a:xfrm>
            <a:off x="8417966" y="2487168"/>
            <a:ext cx="548640" cy="548640"/>
          </a:xfrm>
          <a:prstGeom prst="ellipse">
            <a:avLst/>
          </a:prstGeom>
          <a:solidFill>
            <a:srgbClr val="EFF5F2"/>
          </a:solidFill>
          <a:ln w="12700">
            <a:solidFill>
              <a:srgbClr val="D7E4DF"/>
            </a:solidFill>
            <a:prstDash val="solid"/>
          </a:ln>
        </p:spPr>
      </p:sp>
      <p:pic>
        <p:nvPicPr>
          <p:cNvPr id="22" name="Image 2" descr="preencoded.png">    </p:cNvPr>
          <p:cNvPicPr>
            <a:picLocks noChangeAspect="1"/>
          </p:cNvPicPr>
          <p:nvPr/>
        </p:nvPicPr>
        <p:blipFill>
          <a:blip r:embed="rId3"/>
          <a:stretch>
            <a:fillRect/>
          </a:stretch>
        </p:blipFill>
        <p:spPr>
          <a:xfrm>
            <a:off x="8559241" y="2628443"/>
            <a:ext cx="266090" cy="266090"/>
          </a:xfrm>
          <a:prstGeom prst="rect">
            <a:avLst/>
          </a:prstGeom>
        </p:spPr>
      </p:pic>
      <p:sp>
        <p:nvSpPr>
          <p:cNvPr id="23" name="Text 18"/>
          <p:cNvSpPr txBox="1"/>
          <p:nvPr/>
        </p:nvSpPr>
        <p:spPr>
          <a:xfrm>
            <a:off x="9094622" y="2523744"/>
            <a:ext cx="2197303" cy="237744"/>
          </a:xfrm>
          <a:prstGeom prst="rect">
            <a:avLst/>
          </a:prstGeom>
          <a:noFill/>
          <a:ln/>
        </p:spPr>
        <p:txBody>
          <a:bodyPr wrap="square" lIns="0" tIns="0" rIns="0" bIns="0" rtlCol="0" anchor="ctr"/>
          <a:lstStyle/>
          <a:p>
            <a:pPr algn="l" indent="0" marL="0">
              <a:buNone/>
            </a:pPr>
            <a:r>
              <a:rPr lang="en-US" sz="1000" b="1" spc="7000" kern="0" dirty="0">
                <a:solidFill>
                  <a:srgbClr val="4F6B66"/>
                </a:solidFill>
                <a:latin typeface="Calibri" pitchFamily="34" charset="0"/>
                <a:ea typeface="Calibri" pitchFamily="34" charset="-122"/>
                <a:cs typeface="Calibri" pitchFamily="34" charset="-120"/>
              </a:rPr>
              <a:t>LTV</a:t>
            </a:r>
            <a:endParaRPr lang="en-US" sz="1000" dirty="0"/>
          </a:p>
        </p:txBody>
      </p:sp>
      <p:sp>
        <p:nvSpPr>
          <p:cNvPr id="24" name="Text 19"/>
          <p:cNvSpPr txBox="1"/>
          <p:nvPr/>
        </p:nvSpPr>
        <p:spPr>
          <a:xfrm>
            <a:off x="9094622" y="2743200"/>
            <a:ext cx="2197303" cy="566928"/>
          </a:xfrm>
          <a:prstGeom prst="rect">
            <a:avLst/>
          </a:prstGeom>
          <a:noFill/>
          <a:ln/>
        </p:spPr>
        <p:txBody>
          <a:bodyPr wrap="square" lIns="0" tIns="0" rIns="0" bIns="0" rtlCol="0" anchor="ctr"/>
          <a:lstStyle/>
          <a:p>
            <a:pPr algn="l" indent="0" marL="0">
              <a:buNone/>
            </a:pPr>
            <a:r>
              <a:rPr lang="en-US" sz="3000" b="1" dirty="0">
                <a:solidFill>
                  <a:srgbClr val="0F2624"/>
                </a:solidFill>
                <a:latin typeface="Calibri" pitchFamily="34" charset="0"/>
                <a:ea typeface="Calibri" pitchFamily="34" charset="-122"/>
                <a:cs typeface="Calibri" pitchFamily="34" charset="-120"/>
              </a:rPr>
              <a:t>$3,400</a:t>
            </a:r>
            <a:endParaRPr lang="en-US" sz="3000" dirty="0"/>
          </a:p>
        </p:txBody>
      </p:sp>
      <p:sp>
        <p:nvSpPr>
          <p:cNvPr id="25" name="Text 20"/>
          <p:cNvSpPr txBox="1"/>
          <p:nvPr/>
        </p:nvSpPr>
        <p:spPr>
          <a:xfrm>
            <a:off x="8417966" y="3511296"/>
            <a:ext cx="2873959" cy="329184"/>
          </a:xfrm>
          <a:prstGeom prst="rect">
            <a:avLst/>
          </a:prstGeom>
          <a:noFill/>
          <a:ln/>
        </p:spPr>
        <p:txBody>
          <a:bodyPr wrap="square" lIns="0" tIns="0" rIns="0" bIns="0" rtlCol="0" anchor="ctr"/>
          <a:lstStyle/>
          <a:p>
            <a:pPr algn="l" indent="0" marL="0">
              <a:buNone/>
            </a:pPr>
            <a:r>
              <a:rPr lang="en-US" sz="1200" b="1" dirty="0">
                <a:solidFill>
                  <a:srgbClr val="4F6B66"/>
                </a:solidFill>
                <a:latin typeface="Calibri" pitchFamily="34" charset="0"/>
                <a:ea typeface="Calibri" pitchFamily="34" charset="-122"/>
                <a:cs typeface="Calibri" pitchFamily="34" charset="-120"/>
              </a:rPr>
              <a:t>three years, 80% retention</a:t>
            </a:r>
            <a:endParaRPr lang="en-US" sz="1200" dirty="0"/>
          </a:p>
        </p:txBody>
      </p:sp>
      <p:sp>
        <p:nvSpPr>
          <p:cNvPr id="26" name="Text 21"/>
          <p:cNvSpPr txBox="1"/>
          <p:nvPr/>
        </p:nvSpPr>
        <p:spPr>
          <a:xfrm>
            <a:off x="4030675" y="2898648"/>
            <a:ext cx="365760" cy="411480"/>
          </a:xfrm>
          <a:prstGeom prst="rect">
            <a:avLst/>
          </a:prstGeom>
          <a:noFill/>
          <a:ln/>
        </p:spPr>
        <p:txBody>
          <a:bodyPr wrap="square" lIns="0" tIns="0" rIns="0" bIns="0" rtlCol="0" anchor="ctr"/>
          <a:lstStyle/>
          <a:p>
            <a:pPr indent="0" marL="0">
              <a:buNone/>
            </a:pPr>
            <a:r>
              <a:rPr lang="en-US" sz="2000" b="1" dirty="0">
                <a:solidFill>
                  <a:srgbClr val="4F6B66"/>
                </a:solidFill>
                <a:latin typeface="Calibri" pitchFamily="34" charset="0"/>
                <a:ea typeface="Calibri" pitchFamily="34" charset="-122"/>
                <a:cs typeface="Calibri" pitchFamily="34" charset="-120"/>
              </a:rPr>
              <a:t>→</a:t>
            </a:r>
            <a:endParaRPr lang="en-US" sz="2000" dirty="0"/>
          </a:p>
        </p:txBody>
      </p:sp>
      <p:sp>
        <p:nvSpPr>
          <p:cNvPr id="27" name="Text 22"/>
          <p:cNvSpPr txBox="1"/>
          <p:nvPr/>
        </p:nvSpPr>
        <p:spPr>
          <a:xfrm>
            <a:off x="7791602" y="2898648"/>
            <a:ext cx="365760" cy="411480"/>
          </a:xfrm>
          <a:prstGeom prst="rect">
            <a:avLst/>
          </a:prstGeom>
          <a:noFill/>
          <a:ln/>
        </p:spPr>
        <p:txBody>
          <a:bodyPr wrap="square" lIns="0" tIns="0" rIns="0" bIns="0" rtlCol="0" anchor="ctr"/>
          <a:lstStyle/>
          <a:p>
            <a:pPr indent="0" marL="0">
              <a:buNone/>
            </a:pPr>
            <a:r>
              <a:rPr lang="en-US" sz="2000" b="1" dirty="0">
                <a:solidFill>
                  <a:srgbClr val="4F6B66"/>
                </a:solidFill>
                <a:latin typeface="Calibri" pitchFamily="34" charset="0"/>
                <a:ea typeface="Calibri" pitchFamily="34" charset="-122"/>
                <a:cs typeface="Calibri" pitchFamily="34" charset="-120"/>
              </a:rPr>
              <a:t>→</a:t>
            </a:r>
            <a:endParaRPr lang="en-US" sz="2000" dirty="0"/>
          </a:p>
        </p:txBody>
      </p:sp>
      <p:sp>
        <p:nvSpPr>
          <p:cNvPr id="28" name="Shape 23"/>
          <p:cNvSpPr/>
          <p:nvPr/>
        </p:nvSpPr>
        <p:spPr>
          <a:xfrm>
            <a:off x="640080" y="4434840"/>
            <a:ext cx="6720840" cy="1481328"/>
          </a:xfrm>
          <a:prstGeom prst="roundRect">
            <a:avLst>
              <a:gd name="adj" fmla="val 8642"/>
            </a:avLst>
          </a:prstGeom>
          <a:solidFill>
            <a:srgbClr val="0F2624"/>
          </a:solidFill>
          <a:ln/>
        </p:spPr>
      </p:sp>
      <p:sp>
        <p:nvSpPr>
          <p:cNvPr id="29" name="Text 24"/>
          <p:cNvSpPr txBox="1"/>
          <p:nvPr/>
        </p:nvSpPr>
        <p:spPr>
          <a:xfrm>
            <a:off x="960120" y="4645152"/>
            <a:ext cx="2286000" cy="1051560"/>
          </a:xfrm>
          <a:prstGeom prst="rect">
            <a:avLst/>
          </a:prstGeom>
          <a:noFill/>
          <a:ln/>
        </p:spPr>
        <p:txBody>
          <a:bodyPr wrap="square" lIns="0" tIns="0" rIns="0" bIns="0" rtlCol="0" anchor="ctr"/>
          <a:lstStyle/>
          <a:p>
            <a:pPr algn="l" indent="0" marL="0">
              <a:buNone/>
            </a:pPr>
            <a:r>
              <a:rPr lang="en-US" sz="5400" b="1" dirty="0">
                <a:solidFill>
                  <a:srgbClr val="3ECFA0"/>
                </a:solidFill>
                <a:latin typeface="Calibri" pitchFamily="34" charset="0"/>
                <a:ea typeface="Calibri" pitchFamily="34" charset="-122"/>
                <a:cs typeface="Calibri" pitchFamily="34" charset="-120"/>
              </a:rPr>
              <a:t>17×</a:t>
            </a:r>
            <a:endParaRPr lang="en-US" sz="5400" dirty="0"/>
          </a:p>
        </p:txBody>
      </p:sp>
      <p:sp>
        <p:nvSpPr>
          <p:cNvPr id="30" name="Text 25"/>
          <p:cNvSpPr txBox="1"/>
          <p:nvPr/>
        </p:nvSpPr>
        <p:spPr>
          <a:xfrm>
            <a:off x="3429000" y="4846320"/>
            <a:ext cx="3749040" cy="731520"/>
          </a:xfrm>
          <a:prstGeom prst="rect">
            <a:avLst/>
          </a:prstGeom>
          <a:noFill/>
          <a:ln/>
        </p:spPr>
        <p:txBody>
          <a:bodyPr wrap="square" lIns="0" tIns="0" rIns="0" bIns="0" rtlCol="0" anchor="ctr"/>
          <a:lstStyle/>
          <a:p>
            <a:pPr indent="0" marL="0">
              <a:lnSpc>
                <a:spcPct val="130000"/>
              </a:lnSpc>
              <a:buNone/>
            </a:pPr>
            <a:r>
              <a:rPr lang="en-US" sz="1500" b="1" dirty="0">
                <a:solidFill>
                  <a:srgbClr val="F2F7F4"/>
                </a:solidFill>
                <a:latin typeface="Calibri" pitchFamily="34" charset="0"/>
                <a:ea typeface="Calibri" pitchFamily="34" charset="-122"/>
                <a:cs typeface="Calibri" pitchFamily="34" charset="-120"/>
              </a:rPr>
              <a:t>LTV to CAC</a:t>
            </a:r>
            <a:endParaRPr lang="en-US" sz="1500" dirty="0"/>
          </a:p>
          <a:p>
            <a:pPr indent="0" marL="0">
              <a:lnSpc>
                <a:spcPct val="130000"/>
              </a:lnSpc>
              <a:buNone/>
            </a:pPr>
            <a:r>
              <a:rPr lang="en-US" sz="1300" b="1" dirty="0">
                <a:solidFill>
                  <a:srgbClr val="9FB8B2"/>
                </a:solidFill>
                <a:latin typeface="Calibri" pitchFamily="34" charset="0"/>
                <a:ea typeface="Calibri" pitchFamily="34" charset="-122"/>
                <a:cs typeface="Calibri" pitchFamily="34" charset="-120"/>
              </a:rPr>
              <a:t>payback inside two months</a:t>
            </a:r>
            <a:endParaRPr lang="en-US" sz="1500" dirty="0"/>
          </a:p>
        </p:txBody>
      </p:sp>
      <p:sp>
        <p:nvSpPr>
          <p:cNvPr id="31" name="Shape 26"/>
          <p:cNvSpPr/>
          <p:nvPr/>
        </p:nvSpPr>
        <p:spPr>
          <a:xfrm>
            <a:off x="7680960" y="4434840"/>
            <a:ext cx="3867912" cy="1481328"/>
          </a:xfrm>
          <a:prstGeom prst="roundRect">
            <a:avLst>
              <a:gd name="adj" fmla="val 8642"/>
            </a:avLst>
          </a:prstGeom>
          <a:solidFill>
            <a:srgbClr val="FFFFFF"/>
          </a:solidFill>
          <a:ln w="12700">
            <a:solidFill>
              <a:srgbClr val="D7E4DF"/>
            </a:solidFill>
            <a:prstDash val="solid"/>
          </a:ln>
        </p:spPr>
      </p:sp>
      <p:sp>
        <p:nvSpPr>
          <p:cNvPr id="32" name="Text 27"/>
          <p:cNvSpPr txBox="1"/>
          <p:nvPr/>
        </p:nvSpPr>
        <p:spPr>
          <a:xfrm>
            <a:off x="8001000" y="4773168"/>
            <a:ext cx="3227832" cy="822960"/>
          </a:xfrm>
          <a:prstGeom prst="rect">
            <a:avLst/>
          </a:prstGeom>
          <a:noFill/>
          <a:ln/>
        </p:spPr>
        <p:txBody>
          <a:bodyPr wrap="square" lIns="0" tIns="0" rIns="0" bIns="0" rtlCol="0" anchor="ctr"/>
          <a:lstStyle/>
          <a:p>
            <a:pPr indent="0" marL="0">
              <a:lnSpc>
                <a:spcPct val="130000"/>
              </a:lnSpc>
              <a:buNone/>
            </a:pPr>
            <a:r>
              <a:rPr lang="en-US" sz="1600" b="1" dirty="0">
                <a:solidFill>
                  <a:srgbClr val="0F2624"/>
                </a:solidFill>
                <a:latin typeface="Calibri" pitchFamily="34" charset="0"/>
                <a:ea typeface="Calibri" pitchFamily="34" charset="-122"/>
                <a:cs typeface="Calibri" pitchFamily="34" charset="-120"/>
              </a:rPr>
              <a:t>85% gross margin</a:t>
            </a:r>
            <a:endParaRPr lang="en-US" sz="1600" dirty="0"/>
          </a:p>
          <a:p>
            <a:pPr indent="0" marL="0">
              <a:lnSpc>
                <a:spcPct val="130000"/>
              </a:lnSpc>
              <a:buNone/>
            </a:pPr>
            <a:r>
              <a:rPr lang="en-US" sz="1250" b="1" dirty="0">
                <a:solidFill>
                  <a:srgbClr val="4F6B66"/>
                </a:solidFill>
                <a:latin typeface="Calibri" pitchFamily="34" charset="0"/>
                <a:ea typeface="Calibri" pitchFamily="34" charset="-122"/>
                <a:cs typeface="Calibri" pitchFamily="34" charset="-120"/>
              </a:rPr>
              <a:t>Partner fees pass through, not absorbed.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F5F2"/>
        </a:solidFill>
      </p:bgPr>
    </p:bg>
    <p:spTree>
      <p:nvGrpSpPr>
        <p:cNvPr id="1" name=""/>
        <p:cNvGrpSpPr/>
        <p:nvPr/>
      </p:nvGrpSpPr>
      <p:grpSpPr>
        <a:xfrm>
          <a:off x="0" y="0"/>
          <a:ext cx="0" cy="0"/>
          <a:chOff x="0" y="0"/>
          <a:chExt cx="0" cy="0"/>
        </a:xfrm>
      </p:grpSpPr>
      <p:sp>
        <p:nvSpPr>
          <p:cNvPr id="2" name="Text 0"/>
          <p:cNvSpPr txBox="1"/>
          <p:nvPr/>
        </p:nvSpPr>
        <p:spPr>
          <a:xfrm>
            <a:off x="640080" y="512064"/>
            <a:ext cx="10908792" cy="274320"/>
          </a:xfrm>
          <a:prstGeom prst="rect">
            <a:avLst/>
          </a:prstGeom>
          <a:noFill/>
          <a:ln/>
        </p:spPr>
        <p:txBody>
          <a:bodyPr wrap="square" lIns="0" tIns="0" rIns="0" bIns="0" rtlCol="0" anchor="ctr"/>
          <a:lstStyle/>
          <a:p>
            <a:pPr algn="l" indent="0" marL="0">
              <a:buNone/>
            </a:pPr>
            <a:r>
              <a:rPr lang="en-US" sz="1100" b="1" spc="6000" kern="0" dirty="0">
                <a:solidFill>
                  <a:srgbClr val="4F6B66"/>
                </a:solidFill>
                <a:latin typeface="Calibri" pitchFamily="34" charset="0"/>
                <a:ea typeface="Calibri" pitchFamily="34" charset="-122"/>
                <a:cs typeface="Calibri" pitchFamily="34" charset="-120"/>
              </a:rPr>
              <a:t>07 · TRACTION</a:t>
            </a:r>
            <a:endParaRPr lang="en-US" sz="1100" dirty="0"/>
          </a:p>
        </p:txBody>
      </p:sp>
      <p:sp>
        <p:nvSpPr>
          <p:cNvPr id="3" name="Text 1"/>
          <p:cNvSpPr txBox="1"/>
          <p:nvPr/>
        </p:nvSpPr>
        <p:spPr>
          <a:xfrm>
            <a:off x="640080" y="868680"/>
            <a:ext cx="10908792" cy="1234440"/>
          </a:xfrm>
          <a:prstGeom prst="rect">
            <a:avLst/>
          </a:prstGeom>
          <a:noFill/>
          <a:ln/>
        </p:spPr>
        <p:txBody>
          <a:bodyPr wrap="square" lIns="0" tIns="0" rIns="0" bIns="0" rtlCol="0" anchor="t"/>
          <a:lstStyle/>
          <a:p>
            <a:pPr indent="0" marL="0">
              <a:lnSpc>
                <a:spcPct val="104000"/>
              </a:lnSpc>
              <a:buNone/>
            </a:pPr>
            <a:r>
              <a:rPr lang="en-US" sz="3000" b="1" dirty="0">
                <a:solidFill>
                  <a:srgbClr val="0F2624"/>
                </a:solidFill>
                <a:latin typeface="Calibri" pitchFamily="34" charset="0"/>
                <a:ea typeface="Calibri" pitchFamily="34" charset="-122"/>
                <a:cs typeface="Calibri" pitchFamily="34" charset="-120"/>
              </a:rPr>
              <a:t>Five interviews. </a:t>
            </a:r>
            <a:pPr indent="0" marL="0">
              <a:lnSpc>
                <a:spcPct val="104000"/>
              </a:lnSpc>
              <a:buNone/>
            </a:pPr>
            <a:r>
              <a:rPr lang="en-US" sz="3000" b="1" dirty="0">
                <a:solidFill>
                  <a:srgbClr val="12705A"/>
                </a:solidFill>
                <a:latin typeface="Calibri" pitchFamily="34" charset="0"/>
                <a:ea typeface="Calibri" pitchFamily="34" charset="-122"/>
                <a:cs typeface="Calibri" pitchFamily="34" charset="-120"/>
              </a:rPr>
              <a:t>KES 26M a month</a:t>
            </a:r>
            <a:pPr indent="0" marL="0">
              <a:lnSpc>
                <a:spcPct val="104000"/>
              </a:lnSpc>
              <a:buNone/>
            </a:pPr>
            <a:r>
              <a:rPr lang="en-US" sz="3000" b="1" dirty="0">
                <a:solidFill>
                  <a:srgbClr val="0F2624"/>
                </a:solidFill>
                <a:latin typeface="Calibri" pitchFamily="34" charset="0"/>
                <a:ea typeface="Calibri" pitchFamily="34" charset="-122"/>
                <a:cs typeface="Calibri" pitchFamily="34" charset="-120"/>
              </a:rPr>
              <a:t> of validated volume.</a:t>
            </a:r>
            <a:endParaRPr lang="en-US" sz="3000" dirty="0"/>
          </a:p>
        </p:txBody>
      </p:sp>
      <p:sp>
        <p:nvSpPr>
          <p:cNvPr id="4" name="Shape 2"/>
          <p:cNvSpPr/>
          <p:nvPr/>
        </p:nvSpPr>
        <p:spPr>
          <a:xfrm>
            <a:off x="640080" y="6382512"/>
            <a:ext cx="274320" cy="274320"/>
          </a:xfrm>
          <a:prstGeom prst="roundRect">
            <a:avLst>
              <a:gd name="adj" fmla="val 21800"/>
            </a:avLst>
          </a:prstGeom>
          <a:solidFill>
            <a:srgbClr val="3ECFA0"/>
          </a:solidFill>
          <a:ln w="12700">
            <a:solidFill>
              <a:srgbClr val="3ECFA0"/>
            </a:solidFill>
            <a:prstDash val="solid"/>
          </a:ln>
        </p:spPr>
      </p:sp>
      <p:sp>
        <p:nvSpPr>
          <p:cNvPr id="5" name="Shape 3"/>
          <p:cNvSpPr/>
          <p:nvPr/>
        </p:nvSpPr>
        <p:spPr>
          <a:xfrm>
            <a:off x="717438" y="6459870"/>
            <a:ext cx="119604" cy="119604"/>
          </a:xfrm>
          <a:prstGeom prst="ellipse">
            <a:avLst/>
          </a:prstGeom>
          <a:solidFill>
            <a:srgbClr val="3ECFA0"/>
          </a:solidFill>
          <a:ln w="13868">
            <a:solidFill>
              <a:srgbClr val="0B1A19"/>
            </a:solidFill>
            <a:prstDash val="solid"/>
          </a:ln>
        </p:spPr>
      </p:sp>
      <p:sp>
        <p:nvSpPr>
          <p:cNvPr id="6" name="Text 4"/>
          <p:cNvSpPr txBox="1"/>
          <p:nvPr/>
        </p:nvSpPr>
        <p:spPr>
          <a:xfrm>
            <a:off x="1005840" y="6400800"/>
            <a:ext cx="3291840" cy="237744"/>
          </a:xfrm>
          <a:prstGeom prst="rect">
            <a:avLst/>
          </a:prstGeom>
          <a:noFill/>
          <a:ln/>
        </p:spPr>
        <p:txBody>
          <a:bodyPr wrap="square" lIns="0" tIns="0" rIns="0" bIns="0" rtlCol="0" anchor="ctr"/>
          <a:lstStyle/>
          <a:p>
            <a:pPr algn="l" indent="0" marL="0">
              <a:buNone/>
            </a:pPr>
            <a:r>
              <a:rPr lang="en-US" sz="800" b="1" spc="4000" kern="0" dirty="0">
                <a:solidFill>
                  <a:srgbClr val="4F6B66"/>
                </a:solidFill>
                <a:latin typeface="Calibri" pitchFamily="34" charset="0"/>
                <a:ea typeface="Calibri" pitchFamily="34" charset="-122"/>
                <a:cs typeface="Calibri" pitchFamily="34" charset="-120"/>
              </a:rPr>
              <a:t>MERIDIAN · APPIFY SOFTWARES</a:t>
            </a:r>
            <a:endParaRPr lang="en-US" sz="800" dirty="0"/>
          </a:p>
        </p:txBody>
      </p:sp>
      <p:sp>
        <p:nvSpPr>
          <p:cNvPr id="7" name="Text 5"/>
          <p:cNvSpPr txBox="1"/>
          <p:nvPr/>
        </p:nvSpPr>
        <p:spPr>
          <a:xfrm>
            <a:off x="7434072" y="6400800"/>
            <a:ext cx="4114800" cy="237744"/>
          </a:xfrm>
          <a:prstGeom prst="rect">
            <a:avLst/>
          </a:prstGeom>
          <a:noFill/>
          <a:ln/>
        </p:spPr>
        <p:txBody>
          <a:bodyPr wrap="square" lIns="0" tIns="0" rIns="0" bIns="0" rtlCol="0" anchor="ctr"/>
          <a:lstStyle/>
          <a:p>
            <a:pPr algn="r" indent="0" marL="0">
              <a:buNone/>
            </a:pPr>
            <a:r>
              <a:rPr lang="en-US" sz="800" b="1" spc="4000" kern="0" dirty="0">
                <a:solidFill>
                  <a:srgbClr val="4F6B66"/>
                </a:solidFill>
                <a:latin typeface="Calibri" pitchFamily="34" charset="0"/>
                <a:ea typeface="Calibri" pitchFamily="34" charset="-122"/>
                <a:cs typeface="Calibri" pitchFamily="34" charset="-120"/>
              </a:rPr>
              <a:t>PROJECTIONS ILLUSTRATIVE · 07 / 12</a:t>
            </a:r>
            <a:endParaRPr lang="en-US" sz="800" dirty="0"/>
          </a:p>
        </p:txBody>
      </p:sp>
      <p:sp>
        <p:nvSpPr>
          <p:cNvPr id="8" name="Text 6"/>
          <p:cNvSpPr txBox="1"/>
          <p:nvPr/>
        </p:nvSpPr>
        <p:spPr>
          <a:xfrm>
            <a:off x="640080" y="1993392"/>
            <a:ext cx="6675120" cy="274320"/>
          </a:xfrm>
          <a:prstGeom prst="rect">
            <a:avLst/>
          </a:prstGeom>
          <a:noFill/>
          <a:ln/>
        </p:spPr>
        <p:txBody>
          <a:bodyPr wrap="square" lIns="0" tIns="0" rIns="0" bIns="0" rtlCol="0" anchor="ctr"/>
          <a:lstStyle/>
          <a:p>
            <a:pPr algn="l" indent="0" marL="0">
              <a:buNone/>
            </a:pPr>
            <a:r>
              <a:rPr lang="en-US" sz="1100" b="1" dirty="0">
                <a:solidFill>
                  <a:srgbClr val="4F6B66"/>
                </a:solidFill>
                <a:latin typeface="Calibri" pitchFamily="34" charset="0"/>
                <a:ea typeface="Calibri" pitchFamily="34" charset="-122"/>
                <a:cs typeface="Calibri" pitchFamily="34" charset="-120"/>
              </a:rPr>
              <a:t>Cumulative monthly cross-border volume represented by interviewed businesses, KES millions.</a:t>
            </a:r>
            <a:endParaRPr lang="en-US" sz="1100" dirty="0"/>
          </a:p>
        </p:txBody>
      </p:sp>
      <p:graphicFrame>
        <p:nvGraphicFramePr>
          <p:cNvPr id="9" name="Chart 0" descr=""/>
          <p:cNvGraphicFramePr/>
          <p:nvPr/>
        </p:nvGraphicFramePr>
        <p:xfrm>
          <a:off x="640080" y="2331720"/>
          <a:ext cx="6675120" cy="379476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7635240" y="2331720"/>
            <a:ext cx="3913632" cy="3794760"/>
          </a:xfrm>
          <a:prstGeom prst="roundRect">
            <a:avLst>
              <a:gd name="adj" fmla="val 3373"/>
            </a:avLst>
          </a:prstGeom>
          <a:solidFill>
            <a:srgbClr val="FFFFFF"/>
          </a:solidFill>
          <a:ln w="12700">
            <a:solidFill>
              <a:srgbClr val="D7E4DF"/>
            </a:solidFill>
            <a:prstDash val="solid"/>
          </a:ln>
        </p:spPr>
      </p:sp>
      <p:sp>
        <p:nvSpPr>
          <p:cNvPr id="11" name="Text 8"/>
          <p:cNvSpPr txBox="1"/>
          <p:nvPr/>
        </p:nvSpPr>
        <p:spPr>
          <a:xfrm>
            <a:off x="7973568" y="2670048"/>
            <a:ext cx="3236976" cy="502920"/>
          </a:xfrm>
          <a:prstGeom prst="rect">
            <a:avLst/>
          </a:prstGeom>
          <a:noFill/>
          <a:ln/>
        </p:spPr>
        <p:txBody>
          <a:bodyPr wrap="square" lIns="0" tIns="0" rIns="0" bIns="0" rtlCol="0" anchor="ctr"/>
          <a:lstStyle/>
          <a:p>
            <a:pPr algn="l" indent="0" marL="0">
              <a:buNone/>
            </a:pPr>
            <a:r>
              <a:rPr lang="en-US" sz="2800" b="1" dirty="0">
                <a:solidFill>
                  <a:srgbClr val="0F2624"/>
                </a:solidFill>
                <a:latin typeface="Calibri" pitchFamily="34" charset="0"/>
                <a:ea typeface="Calibri" pitchFamily="34" charset="-122"/>
                <a:cs typeface="Calibri" pitchFamily="34" charset="-120"/>
              </a:rPr>
              <a:t>3 of 3</a:t>
            </a:r>
            <a:endParaRPr lang="en-US" sz="2800" dirty="0"/>
          </a:p>
        </p:txBody>
      </p:sp>
      <p:sp>
        <p:nvSpPr>
          <p:cNvPr id="12" name="Text 9"/>
          <p:cNvSpPr txBox="1"/>
          <p:nvPr/>
        </p:nvSpPr>
        <p:spPr>
          <a:xfrm>
            <a:off x="7973568" y="3172968"/>
            <a:ext cx="3236976" cy="292608"/>
          </a:xfrm>
          <a:prstGeom prst="rect">
            <a:avLst/>
          </a:prstGeom>
          <a:noFill/>
          <a:ln/>
        </p:spPr>
        <p:txBody>
          <a:bodyPr wrap="square" lIns="0" tIns="0" rIns="0" bIns="0" rtlCol="0" anchor="ctr"/>
          <a:lstStyle/>
          <a:p>
            <a:pPr algn="l" indent="0" marL="0">
              <a:buNone/>
            </a:pPr>
            <a:r>
              <a:rPr lang="en-US" sz="1200" b="1" dirty="0">
                <a:solidFill>
                  <a:srgbClr val="4F6B66"/>
                </a:solidFill>
                <a:latin typeface="Calibri" pitchFamily="34" charset="0"/>
                <a:ea typeface="Calibri" pitchFamily="34" charset="-122"/>
                <a:cs typeface="Calibri" pitchFamily="34" charset="-120"/>
              </a:rPr>
              <a:t>importers asked said they would switch</a:t>
            </a:r>
            <a:endParaRPr lang="en-US" sz="1200" dirty="0"/>
          </a:p>
        </p:txBody>
      </p:sp>
      <p:sp>
        <p:nvSpPr>
          <p:cNvPr id="13" name="Text 10"/>
          <p:cNvSpPr txBox="1"/>
          <p:nvPr/>
        </p:nvSpPr>
        <p:spPr>
          <a:xfrm>
            <a:off x="7973568" y="3840480"/>
            <a:ext cx="3236976" cy="502920"/>
          </a:xfrm>
          <a:prstGeom prst="rect">
            <a:avLst/>
          </a:prstGeom>
          <a:noFill/>
          <a:ln/>
        </p:spPr>
        <p:txBody>
          <a:bodyPr wrap="square" lIns="0" tIns="0" rIns="0" bIns="0" rtlCol="0" anchor="ctr"/>
          <a:lstStyle/>
          <a:p>
            <a:pPr algn="l" indent="0" marL="0">
              <a:buNone/>
            </a:pPr>
            <a:r>
              <a:rPr lang="en-US" sz="2800" b="1" dirty="0">
                <a:solidFill>
                  <a:srgbClr val="0F2624"/>
                </a:solidFill>
                <a:latin typeface="Calibri" pitchFamily="34" charset="0"/>
                <a:ea typeface="Calibri" pitchFamily="34" charset="-122"/>
                <a:cs typeface="Calibri" pitchFamily="34" charset="-120"/>
              </a:rPr>
              <a:t>KES 26M</a:t>
            </a:r>
            <a:endParaRPr lang="en-US" sz="2800" dirty="0"/>
          </a:p>
        </p:txBody>
      </p:sp>
      <p:sp>
        <p:nvSpPr>
          <p:cNvPr id="14" name="Text 11"/>
          <p:cNvSpPr txBox="1"/>
          <p:nvPr/>
        </p:nvSpPr>
        <p:spPr>
          <a:xfrm>
            <a:off x="7973568" y="4343400"/>
            <a:ext cx="3236976" cy="292608"/>
          </a:xfrm>
          <a:prstGeom prst="rect">
            <a:avLst/>
          </a:prstGeom>
          <a:noFill/>
          <a:ln/>
        </p:spPr>
        <p:txBody>
          <a:bodyPr wrap="square" lIns="0" tIns="0" rIns="0" bIns="0" rtlCol="0" anchor="ctr"/>
          <a:lstStyle/>
          <a:p>
            <a:pPr algn="l" indent="0" marL="0">
              <a:buNone/>
            </a:pPr>
            <a:r>
              <a:rPr lang="en-US" sz="1200" b="1" dirty="0">
                <a:solidFill>
                  <a:srgbClr val="4F6B66"/>
                </a:solidFill>
                <a:latin typeface="Calibri" pitchFamily="34" charset="0"/>
                <a:ea typeface="Calibri" pitchFamily="34" charset="-122"/>
                <a:cs typeface="Calibri" pitchFamily="34" charset="-120"/>
              </a:rPr>
              <a:t>monthly volume across five businesses</a:t>
            </a:r>
            <a:endParaRPr lang="en-US" sz="1200" dirty="0"/>
          </a:p>
        </p:txBody>
      </p:sp>
      <p:sp>
        <p:nvSpPr>
          <p:cNvPr id="15" name="Text 12"/>
          <p:cNvSpPr txBox="1"/>
          <p:nvPr/>
        </p:nvSpPr>
        <p:spPr>
          <a:xfrm>
            <a:off x="7973568" y="5010912"/>
            <a:ext cx="3236976" cy="502920"/>
          </a:xfrm>
          <a:prstGeom prst="rect">
            <a:avLst/>
          </a:prstGeom>
          <a:noFill/>
          <a:ln/>
        </p:spPr>
        <p:txBody>
          <a:bodyPr wrap="square" lIns="0" tIns="0" rIns="0" bIns="0" rtlCol="0" anchor="ctr"/>
          <a:lstStyle/>
          <a:p>
            <a:pPr algn="l" indent="0" marL="0">
              <a:buNone/>
            </a:pPr>
            <a:r>
              <a:rPr lang="en-US" sz="2800" b="1" dirty="0">
                <a:solidFill>
                  <a:srgbClr val="0F2624"/>
                </a:solidFill>
                <a:latin typeface="Calibri" pitchFamily="34" charset="0"/>
                <a:ea typeface="Calibri" pitchFamily="34" charset="-122"/>
                <a:cs typeface="Calibri" pitchFamily="34" charset="-120"/>
              </a:rPr>
              <a:t>6+</a:t>
            </a:r>
            <a:endParaRPr lang="en-US" sz="2800" dirty="0"/>
          </a:p>
        </p:txBody>
      </p:sp>
      <p:sp>
        <p:nvSpPr>
          <p:cNvPr id="16" name="Text 13"/>
          <p:cNvSpPr txBox="1"/>
          <p:nvPr/>
        </p:nvSpPr>
        <p:spPr>
          <a:xfrm>
            <a:off x="7973568" y="5513832"/>
            <a:ext cx="3236976" cy="292608"/>
          </a:xfrm>
          <a:prstGeom prst="rect">
            <a:avLst/>
          </a:prstGeom>
          <a:noFill/>
          <a:ln/>
        </p:spPr>
        <p:txBody>
          <a:bodyPr wrap="square" lIns="0" tIns="0" rIns="0" bIns="0" rtlCol="0" anchor="ctr"/>
          <a:lstStyle/>
          <a:p>
            <a:pPr algn="l" indent="0" marL="0">
              <a:buNone/>
            </a:pPr>
            <a:r>
              <a:rPr lang="en-US" sz="1200" b="1" dirty="0">
                <a:solidFill>
                  <a:srgbClr val="4F6B66"/>
                </a:solidFill>
                <a:latin typeface="Calibri" pitchFamily="34" charset="0"/>
                <a:ea typeface="Calibri" pitchFamily="34" charset="-122"/>
                <a:cs typeface="Calibri" pitchFamily="34" charset="-120"/>
              </a:rPr>
              <a:t>warm referrals already offered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F5F2"/>
        </a:solidFill>
      </p:bgPr>
    </p:bg>
    <p:spTree>
      <p:nvGrpSpPr>
        <p:cNvPr id="1" name=""/>
        <p:cNvGrpSpPr/>
        <p:nvPr/>
      </p:nvGrpSpPr>
      <p:grpSpPr>
        <a:xfrm>
          <a:off x="0" y="0"/>
          <a:ext cx="0" cy="0"/>
          <a:chOff x="0" y="0"/>
          <a:chExt cx="0" cy="0"/>
        </a:xfrm>
      </p:grpSpPr>
      <p:sp>
        <p:nvSpPr>
          <p:cNvPr id="2" name="Text 0"/>
          <p:cNvSpPr txBox="1"/>
          <p:nvPr/>
        </p:nvSpPr>
        <p:spPr>
          <a:xfrm>
            <a:off x="640080" y="512064"/>
            <a:ext cx="10908792" cy="274320"/>
          </a:xfrm>
          <a:prstGeom prst="rect">
            <a:avLst/>
          </a:prstGeom>
          <a:noFill/>
          <a:ln/>
        </p:spPr>
        <p:txBody>
          <a:bodyPr wrap="square" lIns="0" tIns="0" rIns="0" bIns="0" rtlCol="0" anchor="ctr"/>
          <a:lstStyle/>
          <a:p>
            <a:pPr algn="l" indent="0" marL="0">
              <a:buNone/>
            </a:pPr>
            <a:r>
              <a:rPr lang="en-US" sz="1100" b="1" spc="6000" kern="0" dirty="0">
                <a:solidFill>
                  <a:srgbClr val="4F6B66"/>
                </a:solidFill>
                <a:latin typeface="Calibri" pitchFamily="34" charset="0"/>
                <a:ea typeface="Calibri" pitchFamily="34" charset="-122"/>
                <a:cs typeface="Calibri" pitchFamily="34" charset="-120"/>
              </a:rPr>
              <a:t>08 · COMPETITION</a:t>
            </a:r>
            <a:endParaRPr lang="en-US" sz="1100" dirty="0"/>
          </a:p>
        </p:txBody>
      </p:sp>
      <p:sp>
        <p:nvSpPr>
          <p:cNvPr id="3" name="Text 1"/>
          <p:cNvSpPr txBox="1"/>
          <p:nvPr/>
        </p:nvSpPr>
        <p:spPr>
          <a:xfrm>
            <a:off x="640080" y="868680"/>
            <a:ext cx="10908792" cy="1234440"/>
          </a:xfrm>
          <a:prstGeom prst="rect">
            <a:avLst/>
          </a:prstGeom>
          <a:noFill/>
          <a:ln/>
        </p:spPr>
        <p:txBody>
          <a:bodyPr wrap="square" lIns="0" tIns="0" rIns="0" bIns="0" rtlCol="0" anchor="t"/>
          <a:lstStyle/>
          <a:p>
            <a:pPr indent="0" marL="0">
              <a:lnSpc>
                <a:spcPct val="104000"/>
              </a:lnSpc>
              <a:buNone/>
            </a:pPr>
            <a:r>
              <a:rPr lang="en-US" sz="3000" b="1" dirty="0">
                <a:solidFill>
                  <a:srgbClr val="0F2624"/>
                </a:solidFill>
                <a:latin typeface="Calibri" pitchFamily="34" charset="0"/>
                <a:ea typeface="Calibri" pitchFamily="34" charset="-122"/>
                <a:cs typeface="Calibri" pitchFamily="34" charset="-120"/>
              </a:rPr>
              <a:t>We win the trade that banks price out and cash can't reach.</a:t>
            </a:r>
            <a:endParaRPr lang="en-US" sz="3000" dirty="0"/>
          </a:p>
        </p:txBody>
      </p:sp>
      <p:sp>
        <p:nvSpPr>
          <p:cNvPr id="4" name="Shape 2"/>
          <p:cNvSpPr/>
          <p:nvPr/>
        </p:nvSpPr>
        <p:spPr>
          <a:xfrm>
            <a:off x="640080" y="6382512"/>
            <a:ext cx="274320" cy="274320"/>
          </a:xfrm>
          <a:prstGeom prst="roundRect">
            <a:avLst>
              <a:gd name="adj" fmla="val 21800"/>
            </a:avLst>
          </a:prstGeom>
          <a:solidFill>
            <a:srgbClr val="3ECFA0"/>
          </a:solidFill>
          <a:ln w="12700">
            <a:solidFill>
              <a:srgbClr val="3ECFA0"/>
            </a:solidFill>
            <a:prstDash val="solid"/>
          </a:ln>
        </p:spPr>
      </p:sp>
      <p:sp>
        <p:nvSpPr>
          <p:cNvPr id="5" name="Shape 3"/>
          <p:cNvSpPr/>
          <p:nvPr/>
        </p:nvSpPr>
        <p:spPr>
          <a:xfrm>
            <a:off x="717438" y="6459870"/>
            <a:ext cx="119604" cy="119604"/>
          </a:xfrm>
          <a:prstGeom prst="ellipse">
            <a:avLst/>
          </a:prstGeom>
          <a:solidFill>
            <a:srgbClr val="3ECFA0"/>
          </a:solidFill>
          <a:ln w="13868">
            <a:solidFill>
              <a:srgbClr val="0B1A19"/>
            </a:solidFill>
            <a:prstDash val="solid"/>
          </a:ln>
        </p:spPr>
      </p:sp>
      <p:sp>
        <p:nvSpPr>
          <p:cNvPr id="6" name="Text 4"/>
          <p:cNvSpPr txBox="1"/>
          <p:nvPr/>
        </p:nvSpPr>
        <p:spPr>
          <a:xfrm>
            <a:off x="1005840" y="6400800"/>
            <a:ext cx="3291840" cy="237744"/>
          </a:xfrm>
          <a:prstGeom prst="rect">
            <a:avLst/>
          </a:prstGeom>
          <a:noFill/>
          <a:ln/>
        </p:spPr>
        <p:txBody>
          <a:bodyPr wrap="square" lIns="0" tIns="0" rIns="0" bIns="0" rtlCol="0" anchor="ctr"/>
          <a:lstStyle/>
          <a:p>
            <a:pPr algn="l" indent="0" marL="0">
              <a:buNone/>
            </a:pPr>
            <a:r>
              <a:rPr lang="en-US" sz="800" b="1" spc="4000" kern="0" dirty="0">
                <a:solidFill>
                  <a:srgbClr val="4F6B66"/>
                </a:solidFill>
                <a:latin typeface="Calibri" pitchFamily="34" charset="0"/>
                <a:ea typeface="Calibri" pitchFamily="34" charset="-122"/>
                <a:cs typeface="Calibri" pitchFamily="34" charset="-120"/>
              </a:rPr>
              <a:t>MERIDIAN · APPIFY SOFTWARES</a:t>
            </a:r>
            <a:endParaRPr lang="en-US" sz="800" dirty="0"/>
          </a:p>
        </p:txBody>
      </p:sp>
      <p:sp>
        <p:nvSpPr>
          <p:cNvPr id="7" name="Text 5"/>
          <p:cNvSpPr txBox="1"/>
          <p:nvPr/>
        </p:nvSpPr>
        <p:spPr>
          <a:xfrm>
            <a:off x="7434072" y="6400800"/>
            <a:ext cx="4114800" cy="237744"/>
          </a:xfrm>
          <a:prstGeom prst="rect">
            <a:avLst/>
          </a:prstGeom>
          <a:noFill/>
          <a:ln/>
        </p:spPr>
        <p:txBody>
          <a:bodyPr wrap="square" lIns="0" tIns="0" rIns="0" bIns="0" rtlCol="0" anchor="ctr"/>
          <a:lstStyle/>
          <a:p>
            <a:pPr algn="r" indent="0" marL="0">
              <a:buNone/>
            </a:pPr>
            <a:r>
              <a:rPr lang="en-US" sz="800" b="1" spc="4000" kern="0" dirty="0">
                <a:solidFill>
                  <a:srgbClr val="4F6B66"/>
                </a:solidFill>
                <a:latin typeface="Calibri" pitchFamily="34" charset="0"/>
                <a:ea typeface="Calibri" pitchFamily="34" charset="-122"/>
                <a:cs typeface="Calibri" pitchFamily="34" charset="-120"/>
              </a:rPr>
              <a:t>PROJECTIONS ILLUSTRATIVE · 08 / 12</a:t>
            </a:r>
            <a:endParaRPr lang="en-US" sz="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286000"/>
          <a:ext cx="10908792" cy="914400"/>
        </p:xfrm>
        <a:graphic>
          <a:graphicData uri="http://schemas.openxmlformats.org/drawingml/2006/table">
            <a:tbl>
              <a:tblPr/>
              <a:tblGrid>
                <a:gridCol w="2286000"/>
                <a:gridCol w="2697480"/>
                <a:gridCol w="2697480"/>
                <a:gridCol w="3227832"/>
              </a:tblGrid>
              <a:tr h="512064">
                <a:tc>
                  <a:txBody>
                    <a:bodyPr/>
                    <a:lstStyle/>
                    <a:p>
                      <a:pPr indent="0" marL="0">
                        <a:buNone/>
                      </a:pPr>
                      <a:endParaRPr lang="en-US" sz="1200" dirty="0">
                        <a:latin typeface="Calibri" charset="0"/>
                        <a:ea typeface="Calibri" charset="0"/>
                        <a:cs typeface="Calibri" charset="0"/>
                      </a:endParaRPr>
                    </a:p>
                  </a:txBody>
                  <a:tcPr marL="128016" marR="128016" marT="54864" marB="54864">
                    <a:lnL w="25400" cap="flat" cmpd="sng" algn="ctr">
                      <a:solidFill>
                        <a:srgbClr val="EFF5F2"/>
                      </a:solidFill>
                      <a:prstDash val="solid"/>
                      <a:round/>
                      <a:headEnd type="none" w="med" len="med"/>
                      <a:tailEnd type="none" w="med" len="med"/>
                    </a:lnL>
                    <a:lnR w="25400" cap="flat" cmpd="sng" algn="ctr">
                      <a:solidFill>
                        <a:srgbClr val="EFF5F2"/>
                      </a:solidFill>
                      <a:prstDash val="solid"/>
                      <a:round/>
                      <a:headEnd type="none" w="med" len="med"/>
                      <a:tailEnd type="none" w="med" len="med"/>
                    </a:lnR>
                    <a:lnT w="25400" cap="flat" cmpd="sng" algn="ctr">
                      <a:solidFill>
                        <a:srgbClr val="EFF5F2"/>
                      </a:solidFill>
                      <a:prstDash val="solid"/>
                      <a:round/>
                      <a:headEnd type="none" w="med" len="med"/>
                      <a:tailEnd type="none" w="med" len="med"/>
                    </a:lnT>
                    <a:lnB w="25400" cap="flat" cmpd="sng" algn="ctr">
                      <a:solidFill>
                        <a:srgbClr val="EFF5F2"/>
                      </a:solidFill>
                      <a:prstDash val="solid"/>
                      <a:round/>
                      <a:headEnd type="none" w="med" len="med"/>
                      <a:tailEnd type="none" w="med" len="med"/>
                    </a:lnB>
                    <a:solidFill>
                      <a:srgbClr val="EFF5F2"/>
                    </a:solidFill>
                  </a:tcPr>
                </a:tc>
                <a:tc>
                  <a:txBody>
                    <a:bodyPr/>
                    <a:lstStyle/>
                    <a:p>
                      <a:pPr algn="l" indent="0" marL="0">
                        <a:buNone/>
                      </a:pPr>
                      <a:r>
                        <a:rPr lang="en-US" sz="1250" b="1" dirty="0">
                          <a:solidFill>
                            <a:srgbClr val="F2F7F4"/>
                          </a:solidFill>
                          <a:latin typeface="Calibri" pitchFamily="34" charset="0"/>
                          <a:ea typeface="Calibri" pitchFamily="34" charset="-122"/>
                          <a:cs typeface="Calibri" pitchFamily="34" charset="-120"/>
                        </a:rPr>
                        <a:t>Banks / SWIFT</a:t>
                      </a:r>
                      <a:endParaRPr lang="en-US" sz="1250" dirty="0">
                        <a:latin typeface="Calibri" charset="0"/>
                        <a:ea typeface="Calibri" charset="0"/>
                        <a:cs typeface="Calibri" charset="0"/>
                      </a:endParaRPr>
                    </a:p>
                  </a:txBody>
                  <a:tcPr marL="128016" marR="128016" marT="54864" marB="54864" anchor="ctr">
                    <a:lnL w="25400" cap="flat" cmpd="sng" algn="ctr">
                      <a:solidFill>
                        <a:srgbClr val="EFF5F2"/>
                      </a:solidFill>
                      <a:prstDash val="solid"/>
                      <a:round/>
                      <a:headEnd type="none" w="med" len="med"/>
                      <a:tailEnd type="none" w="med" len="med"/>
                    </a:lnL>
                    <a:lnR w="25400" cap="flat" cmpd="sng" algn="ctr">
                      <a:solidFill>
                        <a:srgbClr val="EFF5F2"/>
                      </a:solidFill>
                      <a:prstDash val="solid"/>
                      <a:round/>
                      <a:headEnd type="none" w="med" len="med"/>
                      <a:tailEnd type="none" w="med" len="med"/>
                    </a:lnR>
                    <a:lnT w="25400" cap="flat" cmpd="sng" algn="ctr">
                      <a:solidFill>
                        <a:srgbClr val="EFF5F2"/>
                      </a:solidFill>
                      <a:prstDash val="solid"/>
                      <a:round/>
                      <a:headEnd type="none" w="med" len="med"/>
                      <a:tailEnd type="none" w="med" len="med"/>
                    </a:lnT>
                    <a:lnB w="25400" cap="flat" cmpd="sng" algn="ctr">
                      <a:solidFill>
                        <a:srgbClr val="EFF5F2"/>
                      </a:solidFill>
                      <a:prstDash val="solid"/>
                      <a:round/>
                      <a:headEnd type="none" w="med" len="med"/>
                      <a:tailEnd type="none" w="med" len="med"/>
                    </a:lnB>
                    <a:solidFill>
                      <a:srgbClr val="0F2624"/>
                    </a:solidFill>
                  </a:tcPr>
                </a:tc>
                <a:tc>
                  <a:txBody>
                    <a:bodyPr/>
                    <a:lstStyle/>
                    <a:p>
                      <a:pPr algn="l" indent="0" marL="0">
                        <a:buNone/>
                      </a:pPr>
                      <a:r>
                        <a:rPr lang="en-US" sz="1250" b="1" dirty="0">
                          <a:solidFill>
                            <a:srgbClr val="F2F7F4"/>
                          </a:solidFill>
                          <a:latin typeface="Calibri" pitchFamily="34" charset="0"/>
                          <a:ea typeface="Calibri" pitchFamily="34" charset="-122"/>
                          <a:cs typeface="Calibri" pitchFamily="34" charset="-120"/>
                        </a:rPr>
                        <a:t>Forex agent + cash</a:t>
                      </a:r>
                      <a:endParaRPr lang="en-US" sz="1250" dirty="0">
                        <a:latin typeface="Calibri" charset="0"/>
                        <a:ea typeface="Calibri" charset="0"/>
                        <a:cs typeface="Calibri" charset="0"/>
                      </a:endParaRPr>
                    </a:p>
                  </a:txBody>
                  <a:tcPr marL="128016" marR="128016" marT="54864" marB="54864" anchor="ctr">
                    <a:lnL w="25400" cap="flat" cmpd="sng" algn="ctr">
                      <a:solidFill>
                        <a:srgbClr val="EFF5F2"/>
                      </a:solidFill>
                      <a:prstDash val="solid"/>
                      <a:round/>
                      <a:headEnd type="none" w="med" len="med"/>
                      <a:tailEnd type="none" w="med" len="med"/>
                    </a:lnL>
                    <a:lnR w="25400" cap="flat" cmpd="sng" algn="ctr">
                      <a:solidFill>
                        <a:srgbClr val="EFF5F2"/>
                      </a:solidFill>
                      <a:prstDash val="solid"/>
                      <a:round/>
                      <a:headEnd type="none" w="med" len="med"/>
                      <a:tailEnd type="none" w="med" len="med"/>
                    </a:lnR>
                    <a:lnT w="25400" cap="flat" cmpd="sng" algn="ctr">
                      <a:solidFill>
                        <a:srgbClr val="EFF5F2"/>
                      </a:solidFill>
                      <a:prstDash val="solid"/>
                      <a:round/>
                      <a:headEnd type="none" w="med" len="med"/>
                      <a:tailEnd type="none" w="med" len="med"/>
                    </a:lnT>
                    <a:lnB w="25400" cap="flat" cmpd="sng" algn="ctr">
                      <a:solidFill>
                        <a:srgbClr val="EFF5F2"/>
                      </a:solidFill>
                      <a:prstDash val="solid"/>
                      <a:round/>
                      <a:headEnd type="none" w="med" len="med"/>
                      <a:tailEnd type="none" w="med" len="med"/>
                    </a:lnB>
                    <a:solidFill>
                      <a:srgbClr val="0F2624"/>
                    </a:solidFill>
                  </a:tcPr>
                </a:tc>
                <a:tc>
                  <a:txBody>
                    <a:bodyPr/>
                    <a:lstStyle/>
                    <a:p>
                      <a:pPr algn="l" indent="0" marL="0">
                        <a:buNone/>
                      </a:pPr>
                      <a:r>
                        <a:rPr lang="en-US" sz="1250" b="1" dirty="0">
                          <a:solidFill>
                            <a:srgbClr val="0F2624"/>
                          </a:solidFill>
                          <a:latin typeface="Calibri" pitchFamily="34" charset="0"/>
                          <a:ea typeface="Calibri" pitchFamily="34" charset="-122"/>
                          <a:cs typeface="Calibri" pitchFamily="34" charset="-120"/>
                        </a:rPr>
                        <a:t>Meridian</a:t>
                      </a:r>
                      <a:endParaRPr lang="en-US" sz="1250" dirty="0">
                        <a:latin typeface="Calibri" charset="0"/>
                        <a:ea typeface="Calibri" charset="0"/>
                        <a:cs typeface="Calibri" charset="0"/>
                      </a:endParaRPr>
                    </a:p>
                  </a:txBody>
                  <a:tcPr marL="128016" marR="128016" marT="54864" marB="54864" anchor="ctr">
                    <a:lnL w="25400" cap="flat" cmpd="sng" algn="ctr">
                      <a:solidFill>
                        <a:srgbClr val="EFF5F2"/>
                      </a:solidFill>
                      <a:prstDash val="solid"/>
                      <a:round/>
                      <a:headEnd type="none" w="med" len="med"/>
                      <a:tailEnd type="none" w="med" len="med"/>
                    </a:lnL>
                    <a:lnR w="25400" cap="flat" cmpd="sng" algn="ctr">
                      <a:solidFill>
                        <a:srgbClr val="EFF5F2"/>
                      </a:solidFill>
                      <a:prstDash val="solid"/>
                      <a:round/>
                      <a:headEnd type="none" w="med" len="med"/>
                      <a:tailEnd type="none" w="med" len="med"/>
                    </a:lnR>
                    <a:lnT w="25400" cap="flat" cmpd="sng" algn="ctr">
                      <a:solidFill>
                        <a:srgbClr val="EFF5F2"/>
                      </a:solidFill>
                      <a:prstDash val="solid"/>
                      <a:round/>
                      <a:headEnd type="none" w="med" len="med"/>
                      <a:tailEnd type="none" w="med" len="med"/>
                    </a:lnT>
                    <a:lnB w="25400" cap="flat" cmpd="sng" algn="ctr">
                      <a:solidFill>
                        <a:srgbClr val="EFF5F2"/>
                      </a:solidFill>
                      <a:prstDash val="solid"/>
                      <a:round/>
                      <a:headEnd type="none" w="med" len="med"/>
                      <a:tailEnd type="none" w="med" len="med"/>
                    </a:lnB>
                    <a:solidFill>
                      <a:srgbClr val="3ECFA0"/>
                    </a:solidFill>
                  </a:tcPr>
                </a:tc>
              </a:tr>
              <a:tr h="603504">
                <a:tc>
                  <a:txBody>
                    <a:bodyPr/>
                    <a:lstStyle/>
                    <a:p>
                      <a:pPr indent="0" marL="0">
                        <a:buNone/>
                      </a:pPr>
                      <a:r>
                        <a:rPr lang="en-US" sz="1100" b="1" dirty="0">
                          <a:solidFill>
                            <a:srgbClr val="4F6B66"/>
                          </a:solidFill>
                          <a:latin typeface="Calibri" pitchFamily="34" charset="0"/>
                          <a:ea typeface="Calibri" pitchFamily="34" charset="-122"/>
                          <a:cs typeface="Calibri" pitchFamily="34" charset="-120"/>
                        </a:rPr>
                        <a:t>All-in cost</a:t>
                      </a:r>
                      <a:endParaRPr lang="en-US" sz="1100" dirty="0">
                        <a:latin typeface="Calibri" charset="0"/>
                        <a:ea typeface="Calibri" charset="0"/>
                        <a:cs typeface="Calibri" charset="0"/>
                      </a:endParaRPr>
                    </a:p>
                  </a:txBody>
                  <a:tcPr marL="128016" marR="128016" marT="54864" marB="54864" anchor="ctr">
                    <a:lnL w="25400" cap="flat" cmpd="sng" algn="ctr">
                      <a:solidFill>
                        <a:srgbClr val="EFF5F2"/>
                      </a:solidFill>
                      <a:prstDash val="solid"/>
                      <a:round/>
                      <a:headEnd type="none" w="med" len="med"/>
                      <a:tailEnd type="none" w="med" len="med"/>
                    </a:lnL>
                    <a:lnR w="25400" cap="flat" cmpd="sng" algn="ctr">
                      <a:solidFill>
                        <a:srgbClr val="EFF5F2"/>
                      </a:solidFill>
                      <a:prstDash val="solid"/>
                      <a:round/>
                      <a:headEnd type="none" w="med" len="med"/>
                      <a:tailEnd type="none" w="med" len="med"/>
                    </a:lnR>
                    <a:lnT w="25400" cap="flat" cmpd="sng" algn="ctr">
                      <a:solidFill>
                        <a:srgbClr val="EFF5F2"/>
                      </a:solidFill>
                      <a:prstDash val="solid"/>
                      <a:round/>
                      <a:headEnd type="none" w="med" len="med"/>
                      <a:tailEnd type="none" w="med" len="med"/>
                    </a:lnT>
                    <a:lnB w="25400" cap="flat" cmpd="sng" algn="ctr">
                      <a:solidFill>
                        <a:srgbClr val="EFF5F2"/>
                      </a:solidFill>
                      <a:prstDash val="solid"/>
                      <a:round/>
                      <a:headEnd type="none" w="med" len="med"/>
                      <a:tailEnd type="none" w="med" len="med"/>
                    </a:lnB>
                    <a:solidFill>
                      <a:srgbClr val="EFF5F2"/>
                    </a:solidFill>
                  </a:tcPr>
                </a:tc>
                <a:tc>
                  <a:txBody>
                    <a:bodyPr/>
                    <a:lstStyle/>
                    <a:p>
                      <a:pPr indent="0" marL="0">
                        <a:buNone/>
                      </a:pPr>
                      <a:r>
                        <a:rPr lang="en-US" sz="1250" b="1" dirty="0">
                          <a:solidFill>
                            <a:srgbClr val="0F2624"/>
                          </a:solidFill>
                          <a:latin typeface="Calibri" pitchFamily="34" charset="0"/>
                          <a:ea typeface="Calibri" pitchFamily="34" charset="-122"/>
                          <a:cs typeface="Calibri" pitchFamily="34" charset="-120"/>
                        </a:rPr>
                        <a:t>8 to 10%</a:t>
                      </a:r>
                      <a:endParaRPr lang="en-US" sz="1250" dirty="0">
                        <a:latin typeface="Calibri" charset="0"/>
                        <a:ea typeface="Calibri" charset="0"/>
                        <a:cs typeface="Calibri" charset="0"/>
                      </a:endParaRPr>
                    </a:p>
                  </a:txBody>
                  <a:tcPr marL="128016" marR="128016" marT="54864" marB="54864" anchor="ctr">
                    <a:lnL w="25400" cap="flat" cmpd="sng" algn="ctr">
                      <a:solidFill>
                        <a:srgbClr val="EFF5F2"/>
                      </a:solidFill>
                      <a:prstDash val="solid"/>
                      <a:round/>
                      <a:headEnd type="none" w="med" len="med"/>
                      <a:tailEnd type="none" w="med" len="med"/>
                    </a:lnL>
                    <a:lnR w="25400" cap="flat" cmpd="sng" algn="ctr">
                      <a:solidFill>
                        <a:srgbClr val="EFF5F2"/>
                      </a:solidFill>
                      <a:prstDash val="solid"/>
                      <a:round/>
                      <a:headEnd type="none" w="med" len="med"/>
                      <a:tailEnd type="none" w="med" len="med"/>
                    </a:lnR>
                    <a:lnT w="25400" cap="flat" cmpd="sng" algn="ctr">
                      <a:solidFill>
                        <a:srgbClr val="EFF5F2"/>
                      </a:solidFill>
                      <a:prstDash val="solid"/>
                      <a:round/>
                      <a:headEnd type="none" w="med" len="med"/>
                      <a:tailEnd type="none" w="med" len="med"/>
                    </a:lnT>
                    <a:lnB w="25400" cap="flat" cmpd="sng" algn="ctr">
                      <a:solidFill>
                        <a:srgbClr val="EFF5F2"/>
                      </a:solidFill>
                      <a:prstDash val="solid"/>
                      <a:round/>
                      <a:headEnd type="none" w="med" len="med"/>
                      <a:tailEnd type="none" w="med" len="med"/>
                    </a:lnB>
                    <a:solidFill>
                      <a:srgbClr val="FFFFFF"/>
                    </a:solidFill>
                  </a:tcPr>
                </a:tc>
                <a:tc>
                  <a:txBody>
                    <a:bodyPr/>
                    <a:lstStyle/>
                    <a:p>
                      <a:pPr indent="0" marL="0">
                        <a:buNone/>
                      </a:pPr>
                      <a:r>
                        <a:rPr lang="en-US" sz="1250" b="1" dirty="0">
                          <a:solidFill>
                            <a:srgbClr val="0F2624"/>
                          </a:solidFill>
                          <a:latin typeface="Calibri" pitchFamily="34" charset="0"/>
                          <a:ea typeface="Calibri" pitchFamily="34" charset="-122"/>
                          <a:cs typeface="Calibri" pitchFamily="34" charset="-120"/>
                        </a:rPr>
                        <a:t>3 to 5%, plus risk</a:t>
                      </a:r>
                      <a:endParaRPr lang="en-US" sz="1250" dirty="0">
                        <a:latin typeface="Calibri" charset="0"/>
                        <a:ea typeface="Calibri" charset="0"/>
                        <a:cs typeface="Calibri" charset="0"/>
                      </a:endParaRPr>
                    </a:p>
                  </a:txBody>
                  <a:tcPr marL="128016" marR="128016" marT="54864" marB="54864" anchor="ctr">
                    <a:lnL w="25400" cap="flat" cmpd="sng" algn="ctr">
                      <a:solidFill>
                        <a:srgbClr val="EFF5F2"/>
                      </a:solidFill>
                      <a:prstDash val="solid"/>
                      <a:round/>
                      <a:headEnd type="none" w="med" len="med"/>
                      <a:tailEnd type="none" w="med" len="med"/>
                    </a:lnL>
                    <a:lnR w="25400" cap="flat" cmpd="sng" algn="ctr">
                      <a:solidFill>
                        <a:srgbClr val="EFF5F2"/>
                      </a:solidFill>
                      <a:prstDash val="solid"/>
                      <a:round/>
                      <a:headEnd type="none" w="med" len="med"/>
                      <a:tailEnd type="none" w="med" len="med"/>
                    </a:lnR>
                    <a:lnT w="25400" cap="flat" cmpd="sng" algn="ctr">
                      <a:solidFill>
                        <a:srgbClr val="EFF5F2"/>
                      </a:solidFill>
                      <a:prstDash val="solid"/>
                      <a:round/>
                      <a:headEnd type="none" w="med" len="med"/>
                      <a:tailEnd type="none" w="med" len="med"/>
                    </a:lnT>
                    <a:lnB w="25400" cap="flat" cmpd="sng" algn="ctr">
                      <a:solidFill>
                        <a:srgbClr val="EFF5F2"/>
                      </a:solidFill>
                      <a:prstDash val="solid"/>
                      <a:round/>
                      <a:headEnd type="none" w="med" len="med"/>
                      <a:tailEnd type="none" w="med" len="med"/>
                    </a:lnB>
                    <a:solidFill>
                      <a:srgbClr val="FFFFFF"/>
                    </a:solidFill>
                  </a:tcPr>
                </a:tc>
                <a:tc>
                  <a:txBody>
                    <a:bodyPr/>
                    <a:lstStyle/>
                    <a:p>
                      <a:pPr indent="0" marL="0">
                        <a:buNone/>
                      </a:pPr>
                      <a:r>
                        <a:rPr lang="en-US" sz="1200" b="1" dirty="0">
                          <a:solidFill>
                            <a:srgbClr val="0F2624"/>
                          </a:solidFill>
                          <a:latin typeface="Calibri" pitchFamily="34" charset="0"/>
                          <a:ea typeface="Calibri" pitchFamily="34" charset="-122"/>
                          <a:cs typeface="Calibri" pitchFamily="34" charset="-120"/>
                        </a:rPr>
                        <a:t>Partner fee + flat 1%</a:t>
                      </a:r>
                      <a:endParaRPr lang="en-US" sz="1200" dirty="0">
                        <a:latin typeface="Calibri" charset="0"/>
                        <a:ea typeface="Calibri" charset="0"/>
                        <a:cs typeface="Calibri" charset="0"/>
                      </a:endParaRPr>
                    </a:p>
                  </a:txBody>
                  <a:tcPr marL="128016" marR="128016" marT="54864" marB="54864" anchor="ctr">
                    <a:lnL w="25400" cap="flat" cmpd="sng" algn="ctr">
                      <a:solidFill>
                        <a:srgbClr val="EFF5F2"/>
                      </a:solidFill>
                      <a:prstDash val="solid"/>
                      <a:round/>
                      <a:headEnd type="none" w="med" len="med"/>
                      <a:tailEnd type="none" w="med" len="med"/>
                    </a:lnL>
                    <a:lnR w="25400" cap="flat" cmpd="sng" algn="ctr">
                      <a:solidFill>
                        <a:srgbClr val="EFF5F2"/>
                      </a:solidFill>
                      <a:prstDash val="solid"/>
                      <a:round/>
                      <a:headEnd type="none" w="med" len="med"/>
                      <a:tailEnd type="none" w="med" len="med"/>
                    </a:lnR>
                    <a:lnT w="25400" cap="flat" cmpd="sng" algn="ctr">
                      <a:solidFill>
                        <a:srgbClr val="EFF5F2"/>
                      </a:solidFill>
                      <a:prstDash val="solid"/>
                      <a:round/>
                      <a:headEnd type="none" w="med" len="med"/>
                      <a:tailEnd type="none" w="med" len="med"/>
                    </a:lnT>
                    <a:lnB w="25400" cap="flat" cmpd="sng" algn="ctr">
                      <a:solidFill>
                        <a:srgbClr val="EFF5F2"/>
                      </a:solidFill>
                      <a:prstDash val="solid"/>
                      <a:round/>
                      <a:headEnd type="none" w="med" len="med"/>
                      <a:tailEnd type="none" w="med" len="med"/>
                    </a:lnB>
                    <a:solidFill>
                      <a:srgbClr val="E6F7F0"/>
                    </a:solidFill>
                  </a:tcPr>
                </a:tc>
              </a:tr>
              <a:tr h="603504">
                <a:tc>
                  <a:txBody>
                    <a:bodyPr/>
                    <a:lstStyle/>
                    <a:p>
                      <a:pPr indent="0" marL="0">
                        <a:buNone/>
                      </a:pPr>
                      <a:r>
                        <a:rPr lang="en-US" sz="1100" b="1" dirty="0">
                          <a:solidFill>
                            <a:srgbClr val="4F6B66"/>
                          </a:solidFill>
                          <a:latin typeface="Calibri" pitchFamily="34" charset="0"/>
                          <a:ea typeface="Calibri" pitchFamily="34" charset="-122"/>
                          <a:cs typeface="Calibri" pitchFamily="34" charset="-120"/>
                        </a:rPr>
                        <a:t>Time to land</a:t>
                      </a:r>
                      <a:endParaRPr lang="en-US" sz="1100" dirty="0">
                        <a:latin typeface="Calibri" charset="0"/>
                        <a:ea typeface="Calibri" charset="0"/>
                        <a:cs typeface="Calibri" charset="0"/>
                      </a:endParaRPr>
                    </a:p>
                  </a:txBody>
                  <a:tcPr marL="128016" marR="128016" marT="54864" marB="54864" anchor="ctr">
                    <a:lnL w="25400" cap="flat" cmpd="sng" algn="ctr">
                      <a:solidFill>
                        <a:srgbClr val="EFF5F2"/>
                      </a:solidFill>
                      <a:prstDash val="solid"/>
                      <a:round/>
                      <a:headEnd type="none" w="med" len="med"/>
                      <a:tailEnd type="none" w="med" len="med"/>
                    </a:lnL>
                    <a:lnR w="25400" cap="flat" cmpd="sng" algn="ctr">
                      <a:solidFill>
                        <a:srgbClr val="EFF5F2"/>
                      </a:solidFill>
                      <a:prstDash val="solid"/>
                      <a:round/>
                      <a:headEnd type="none" w="med" len="med"/>
                      <a:tailEnd type="none" w="med" len="med"/>
                    </a:lnR>
                    <a:lnT w="25400" cap="flat" cmpd="sng" algn="ctr">
                      <a:solidFill>
                        <a:srgbClr val="EFF5F2"/>
                      </a:solidFill>
                      <a:prstDash val="solid"/>
                      <a:round/>
                      <a:headEnd type="none" w="med" len="med"/>
                      <a:tailEnd type="none" w="med" len="med"/>
                    </a:lnT>
                    <a:lnB w="25400" cap="flat" cmpd="sng" algn="ctr">
                      <a:solidFill>
                        <a:srgbClr val="EFF5F2"/>
                      </a:solidFill>
                      <a:prstDash val="solid"/>
                      <a:round/>
                      <a:headEnd type="none" w="med" len="med"/>
                      <a:tailEnd type="none" w="med" len="med"/>
                    </a:lnB>
                    <a:solidFill>
                      <a:srgbClr val="EFF5F2"/>
                    </a:solidFill>
                  </a:tcPr>
                </a:tc>
                <a:tc>
                  <a:txBody>
                    <a:bodyPr/>
                    <a:lstStyle/>
                    <a:p>
                      <a:pPr indent="0" marL="0">
                        <a:buNone/>
                      </a:pPr>
                      <a:r>
                        <a:rPr lang="en-US" sz="1250" b="1" dirty="0">
                          <a:solidFill>
                            <a:srgbClr val="0F2624"/>
                          </a:solidFill>
                          <a:latin typeface="Calibri" pitchFamily="34" charset="0"/>
                          <a:ea typeface="Calibri" pitchFamily="34" charset="-122"/>
                          <a:cs typeface="Calibri" pitchFamily="34" charset="-120"/>
                        </a:rPr>
                        <a:t>2 to 5 days</a:t>
                      </a:r>
                      <a:endParaRPr lang="en-US" sz="1250" dirty="0">
                        <a:latin typeface="Calibri" charset="0"/>
                        <a:ea typeface="Calibri" charset="0"/>
                        <a:cs typeface="Calibri" charset="0"/>
                      </a:endParaRPr>
                    </a:p>
                  </a:txBody>
                  <a:tcPr marL="128016" marR="128016" marT="54864" marB="54864" anchor="ctr">
                    <a:lnL w="25400" cap="flat" cmpd="sng" algn="ctr">
                      <a:solidFill>
                        <a:srgbClr val="EFF5F2"/>
                      </a:solidFill>
                      <a:prstDash val="solid"/>
                      <a:round/>
                      <a:headEnd type="none" w="med" len="med"/>
                      <a:tailEnd type="none" w="med" len="med"/>
                    </a:lnL>
                    <a:lnR w="25400" cap="flat" cmpd="sng" algn="ctr">
                      <a:solidFill>
                        <a:srgbClr val="EFF5F2"/>
                      </a:solidFill>
                      <a:prstDash val="solid"/>
                      <a:round/>
                      <a:headEnd type="none" w="med" len="med"/>
                      <a:tailEnd type="none" w="med" len="med"/>
                    </a:lnR>
                    <a:lnT w="25400" cap="flat" cmpd="sng" algn="ctr">
                      <a:solidFill>
                        <a:srgbClr val="EFF5F2"/>
                      </a:solidFill>
                      <a:prstDash val="solid"/>
                      <a:round/>
                      <a:headEnd type="none" w="med" len="med"/>
                      <a:tailEnd type="none" w="med" len="med"/>
                    </a:lnT>
                    <a:lnB w="25400" cap="flat" cmpd="sng" algn="ctr">
                      <a:solidFill>
                        <a:srgbClr val="EFF5F2"/>
                      </a:solidFill>
                      <a:prstDash val="solid"/>
                      <a:round/>
                      <a:headEnd type="none" w="med" len="med"/>
                      <a:tailEnd type="none" w="med" len="med"/>
                    </a:lnB>
                    <a:solidFill>
                      <a:srgbClr val="FFFFFF"/>
                    </a:solidFill>
                  </a:tcPr>
                </a:tc>
                <a:tc>
                  <a:txBody>
                    <a:bodyPr/>
                    <a:lstStyle/>
                    <a:p>
                      <a:pPr indent="0" marL="0">
                        <a:buNone/>
                      </a:pPr>
                      <a:r>
                        <a:rPr lang="en-US" sz="1250" b="1" dirty="0">
                          <a:solidFill>
                            <a:srgbClr val="0F2624"/>
                          </a:solidFill>
                          <a:latin typeface="Calibri" pitchFamily="34" charset="0"/>
                          <a:ea typeface="Calibri" pitchFamily="34" charset="-122"/>
                          <a:cs typeface="Calibri" pitchFamily="34" charset="-120"/>
                        </a:rPr>
                        <a:t>1 to 3 days</a:t>
                      </a:r>
                      <a:endParaRPr lang="en-US" sz="1250" dirty="0">
                        <a:latin typeface="Calibri" charset="0"/>
                        <a:ea typeface="Calibri" charset="0"/>
                        <a:cs typeface="Calibri" charset="0"/>
                      </a:endParaRPr>
                    </a:p>
                  </a:txBody>
                  <a:tcPr marL="128016" marR="128016" marT="54864" marB="54864" anchor="ctr">
                    <a:lnL w="25400" cap="flat" cmpd="sng" algn="ctr">
                      <a:solidFill>
                        <a:srgbClr val="EFF5F2"/>
                      </a:solidFill>
                      <a:prstDash val="solid"/>
                      <a:round/>
                      <a:headEnd type="none" w="med" len="med"/>
                      <a:tailEnd type="none" w="med" len="med"/>
                    </a:lnL>
                    <a:lnR w="25400" cap="flat" cmpd="sng" algn="ctr">
                      <a:solidFill>
                        <a:srgbClr val="EFF5F2"/>
                      </a:solidFill>
                      <a:prstDash val="solid"/>
                      <a:round/>
                      <a:headEnd type="none" w="med" len="med"/>
                      <a:tailEnd type="none" w="med" len="med"/>
                    </a:lnR>
                    <a:lnT w="25400" cap="flat" cmpd="sng" algn="ctr">
                      <a:solidFill>
                        <a:srgbClr val="EFF5F2"/>
                      </a:solidFill>
                      <a:prstDash val="solid"/>
                      <a:round/>
                      <a:headEnd type="none" w="med" len="med"/>
                      <a:tailEnd type="none" w="med" len="med"/>
                    </a:lnT>
                    <a:lnB w="25400" cap="flat" cmpd="sng" algn="ctr">
                      <a:solidFill>
                        <a:srgbClr val="EFF5F2"/>
                      </a:solidFill>
                      <a:prstDash val="solid"/>
                      <a:round/>
                      <a:headEnd type="none" w="med" len="med"/>
                      <a:tailEnd type="none" w="med" len="med"/>
                    </a:lnB>
                    <a:solidFill>
                      <a:srgbClr val="FFFFFF"/>
                    </a:solidFill>
                  </a:tcPr>
                </a:tc>
                <a:tc>
                  <a:txBody>
                    <a:bodyPr/>
                    <a:lstStyle/>
                    <a:p>
                      <a:pPr indent="0" marL="0">
                        <a:buNone/>
                      </a:pPr>
                      <a:r>
                        <a:rPr lang="en-US" sz="1200" b="1" dirty="0">
                          <a:solidFill>
                            <a:srgbClr val="0F2624"/>
                          </a:solidFill>
                          <a:latin typeface="Calibri" pitchFamily="34" charset="0"/>
                          <a:ea typeface="Calibri" pitchFamily="34" charset="-122"/>
                          <a:cs typeface="Calibri" pitchFamily="34" charset="-120"/>
                        </a:rPr>
                        <a:t>Minutes</a:t>
                      </a:r>
                      <a:endParaRPr lang="en-US" sz="1200" dirty="0">
                        <a:latin typeface="Calibri" charset="0"/>
                        <a:ea typeface="Calibri" charset="0"/>
                        <a:cs typeface="Calibri" charset="0"/>
                      </a:endParaRPr>
                    </a:p>
                  </a:txBody>
                  <a:tcPr marL="128016" marR="128016" marT="54864" marB="54864" anchor="ctr">
                    <a:lnL w="25400" cap="flat" cmpd="sng" algn="ctr">
                      <a:solidFill>
                        <a:srgbClr val="EFF5F2"/>
                      </a:solidFill>
                      <a:prstDash val="solid"/>
                      <a:round/>
                      <a:headEnd type="none" w="med" len="med"/>
                      <a:tailEnd type="none" w="med" len="med"/>
                    </a:lnL>
                    <a:lnR w="25400" cap="flat" cmpd="sng" algn="ctr">
                      <a:solidFill>
                        <a:srgbClr val="EFF5F2"/>
                      </a:solidFill>
                      <a:prstDash val="solid"/>
                      <a:round/>
                      <a:headEnd type="none" w="med" len="med"/>
                      <a:tailEnd type="none" w="med" len="med"/>
                    </a:lnR>
                    <a:lnT w="25400" cap="flat" cmpd="sng" algn="ctr">
                      <a:solidFill>
                        <a:srgbClr val="EFF5F2"/>
                      </a:solidFill>
                      <a:prstDash val="solid"/>
                      <a:round/>
                      <a:headEnd type="none" w="med" len="med"/>
                      <a:tailEnd type="none" w="med" len="med"/>
                    </a:lnT>
                    <a:lnB w="25400" cap="flat" cmpd="sng" algn="ctr">
                      <a:solidFill>
                        <a:srgbClr val="EFF5F2"/>
                      </a:solidFill>
                      <a:prstDash val="solid"/>
                      <a:round/>
                      <a:headEnd type="none" w="med" len="med"/>
                      <a:tailEnd type="none" w="med" len="med"/>
                    </a:lnB>
                    <a:solidFill>
                      <a:srgbClr val="E6F7F0"/>
                    </a:solidFill>
                  </a:tcPr>
                </a:tc>
              </a:tr>
              <a:tr h="603504">
                <a:tc>
                  <a:txBody>
                    <a:bodyPr/>
                    <a:lstStyle/>
                    <a:p>
                      <a:pPr indent="0" marL="0">
                        <a:buNone/>
                      </a:pPr>
                      <a:r>
                        <a:rPr lang="en-US" sz="1100" b="1" dirty="0">
                          <a:solidFill>
                            <a:srgbClr val="4F6B66"/>
                          </a:solidFill>
                          <a:latin typeface="Calibri" pitchFamily="34" charset="0"/>
                          <a:ea typeface="Calibri" pitchFamily="34" charset="-122"/>
                          <a:cs typeface="Calibri" pitchFamily="34" charset="-120"/>
                        </a:rPr>
                        <a:t>Built for trade</a:t>
                      </a:r>
                      <a:endParaRPr lang="en-US" sz="1100" dirty="0">
                        <a:latin typeface="Calibri" charset="0"/>
                        <a:ea typeface="Calibri" charset="0"/>
                        <a:cs typeface="Calibri" charset="0"/>
                      </a:endParaRPr>
                    </a:p>
                  </a:txBody>
                  <a:tcPr marL="128016" marR="128016" marT="54864" marB="54864" anchor="ctr">
                    <a:lnL w="25400" cap="flat" cmpd="sng" algn="ctr">
                      <a:solidFill>
                        <a:srgbClr val="EFF5F2"/>
                      </a:solidFill>
                      <a:prstDash val="solid"/>
                      <a:round/>
                      <a:headEnd type="none" w="med" len="med"/>
                      <a:tailEnd type="none" w="med" len="med"/>
                    </a:lnL>
                    <a:lnR w="25400" cap="flat" cmpd="sng" algn="ctr">
                      <a:solidFill>
                        <a:srgbClr val="EFF5F2"/>
                      </a:solidFill>
                      <a:prstDash val="solid"/>
                      <a:round/>
                      <a:headEnd type="none" w="med" len="med"/>
                      <a:tailEnd type="none" w="med" len="med"/>
                    </a:lnR>
                    <a:lnT w="25400" cap="flat" cmpd="sng" algn="ctr">
                      <a:solidFill>
                        <a:srgbClr val="EFF5F2"/>
                      </a:solidFill>
                      <a:prstDash val="solid"/>
                      <a:round/>
                      <a:headEnd type="none" w="med" len="med"/>
                      <a:tailEnd type="none" w="med" len="med"/>
                    </a:lnT>
                    <a:lnB w="25400" cap="flat" cmpd="sng" algn="ctr">
                      <a:solidFill>
                        <a:srgbClr val="EFF5F2"/>
                      </a:solidFill>
                      <a:prstDash val="solid"/>
                      <a:round/>
                      <a:headEnd type="none" w="med" len="med"/>
                      <a:tailEnd type="none" w="med" len="med"/>
                    </a:lnB>
                    <a:solidFill>
                      <a:srgbClr val="EFF5F2"/>
                    </a:solidFill>
                  </a:tcPr>
                </a:tc>
                <a:tc>
                  <a:txBody>
                    <a:bodyPr/>
                    <a:lstStyle/>
                    <a:p>
                      <a:pPr indent="0" marL="0">
                        <a:buNone/>
                      </a:pPr>
                      <a:r>
                        <a:rPr lang="en-US" sz="1250" b="1" dirty="0">
                          <a:solidFill>
                            <a:srgbClr val="0F2624"/>
                          </a:solidFill>
                          <a:latin typeface="Calibri" pitchFamily="34" charset="0"/>
                          <a:ea typeface="Calibri" pitchFamily="34" charset="-122"/>
                          <a:cs typeface="Calibri" pitchFamily="34" charset="-120"/>
                        </a:rPr>
                        <a:t>Weeks of onboarding</a:t>
                      </a:r>
                      <a:endParaRPr lang="en-US" sz="1250" dirty="0">
                        <a:latin typeface="Calibri" charset="0"/>
                        <a:ea typeface="Calibri" charset="0"/>
                        <a:cs typeface="Calibri" charset="0"/>
                      </a:endParaRPr>
                    </a:p>
                  </a:txBody>
                  <a:tcPr marL="128016" marR="128016" marT="54864" marB="54864" anchor="ctr">
                    <a:lnL w="25400" cap="flat" cmpd="sng" algn="ctr">
                      <a:solidFill>
                        <a:srgbClr val="EFF5F2"/>
                      </a:solidFill>
                      <a:prstDash val="solid"/>
                      <a:round/>
                      <a:headEnd type="none" w="med" len="med"/>
                      <a:tailEnd type="none" w="med" len="med"/>
                    </a:lnL>
                    <a:lnR w="25400" cap="flat" cmpd="sng" algn="ctr">
                      <a:solidFill>
                        <a:srgbClr val="EFF5F2"/>
                      </a:solidFill>
                      <a:prstDash val="solid"/>
                      <a:round/>
                      <a:headEnd type="none" w="med" len="med"/>
                      <a:tailEnd type="none" w="med" len="med"/>
                    </a:lnR>
                    <a:lnT w="25400" cap="flat" cmpd="sng" algn="ctr">
                      <a:solidFill>
                        <a:srgbClr val="EFF5F2"/>
                      </a:solidFill>
                      <a:prstDash val="solid"/>
                      <a:round/>
                      <a:headEnd type="none" w="med" len="med"/>
                      <a:tailEnd type="none" w="med" len="med"/>
                    </a:lnT>
                    <a:lnB w="25400" cap="flat" cmpd="sng" algn="ctr">
                      <a:solidFill>
                        <a:srgbClr val="EFF5F2"/>
                      </a:solidFill>
                      <a:prstDash val="solid"/>
                      <a:round/>
                      <a:headEnd type="none" w="med" len="med"/>
                      <a:tailEnd type="none" w="med" len="med"/>
                    </a:lnB>
                    <a:solidFill>
                      <a:srgbClr val="FFFFFF"/>
                    </a:solidFill>
                  </a:tcPr>
                </a:tc>
                <a:tc>
                  <a:txBody>
                    <a:bodyPr/>
                    <a:lstStyle/>
                    <a:p>
                      <a:pPr indent="0" marL="0">
                        <a:buNone/>
                      </a:pPr>
                      <a:r>
                        <a:rPr lang="en-US" sz="1250" b="1" dirty="0">
                          <a:solidFill>
                            <a:srgbClr val="0F2624"/>
                          </a:solidFill>
                          <a:latin typeface="Calibri" pitchFamily="34" charset="0"/>
                          <a:ea typeface="Calibri" pitchFamily="34" charset="-122"/>
                          <a:cs typeface="Calibri" pitchFamily="34" charset="-120"/>
                        </a:rPr>
                        <a:t>No record at all</a:t>
                      </a:r>
                      <a:endParaRPr lang="en-US" sz="1250" dirty="0">
                        <a:latin typeface="Calibri" charset="0"/>
                        <a:ea typeface="Calibri" charset="0"/>
                        <a:cs typeface="Calibri" charset="0"/>
                      </a:endParaRPr>
                    </a:p>
                  </a:txBody>
                  <a:tcPr marL="128016" marR="128016" marT="54864" marB="54864" anchor="ctr">
                    <a:lnL w="25400" cap="flat" cmpd="sng" algn="ctr">
                      <a:solidFill>
                        <a:srgbClr val="EFF5F2"/>
                      </a:solidFill>
                      <a:prstDash val="solid"/>
                      <a:round/>
                      <a:headEnd type="none" w="med" len="med"/>
                      <a:tailEnd type="none" w="med" len="med"/>
                    </a:lnL>
                    <a:lnR w="25400" cap="flat" cmpd="sng" algn="ctr">
                      <a:solidFill>
                        <a:srgbClr val="EFF5F2"/>
                      </a:solidFill>
                      <a:prstDash val="solid"/>
                      <a:round/>
                      <a:headEnd type="none" w="med" len="med"/>
                      <a:tailEnd type="none" w="med" len="med"/>
                    </a:lnR>
                    <a:lnT w="25400" cap="flat" cmpd="sng" algn="ctr">
                      <a:solidFill>
                        <a:srgbClr val="EFF5F2"/>
                      </a:solidFill>
                      <a:prstDash val="solid"/>
                      <a:round/>
                      <a:headEnd type="none" w="med" len="med"/>
                      <a:tailEnd type="none" w="med" len="med"/>
                    </a:lnT>
                    <a:lnB w="25400" cap="flat" cmpd="sng" algn="ctr">
                      <a:solidFill>
                        <a:srgbClr val="EFF5F2"/>
                      </a:solidFill>
                      <a:prstDash val="solid"/>
                      <a:round/>
                      <a:headEnd type="none" w="med" len="med"/>
                      <a:tailEnd type="none" w="med" len="med"/>
                    </a:lnB>
                    <a:solidFill>
                      <a:srgbClr val="FFFFFF"/>
                    </a:solidFill>
                  </a:tcPr>
                </a:tc>
                <a:tc>
                  <a:txBody>
                    <a:bodyPr/>
                    <a:lstStyle/>
                    <a:p>
                      <a:pPr indent="0" marL="0">
                        <a:buNone/>
                      </a:pPr>
                      <a:r>
                        <a:rPr lang="en-US" sz="1200" b="1" dirty="0">
                          <a:solidFill>
                            <a:srgbClr val="0F2624"/>
                          </a:solidFill>
                          <a:latin typeface="Calibri" pitchFamily="34" charset="0"/>
                          <a:ea typeface="Calibri" pitchFamily="34" charset="-122"/>
                          <a:cs typeface="Calibri" pitchFamily="34" charset="-120"/>
                        </a:rPr>
                        <a:t>Trade docs attached, KYB in a day</a:t>
                      </a:r>
                      <a:endParaRPr lang="en-US" sz="1200" dirty="0">
                        <a:latin typeface="Calibri" charset="0"/>
                        <a:ea typeface="Calibri" charset="0"/>
                        <a:cs typeface="Calibri" charset="0"/>
                      </a:endParaRPr>
                    </a:p>
                  </a:txBody>
                  <a:tcPr marL="128016" marR="128016" marT="54864" marB="54864" anchor="ctr">
                    <a:lnL w="25400" cap="flat" cmpd="sng" algn="ctr">
                      <a:solidFill>
                        <a:srgbClr val="EFF5F2"/>
                      </a:solidFill>
                      <a:prstDash val="solid"/>
                      <a:round/>
                      <a:headEnd type="none" w="med" len="med"/>
                      <a:tailEnd type="none" w="med" len="med"/>
                    </a:lnL>
                    <a:lnR w="25400" cap="flat" cmpd="sng" algn="ctr">
                      <a:solidFill>
                        <a:srgbClr val="EFF5F2"/>
                      </a:solidFill>
                      <a:prstDash val="solid"/>
                      <a:round/>
                      <a:headEnd type="none" w="med" len="med"/>
                      <a:tailEnd type="none" w="med" len="med"/>
                    </a:lnR>
                    <a:lnT w="25400" cap="flat" cmpd="sng" algn="ctr">
                      <a:solidFill>
                        <a:srgbClr val="EFF5F2"/>
                      </a:solidFill>
                      <a:prstDash val="solid"/>
                      <a:round/>
                      <a:headEnd type="none" w="med" len="med"/>
                      <a:tailEnd type="none" w="med" len="med"/>
                    </a:lnT>
                    <a:lnB w="25400" cap="flat" cmpd="sng" algn="ctr">
                      <a:solidFill>
                        <a:srgbClr val="EFF5F2"/>
                      </a:solidFill>
                      <a:prstDash val="solid"/>
                      <a:round/>
                      <a:headEnd type="none" w="med" len="med"/>
                      <a:tailEnd type="none" w="med" len="med"/>
                    </a:lnB>
                    <a:solidFill>
                      <a:srgbClr val="E6F7F0"/>
                    </a:solidFill>
                  </a:tcPr>
                </a:tc>
              </a:tr>
            </a:tbl>
          </a:graphicData>
        </a:graphic>
      </p:graphicFrame>
      <p:sp>
        <p:nvSpPr>
          <p:cNvPr id="9" name="Shape 6"/>
          <p:cNvSpPr/>
          <p:nvPr/>
        </p:nvSpPr>
        <p:spPr>
          <a:xfrm>
            <a:off x="640080" y="5212080"/>
            <a:ext cx="603504" cy="603504"/>
          </a:xfrm>
          <a:prstGeom prst="ellipse">
            <a:avLst/>
          </a:prstGeom>
          <a:solidFill>
            <a:srgbClr val="FFFFFF"/>
          </a:solidFill>
          <a:ln w="12700">
            <a:solidFill>
              <a:srgbClr val="D7E4DF"/>
            </a:solidFill>
            <a:prstDash val="solid"/>
          </a:ln>
        </p:spPr>
      </p:sp>
      <p:pic>
        <p:nvPicPr>
          <p:cNvPr id="10" name="Image 0" descr="preencoded.png">    </p:cNvPr>
          <p:cNvPicPr>
            <a:picLocks noChangeAspect="1"/>
          </p:cNvPicPr>
          <p:nvPr/>
        </p:nvPicPr>
        <p:blipFill>
          <a:blip r:embed="rId1"/>
          <a:stretch>
            <a:fillRect/>
          </a:stretch>
        </p:blipFill>
        <p:spPr>
          <a:xfrm>
            <a:off x="795482" y="5367482"/>
            <a:ext cx="292699" cy="292699"/>
          </a:xfrm>
          <a:prstGeom prst="rect">
            <a:avLst/>
          </a:prstGeom>
        </p:spPr>
      </p:pic>
      <p:sp>
        <p:nvSpPr>
          <p:cNvPr id="11" name="Text 7"/>
          <p:cNvSpPr txBox="1"/>
          <p:nvPr/>
        </p:nvSpPr>
        <p:spPr>
          <a:xfrm>
            <a:off x="1481328" y="5248656"/>
            <a:ext cx="10067544" cy="548640"/>
          </a:xfrm>
          <a:prstGeom prst="rect">
            <a:avLst/>
          </a:prstGeom>
          <a:noFill/>
          <a:ln/>
        </p:spPr>
        <p:txBody>
          <a:bodyPr wrap="square" lIns="0" tIns="0" rIns="0" bIns="0" rtlCol="0" anchor="ctr"/>
          <a:lstStyle/>
          <a:p>
            <a:pPr indent="0" marL="0">
              <a:lnSpc>
                <a:spcPct val="120000"/>
              </a:lnSpc>
              <a:buNone/>
            </a:pPr>
            <a:r>
              <a:rPr lang="en-US" sz="1400" b="1" dirty="0">
                <a:solidFill>
                  <a:srgbClr val="0F2624"/>
                </a:solidFill>
                <a:latin typeface="Calibri" pitchFamily="34" charset="0"/>
                <a:ea typeface="Calibri" pitchFamily="34" charset="-122"/>
                <a:cs typeface="Calibri" pitchFamily="34" charset="-120"/>
              </a:rPr>
              <a:t>Moat forming: </a:t>
            </a:r>
            <a:pPr indent="0" marL="0">
              <a:lnSpc>
                <a:spcPct val="120000"/>
              </a:lnSpc>
              <a:buNone/>
            </a:pPr>
            <a:r>
              <a:rPr lang="en-US" sz="1400" b="1" dirty="0">
                <a:solidFill>
                  <a:srgbClr val="4F6B66"/>
                </a:solidFill>
                <a:latin typeface="Calibri" pitchFamily="34" charset="0"/>
                <a:ea typeface="Calibri" pitchFamily="34" charset="-122"/>
                <a:cs typeface="Calibri" pitchFamily="34" charset="-120"/>
              </a:rPr>
              <a:t>every settled payment trains our compliance engine and our corridor routing. A copycat starts from zero.</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F5F2"/>
        </a:solidFill>
      </p:bgPr>
    </p:bg>
    <p:spTree>
      <p:nvGrpSpPr>
        <p:cNvPr id="1" name=""/>
        <p:cNvGrpSpPr/>
        <p:nvPr/>
      </p:nvGrpSpPr>
      <p:grpSpPr>
        <a:xfrm>
          <a:off x="0" y="0"/>
          <a:ext cx="0" cy="0"/>
          <a:chOff x="0" y="0"/>
          <a:chExt cx="0" cy="0"/>
        </a:xfrm>
      </p:grpSpPr>
      <p:sp>
        <p:nvSpPr>
          <p:cNvPr id="2" name="Text 0"/>
          <p:cNvSpPr txBox="1"/>
          <p:nvPr/>
        </p:nvSpPr>
        <p:spPr>
          <a:xfrm>
            <a:off x="640080" y="512064"/>
            <a:ext cx="10908792" cy="274320"/>
          </a:xfrm>
          <a:prstGeom prst="rect">
            <a:avLst/>
          </a:prstGeom>
          <a:noFill/>
          <a:ln/>
        </p:spPr>
        <p:txBody>
          <a:bodyPr wrap="square" lIns="0" tIns="0" rIns="0" bIns="0" rtlCol="0" anchor="ctr"/>
          <a:lstStyle/>
          <a:p>
            <a:pPr algn="l" indent="0" marL="0">
              <a:buNone/>
            </a:pPr>
            <a:r>
              <a:rPr lang="en-US" sz="1100" b="1" spc="6000" kern="0" dirty="0">
                <a:solidFill>
                  <a:srgbClr val="4F6B66"/>
                </a:solidFill>
                <a:latin typeface="Calibri" pitchFamily="34" charset="0"/>
                <a:ea typeface="Calibri" pitchFamily="34" charset="-122"/>
                <a:cs typeface="Calibri" pitchFamily="34" charset="-120"/>
              </a:rPr>
              <a:t>09 · GO-TO-MARKET</a:t>
            </a:r>
            <a:endParaRPr lang="en-US" sz="1100" dirty="0"/>
          </a:p>
        </p:txBody>
      </p:sp>
      <p:sp>
        <p:nvSpPr>
          <p:cNvPr id="3" name="Text 1"/>
          <p:cNvSpPr txBox="1"/>
          <p:nvPr/>
        </p:nvSpPr>
        <p:spPr>
          <a:xfrm>
            <a:off x="640080" y="868680"/>
            <a:ext cx="10908792" cy="1234440"/>
          </a:xfrm>
          <a:prstGeom prst="rect">
            <a:avLst/>
          </a:prstGeom>
          <a:noFill/>
          <a:ln/>
        </p:spPr>
        <p:txBody>
          <a:bodyPr wrap="square" lIns="0" tIns="0" rIns="0" bIns="0" rtlCol="0" anchor="t"/>
          <a:lstStyle/>
          <a:p>
            <a:pPr indent="0" marL="0">
              <a:lnSpc>
                <a:spcPct val="104000"/>
              </a:lnSpc>
              <a:buNone/>
            </a:pPr>
            <a:r>
              <a:rPr lang="en-US" sz="3000" b="1" dirty="0">
                <a:solidFill>
                  <a:srgbClr val="0F2624"/>
                </a:solidFill>
                <a:latin typeface="Calibri" pitchFamily="34" charset="0"/>
                <a:ea typeface="Calibri" pitchFamily="34" charset="-122"/>
                <a:cs typeface="Calibri" pitchFamily="34" charset="-120"/>
              </a:rPr>
              <a:t>Four pilots first, then the referrals they already offered.</a:t>
            </a:r>
            <a:endParaRPr lang="en-US" sz="3000" dirty="0"/>
          </a:p>
        </p:txBody>
      </p:sp>
      <p:sp>
        <p:nvSpPr>
          <p:cNvPr id="4" name="Shape 2"/>
          <p:cNvSpPr/>
          <p:nvPr/>
        </p:nvSpPr>
        <p:spPr>
          <a:xfrm>
            <a:off x="640080" y="6382512"/>
            <a:ext cx="274320" cy="274320"/>
          </a:xfrm>
          <a:prstGeom prst="roundRect">
            <a:avLst>
              <a:gd name="adj" fmla="val 21800"/>
            </a:avLst>
          </a:prstGeom>
          <a:solidFill>
            <a:srgbClr val="3ECFA0"/>
          </a:solidFill>
          <a:ln w="12700">
            <a:solidFill>
              <a:srgbClr val="3ECFA0"/>
            </a:solidFill>
            <a:prstDash val="solid"/>
          </a:ln>
        </p:spPr>
      </p:sp>
      <p:sp>
        <p:nvSpPr>
          <p:cNvPr id="5" name="Shape 3"/>
          <p:cNvSpPr/>
          <p:nvPr/>
        </p:nvSpPr>
        <p:spPr>
          <a:xfrm>
            <a:off x="717438" y="6459870"/>
            <a:ext cx="119604" cy="119604"/>
          </a:xfrm>
          <a:prstGeom prst="ellipse">
            <a:avLst/>
          </a:prstGeom>
          <a:solidFill>
            <a:srgbClr val="3ECFA0"/>
          </a:solidFill>
          <a:ln w="13868">
            <a:solidFill>
              <a:srgbClr val="0B1A19"/>
            </a:solidFill>
            <a:prstDash val="solid"/>
          </a:ln>
        </p:spPr>
      </p:sp>
      <p:sp>
        <p:nvSpPr>
          <p:cNvPr id="6" name="Text 4"/>
          <p:cNvSpPr txBox="1"/>
          <p:nvPr/>
        </p:nvSpPr>
        <p:spPr>
          <a:xfrm>
            <a:off x="1005840" y="6400800"/>
            <a:ext cx="3291840" cy="237744"/>
          </a:xfrm>
          <a:prstGeom prst="rect">
            <a:avLst/>
          </a:prstGeom>
          <a:noFill/>
          <a:ln/>
        </p:spPr>
        <p:txBody>
          <a:bodyPr wrap="square" lIns="0" tIns="0" rIns="0" bIns="0" rtlCol="0" anchor="ctr"/>
          <a:lstStyle/>
          <a:p>
            <a:pPr algn="l" indent="0" marL="0">
              <a:buNone/>
            </a:pPr>
            <a:r>
              <a:rPr lang="en-US" sz="800" b="1" spc="4000" kern="0" dirty="0">
                <a:solidFill>
                  <a:srgbClr val="4F6B66"/>
                </a:solidFill>
                <a:latin typeface="Calibri" pitchFamily="34" charset="0"/>
                <a:ea typeface="Calibri" pitchFamily="34" charset="-122"/>
                <a:cs typeface="Calibri" pitchFamily="34" charset="-120"/>
              </a:rPr>
              <a:t>MERIDIAN · APPIFY SOFTWARES</a:t>
            </a:r>
            <a:endParaRPr lang="en-US" sz="800" dirty="0"/>
          </a:p>
        </p:txBody>
      </p:sp>
      <p:sp>
        <p:nvSpPr>
          <p:cNvPr id="7" name="Text 5"/>
          <p:cNvSpPr txBox="1"/>
          <p:nvPr/>
        </p:nvSpPr>
        <p:spPr>
          <a:xfrm>
            <a:off x="7434072" y="6400800"/>
            <a:ext cx="4114800" cy="237744"/>
          </a:xfrm>
          <a:prstGeom prst="rect">
            <a:avLst/>
          </a:prstGeom>
          <a:noFill/>
          <a:ln/>
        </p:spPr>
        <p:txBody>
          <a:bodyPr wrap="square" lIns="0" tIns="0" rIns="0" bIns="0" rtlCol="0" anchor="ctr"/>
          <a:lstStyle/>
          <a:p>
            <a:pPr algn="r" indent="0" marL="0">
              <a:buNone/>
            </a:pPr>
            <a:r>
              <a:rPr lang="en-US" sz="800" b="1" spc="4000" kern="0" dirty="0">
                <a:solidFill>
                  <a:srgbClr val="4F6B66"/>
                </a:solidFill>
                <a:latin typeface="Calibri" pitchFamily="34" charset="0"/>
                <a:ea typeface="Calibri" pitchFamily="34" charset="-122"/>
                <a:cs typeface="Calibri" pitchFamily="34" charset="-120"/>
              </a:rPr>
              <a:t>PROJECTIONS ILLUSTRATIVE · 09 / 12</a:t>
            </a:r>
            <a:endParaRPr lang="en-US" sz="800" dirty="0"/>
          </a:p>
        </p:txBody>
      </p:sp>
      <p:sp>
        <p:nvSpPr>
          <p:cNvPr id="8" name="Shape 6"/>
          <p:cNvSpPr/>
          <p:nvPr/>
        </p:nvSpPr>
        <p:spPr>
          <a:xfrm>
            <a:off x="640080" y="2395728"/>
            <a:ext cx="640080" cy="640080"/>
          </a:xfrm>
          <a:prstGeom prst="ellipse">
            <a:avLst/>
          </a:prstGeom>
          <a:solidFill>
            <a:srgbClr val="FFFFFF"/>
          </a:solidFill>
          <a:ln w="12700">
            <a:solidFill>
              <a:srgbClr val="D7E4DF"/>
            </a:solidFill>
            <a:prstDash val="solid"/>
          </a:ln>
        </p:spPr>
      </p:sp>
      <p:pic>
        <p:nvPicPr>
          <p:cNvPr id="9" name="Image 0" descr="preencoded.png">    </p:cNvPr>
          <p:cNvPicPr>
            <a:picLocks noChangeAspect="1"/>
          </p:cNvPicPr>
          <p:nvPr/>
        </p:nvPicPr>
        <p:blipFill>
          <a:blip r:embed="rId1"/>
          <a:stretch>
            <a:fillRect/>
          </a:stretch>
        </p:blipFill>
        <p:spPr>
          <a:xfrm>
            <a:off x="804901" y="2560549"/>
            <a:ext cx="310439" cy="310439"/>
          </a:xfrm>
          <a:prstGeom prst="rect">
            <a:avLst/>
          </a:prstGeom>
        </p:spPr>
      </p:pic>
      <p:sp>
        <p:nvSpPr>
          <p:cNvPr id="10" name="Shape 7"/>
          <p:cNvSpPr/>
          <p:nvPr/>
        </p:nvSpPr>
        <p:spPr>
          <a:xfrm>
            <a:off x="1536192" y="2423160"/>
            <a:ext cx="960120" cy="292608"/>
          </a:xfrm>
          <a:prstGeom prst="roundRect">
            <a:avLst>
              <a:gd name="adj" fmla="val 50000"/>
            </a:avLst>
          </a:prstGeom>
          <a:solidFill>
            <a:srgbClr val="0F2624"/>
          </a:solidFill>
          <a:ln w="12700">
            <a:solidFill>
              <a:srgbClr val="0F2624"/>
            </a:solidFill>
            <a:prstDash val="solid"/>
          </a:ln>
        </p:spPr>
      </p:sp>
      <p:sp>
        <p:nvSpPr>
          <p:cNvPr id="11" name="Text 8"/>
          <p:cNvSpPr txBox="1"/>
          <p:nvPr/>
        </p:nvSpPr>
        <p:spPr>
          <a:xfrm>
            <a:off x="1536192" y="2404872"/>
            <a:ext cx="960120" cy="292608"/>
          </a:xfrm>
          <a:prstGeom prst="rect">
            <a:avLst/>
          </a:prstGeom>
          <a:noFill/>
          <a:ln/>
        </p:spPr>
        <p:txBody>
          <a:bodyPr wrap="square" lIns="0" tIns="0" rIns="0" bIns="0" rtlCol="0" anchor="ctr"/>
          <a:lstStyle/>
          <a:p>
            <a:pPr indent="0" marL="0">
              <a:buNone/>
            </a:pPr>
            <a:r>
              <a:rPr lang="en-US" sz="850" b="1" dirty="0">
                <a:solidFill>
                  <a:srgbClr val="F2F7F4"/>
                </a:solidFill>
                <a:latin typeface="Calibri" pitchFamily="34" charset="0"/>
                <a:ea typeface="Calibri" pitchFamily="34" charset="-122"/>
                <a:cs typeface="Calibri" pitchFamily="34" charset="-120"/>
              </a:rPr>
              <a:t>NOW</a:t>
            </a:r>
            <a:endParaRPr lang="en-US" sz="850" dirty="0"/>
          </a:p>
        </p:txBody>
      </p:sp>
      <p:sp>
        <p:nvSpPr>
          <p:cNvPr id="12" name="Text 9"/>
          <p:cNvSpPr txBox="1"/>
          <p:nvPr/>
        </p:nvSpPr>
        <p:spPr>
          <a:xfrm>
            <a:off x="2651760" y="2377440"/>
            <a:ext cx="2697480" cy="329184"/>
          </a:xfrm>
          <a:prstGeom prst="rect">
            <a:avLst/>
          </a:prstGeom>
          <a:noFill/>
          <a:ln/>
        </p:spPr>
        <p:txBody>
          <a:bodyPr wrap="square" lIns="0" tIns="0" rIns="0" bIns="0" rtlCol="0" anchor="ctr"/>
          <a:lstStyle/>
          <a:p>
            <a:pPr algn="l" indent="0" marL="0">
              <a:buNone/>
            </a:pPr>
            <a:r>
              <a:rPr lang="en-US" sz="1550" b="1" dirty="0">
                <a:solidFill>
                  <a:srgbClr val="0F2624"/>
                </a:solidFill>
                <a:latin typeface="Calibri" pitchFamily="34" charset="0"/>
                <a:ea typeface="Calibri" pitchFamily="34" charset="-122"/>
                <a:cs typeface="Calibri" pitchFamily="34" charset="-120"/>
              </a:rPr>
              <a:t>Named pilots</a:t>
            </a:r>
            <a:endParaRPr lang="en-US" sz="1550" dirty="0"/>
          </a:p>
        </p:txBody>
      </p:sp>
      <p:sp>
        <p:nvSpPr>
          <p:cNvPr id="13" name="Text 10"/>
          <p:cNvSpPr txBox="1"/>
          <p:nvPr/>
        </p:nvSpPr>
        <p:spPr>
          <a:xfrm>
            <a:off x="2651760" y="2816352"/>
            <a:ext cx="4572000" cy="566928"/>
          </a:xfrm>
          <a:prstGeom prst="rect">
            <a:avLst/>
          </a:prstGeom>
          <a:noFill/>
          <a:ln/>
        </p:spPr>
        <p:txBody>
          <a:bodyPr wrap="square" lIns="0" tIns="0" rIns="0" bIns="0" rtlCol="0" anchor="t"/>
          <a:lstStyle/>
          <a:p>
            <a:pPr algn="l" indent="0" marL="0">
              <a:lnSpc>
                <a:spcPct val="120000"/>
              </a:lnSpc>
              <a:buNone/>
            </a:pPr>
            <a:r>
              <a:rPr lang="en-US" sz="1250" b="1" dirty="0">
                <a:solidFill>
                  <a:srgbClr val="4F6B66"/>
                </a:solidFill>
                <a:latin typeface="Calibri" pitchFamily="34" charset="0"/>
                <a:ea typeface="Calibri" pitchFamily="34" charset="-122"/>
                <a:cs typeface="Calibri" pitchFamily="34" charset="-120"/>
              </a:rPr>
              <a:t>The four businesses we interviewed, onboarded by hand and settled at small value first.</a:t>
            </a:r>
            <a:endParaRPr lang="en-US" sz="1250" dirty="0"/>
          </a:p>
        </p:txBody>
      </p:sp>
      <p:sp>
        <p:nvSpPr>
          <p:cNvPr id="14" name="Shape 11"/>
          <p:cNvSpPr/>
          <p:nvPr/>
        </p:nvSpPr>
        <p:spPr>
          <a:xfrm>
            <a:off x="5440680" y="2377440"/>
            <a:ext cx="1783080" cy="384048"/>
          </a:xfrm>
          <a:prstGeom prst="roundRect">
            <a:avLst>
              <a:gd name="adj" fmla="val 50000"/>
            </a:avLst>
          </a:prstGeom>
          <a:solidFill>
            <a:srgbClr val="3ECFA0"/>
          </a:solidFill>
          <a:ln w="12700">
            <a:solidFill>
              <a:srgbClr val="3ECFA0"/>
            </a:solidFill>
            <a:prstDash val="solid"/>
          </a:ln>
        </p:spPr>
      </p:sp>
      <p:sp>
        <p:nvSpPr>
          <p:cNvPr id="15" name="Text 12"/>
          <p:cNvSpPr txBox="1"/>
          <p:nvPr/>
        </p:nvSpPr>
        <p:spPr>
          <a:xfrm>
            <a:off x="5440680" y="2359152"/>
            <a:ext cx="1783080" cy="384048"/>
          </a:xfrm>
          <a:prstGeom prst="rect">
            <a:avLst/>
          </a:prstGeom>
          <a:noFill/>
          <a:ln/>
        </p:spPr>
        <p:txBody>
          <a:bodyPr wrap="square" lIns="0" tIns="0" rIns="0" bIns="0" rtlCol="0" anchor="ctr"/>
          <a:lstStyle/>
          <a:p>
            <a:pPr indent="0" marL="0">
              <a:buNone/>
            </a:pPr>
            <a:r>
              <a:rPr lang="en-US" sz="1000" b="1" dirty="0">
                <a:solidFill>
                  <a:srgbClr val="0F2624"/>
                </a:solidFill>
                <a:latin typeface="Calibri" pitchFamily="34" charset="0"/>
                <a:ea typeface="Calibri" pitchFamily="34" charset="-122"/>
                <a:cs typeface="Calibri" pitchFamily="34" charset="-120"/>
              </a:rPr>
              <a:t>4 pilots</a:t>
            </a:r>
            <a:endParaRPr lang="en-US" sz="1000" dirty="0"/>
          </a:p>
        </p:txBody>
      </p:sp>
      <p:sp>
        <p:nvSpPr>
          <p:cNvPr id="16" name="Shape 13"/>
          <p:cNvSpPr/>
          <p:nvPr/>
        </p:nvSpPr>
        <p:spPr>
          <a:xfrm>
            <a:off x="640080" y="3621024"/>
            <a:ext cx="640080" cy="640080"/>
          </a:xfrm>
          <a:prstGeom prst="ellipse">
            <a:avLst/>
          </a:prstGeom>
          <a:solidFill>
            <a:srgbClr val="FFFFFF"/>
          </a:solidFill>
          <a:ln w="12700">
            <a:solidFill>
              <a:srgbClr val="D7E4DF"/>
            </a:solidFill>
            <a:prstDash val="solid"/>
          </a:ln>
        </p:spPr>
      </p:sp>
      <p:pic>
        <p:nvPicPr>
          <p:cNvPr id="17" name="Image 1" descr="preencoded.png">    </p:cNvPr>
          <p:cNvPicPr>
            <a:picLocks noChangeAspect="1"/>
          </p:cNvPicPr>
          <p:nvPr/>
        </p:nvPicPr>
        <p:blipFill>
          <a:blip r:embed="rId2"/>
          <a:stretch>
            <a:fillRect/>
          </a:stretch>
        </p:blipFill>
        <p:spPr>
          <a:xfrm>
            <a:off x="804901" y="3785845"/>
            <a:ext cx="310439" cy="310439"/>
          </a:xfrm>
          <a:prstGeom prst="rect">
            <a:avLst/>
          </a:prstGeom>
        </p:spPr>
      </p:pic>
      <p:sp>
        <p:nvSpPr>
          <p:cNvPr id="18" name="Shape 14"/>
          <p:cNvSpPr/>
          <p:nvPr/>
        </p:nvSpPr>
        <p:spPr>
          <a:xfrm>
            <a:off x="1536192" y="3648456"/>
            <a:ext cx="960120" cy="292608"/>
          </a:xfrm>
          <a:prstGeom prst="roundRect">
            <a:avLst>
              <a:gd name="adj" fmla="val 50000"/>
            </a:avLst>
          </a:prstGeom>
          <a:solidFill>
            <a:srgbClr val="FFFFFF"/>
          </a:solidFill>
          <a:ln w="12700">
            <a:solidFill>
              <a:srgbClr val="D7E4DF"/>
            </a:solidFill>
            <a:prstDash val="solid"/>
          </a:ln>
        </p:spPr>
      </p:sp>
      <p:sp>
        <p:nvSpPr>
          <p:cNvPr id="19" name="Text 15"/>
          <p:cNvSpPr txBox="1"/>
          <p:nvPr/>
        </p:nvSpPr>
        <p:spPr>
          <a:xfrm>
            <a:off x="1536192" y="3630168"/>
            <a:ext cx="960120" cy="292608"/>
          </a:xfrm>
          <a:prstGeom prst="rect">
            <a:avLst/>
          </a:prstGeom>
          <a:noFill/>
          <a:ln/>
        </p:spPr>
        <p:txBody>
          <a:bodyPr wrap="square" lIns="0" tIns="0" rIns="0" bIns="0" rtlCol="0" anchor="ctr"/>
          <a:lstStyle/>
          <a:p>
            <a:pPr indent="0" marL="0">
              <a:buNone/>
            </a:pPr>
            <a:r>
              <a:rPr lang="en-US" sz="850" b="1" dirty="0">
                <a:solidFill>
                  <a:srgbClr val="4F6B66"/>
                </a:solidFill>
                <a:latin typeface="Calibri" pitchFamily="34" charset="0"/>
                <a:ea typeface="Calibri" pitchFamily="34" charset="-122"/>
                <a:cs typeface="Calibri" pitchFamily="34" charset="-120"/>
              </a:rPr>
              <a:t>MOTION</a:t>
            </a:r>
            <a:endParaRPr lang="en-US" sz="850" dirty="0"/>
          </a:p>
        </p:txBody>
      </p:sp>
      <p:sp>
        <p:nvSpPr>
          <p:cNvPr id="20" name="Text 16"/>
          <p:cNvSpPr txBox="1"/>
          <p:nvPr/>
        </p:nvSpPr>
        <p:spPr>
          <a:xfrm>
            <a:off x="2651760" y="3602736"/>
            <a:ext cx="2697480" cy="329184"/>
          </a:xfrm>
          <a:prstGeom prst="rect">
            <a:avLst/>
          </a:prstGeom>
          <a:noFill/>
          <a:ln/>
        </p:spPr>
        <p:txBody>
          <a:bodyPr wrap="square" lIns="0" tIns="0" rIns="0" bIns="0" rtlCol="0" anchor="ctr"/>
          <a:lstStyle/>
          <a:p>
            <a:pPr algn="l" indent="0" marL="0">
              <a:buNone/>
            </a:pPr>
            <a:r>
              <a:rPr lang="en-US" sz="1550" b="1" dirty="0">
                <a:solidFill>
                  <a:srgbClr val="0F2624"/>
                </a:solidFill>
                <a:latin typeface="Calibri" pitchFamily="34" charset="0"/>
                <a:ea typeface="Calibri" pitchFamily="34" charset="-122"/>
                <a:cs typeface="Calibri" pitchFamily="34" charset="-120"/>
              </a:rPr>
              <a:t>Referral loop</a:t>
            </a:r>
            <a:endParaRPr lang="en-US" sz="1550" dirty="0"/>
          </a:p>
        </p:txBody>
      </p:sp>
      <p:sp>
        <p:nvSpPr>
          <p:cNvPr id="21" name="Text 17"/>
          <p:cNvSpPr txBox="1"/>
          <p:nvPr/>
        </p:nvSpPr>
        <p:spPr>
          <a:xfrm>
            <a:off x="2651760" y="4041648"/>
            <a:ext cx="4572000" cy="566928"/>
          </a:xfrm>
          <a:prstGeom prst="rect">
            <a:avLst/>
          </a:prstGeom>
          <a:noFill/>
          <a:ln/>
        </p:spPr>
        <p:txBody>
          <a:bodyPr wrap="square" lIns="0" tIns="0" rIns="0" bIns="0" rtlCol="0" anchor="t"/>
          <a:lstStyle/>
          <a:p>
            <a:pPr algn="l" indent="0" marL="0">
              <a:lnSpc>
                <a:spcPct val="120000"/>
              </a:lnSpc>
              <a:buNone/>
            </a:pPr>
            <a:r>
              <a:rPr lang="en-US" sz="1250" b="1" dirty="0">
                <a:solidFill>
                  <a:srgbClr val="4F6B66"/>
                </a:solidFill>
                <a:latin typeface="Calibri" pitchFamily="34" charset="0"/>
                <a:ea typeface="Calibri" pitchFamily="34" charset="-122"/>
                <a:cs typeface="Calibri" pitchFamily="34" charset="-120"/>
              </a:rPr>
              <a:t>SMEs Chamber members and importer peers. A month of Meridian fees waived per introduction.</a:t>
            </a:r>
            <a:endParaRPr lang="en-US" sz="1250" dirty="0"/>
          </a:p>
        </p:txBody>
      </p:sp>
      <p:sp>
        <p:nvSpPr>
          <p:cNvPr id="22" name="Shape 18"/>
          <p:cNvSpPr/>
          <p:nvPr/>
        </p:nvSpPr>
        <p:spPr>
          <a:xfrm>
            <a:off x="5440680" y="3602736"/>
            <a:ext cx="1783080" cy="384048"/>
          </a:xfrm>
          <a:prstGeom prst="roundRect">
            <a:avLst>
              <a:gd name="adj" fmla="val 50000"/>
            </a:avLst>
          </a:prstGeom>
          <a:solidFill>
            <a:srgbClr val="FFFFFF"/>
          </a:solidFill>
          <a:ln w="12700">
            <a:solidFill>
              <a:srgbClr val="D7E4DF"/>
            </a:solidFill>
            <a:prstDash val="solid"/>
          </a:ln>
        </p:spPr>
      </p:sp>
      <p:sp>
        <p:nvSpPr>
          <p:cNvPr id="23" name="Text 19"/>
          <p:cNvSpPr txBox="1"/>
          <p:nvPr/>
        </p:nvSpPr>
        <p:spPr>
          <a:xfrm>
            <a:off x="5440680" y="3584448"/>
            <a:ext cx="1783080" cy="384048"/>
          </a:xfrm>
          <a:prstGeom prst="rect">
            <a:avLst/>
          </a:prstGeom>
          <a:noFill/>
          <a:ln/>
        </p:spPr>
        <p:txBody>
          <a:bodyPr wrap="square" lIns="0" tIns="0" rIns="0" bIns="0" rtlCol="0" anchor="ctr"/>
          <a:lstStyle/>
          <a:p>
            <a:pPr indent="0" marL="0">
              <a:buNone/>
            </a:pPr>
            <a:r>
              <a:rPr lang="en-US" sz="1000" b="1" dirty="0">
                <a:solidFill>
                  <a:srgbClr val="0F2624"/>
                </a:solidFill>
                <a:latin typeface="Calibri" pitchFamily="34" charset="0"/>
                <a:ea typeface="Calibri" pitchFamily="34" charset="-122"/>
                <a:cs typeface="Calibri" pitchFamily="34" charset="-120"/>
              </a:rPr>
              <a:t>6+ offered</a:t>
            </a:r>
            <a:endParaRPr lang="en-US" sz="1000" dirty="0"/>
          </a:p>
        </p:txBody>
      </p:sp>
      <p:sp>
        <p:nvSpPr>
          <p:cNvPr id="24" name="Shape 20"/>
          <p:cNvSpPr/>
          <p:nvPr/>
        </p:nvSpPr>
        <p:spPr>
          <a:xfrm>
            <a:off x="640080" y="4846320"/>
            <a:ext cx="640080" cy="640080"/>
          </a:xfrm>
          <a:prstGeom prst="ellipse">
            <a:avLst/>
          </a:prstGeom>
          <a:solidFill>
            <a:srgbClr val="FFFFFF"/>
          </a:solidFill>
          <a:ln w="12700">
            <a:solidFill>
              <a:srgbClr val="D7E4DF"/>
            </a:solidFill>
            <a:prstDash val="solid"/>
          </a:ln>
        </p:spPr>
      </p:sp>
      <p:pic>
        <p:nvPicPr>
          <p:cNvPr id="25" name="Image 2" descr="preencoded.png">    </p:cNvPr>
          <p:cNvPicPr>
            <a:picLocks noChangeAspect="1"/>
          </p:cNvPicPr>
          <p:nvPr/>
        </p:nvPicPr>
        <p:blipFill>
          <a:blip r:embed="rId3"/>
          <a:stretch>
            <a:fillRect/>
          </a:stretch>
        </p:blipFill>
        <p:spPr>
          <a:xfrm>
            <a:off x="804901" y="5011141"/>
            <a:ext cx="310439" cy="310439"/>
          </a:xfrm>
          <a:prstGeom prst="rect">
            <a:avLst/>
          </a:prstGeom>
        </p:spPr>
      </p:pic>
      <p:sp>
        <p:nvSpPr>
          <p:cNvPr id="26" name="Shape 21"/>
          <p:cNvSpPr/>
          <p:nvPr/>
        </p:nvSpPr>
        <p:spPr>
          <a:xfrm>
            <a:off x="1536192" y="4873752"/>
            <a:ext cx="960120" cy="292608"/>
          </a:xfrm>
          <a:prstGeom prst="roundRect">
            <a:avLst>
              <a:gd name="adj" fmla="val 50000"/>
            </a:avLst>
          </a:prstGeom>
          <a:solidFill>
            <a:srgbClr val="FFFFFF"/>
          </a:solidFill>
          <a:ln w="12700">
            <a:solidFill>
              <a:srgbClr val="D7E4DF"/>
            </a:solidFill>
            <a:prstDash val="solid"/>
          </a:ln>
        </p:spPr>
      </p:sp>
      <p:sp>
        <p:nvSpPr>
          <p:cNvPr id="27" name="Text 22"/>
          <p:cNvSpPr txBox="1"/>
          <p:nvPr/>
        </p:nvSpPr>
        <p:spPr>
          <a:xfrm>
            <a:off x="1536192" y="4855464"/>
            <a:ext cx="960120" cy="292608"/>
          </a:xfrm>
          <a:prstGeom prst="rect">
            <a:avLst/>
          </a:prstGeom>
          <a:noFill/>
          <a:ln/>
        </p:spPr>
        <p:txBody>
          <a:bodyPr wrap="square" lIns="0" tIns="0" rIns="0" bIns="0" rtlCol="0" anchor="ctr"/>
          <a:lstStyle/>
          <a:p>
            <a:pPr indent="0" marL="0">
              <a:buNone/>
            </a:pPr>
            <a:r>
              <a:rPr lang="en-US" sz="850" b="1" dirty="0">
                <a:solidFill>
                  <a:srgbClr val="4F6B66"/>
                </a:solidFill>
                <a:latin typeface="Calibri" pitchFamily="34" charset="0"/>
                <a:ea typeface="Calibri" pitchFamily="34" charset="-122"/>
                <a:cs typeface="Calibri" pitchFamily="34" charset="-120"/>
              </a:rPr>
              <a:t>NEXT</a:t>
            </a:r>
            <a:endParaRPr lang="en-US" sz="850" dirty="0"/>
          </a:p>
        </p:txBody>
      </p:sp>
      <p:sp>
        <p:nvSpPr>
          <p:cNvPr id="28" name="Text 23"/>
          <p:cNvSpPr txBox="1"/>
          <p:nvPr/>
        </p:nvSpPr>
        <p:spPr>
          <a:xfrm>
            <a:off x="2651760" y="4828032"/>
            <a:ext cx="2697480" cy="329184"/>
          </a:xfrm>
          <a:prstGeom prst="rect">
            <a:avLst/>
          </a:prstGeom>
          <a:noFill/>
          <a:ln/>
        </p:spPr>
        <p:txBody>
          <a:bodyPr wrap="square" lIns="0" tIns="0" rIns="0" bIns="0" rtlCol="0" anchor="ctr"/>
          <a:lstStyle/>
          <a:p>
            <a:pPr algn="l" indent="0" marL="0">
              <a:buNone/>
            </a:pPr>
            <a:r>
              <a:rPr lang="en-US" sz="1550" b="1" dirty="0">
                <a:solidFill>
                  <a:srgbClr val="0F2624"/>
                </a:solidFill>
                <a:latin typeface="Calibri" pitchFamily="34" charset="0"/>
                <a:ea typeface="Calibri" pitchFamily="34" charset="-122"/>
                <a:cs typeface="Calibri" pitchFamily="34" charset="-120"/>
              </a:rPr>
              <a:t>Exporters pull buyers</a:t>
            </a:r>
            <a:endParaRPr lang="en-US" sz="1550" dirty="0"/>
          </a:p>
        </p:txBody>
      </p:sp>
      <p:sp>
        <p:nvSpPr>
          <p:cNvPr id="29" name="Text 24"/>
          <p:cNvSpPr txBox="1"/>
          <p:nvPr/>
        </p:nvSpPr>
        <p:spPr>
          <a:xfrm>
            <a:off x="2651760" y="5266944"/>
            <a:ext cx="4572000" cy="566928"/>
          </a:xfrm>
          <a:prstGeom prst="rect">
            <a:avLst/>
          </a:prstGeom>
          <a:noFill/>
          <a:ln/>
        </p:spPr>
        <p:txBody>
          <a:bodyPr wrap="square" lIns="0" tIns="0" rIns="0" bIns="0" rtlCol="0" anchor="t"/>
          <a:lstStyle/>
          <a:p>
            <a:pPr algn="l" indent="0" marL="0">
              <a:lnSpc>
                <a:spcPct val="120000"/>
              </a:lnSpc>
              <a:buNone/>
            </a:pPr>
            <a:r>
              <a:rPr lang="en-US" sz="1250" b="1" dirty="0">
                <a:solidFill>
                  <a:srgbClr val="4F6B66"/>
                </a:solidFill>
                <a:latin typeface="Calibri" pitchFamily="34" charset="0"/>
                <a:ea typeface="Calibri" pitchFamily="34" charset="-122"/>
                <a:cs typeface="Calibri" pitchFamily="34" charset="-120"/>
              </a:rPr>
              <a:t>Every payment link and embedded checkout puts Meridian in front of a buyer in Europe or the Gulf.</a:t>
            </a:r>
            <a:endParaRPr lang="en-US" sz="1250" dirty="0"/>
          </a:p>
        </p:txBody>
      </p:sp>
      <p:sp>
        <p:nvSpPr>
          <p:cNvPr id="30" name="Shape 25"/>
          <p:cNvSpPr/>
          <p:nvPr/>
        </p:nvSpPr>
        <p:spPr>
          <a:xfrm>
            <a:off x="5440680" y="4828032"/>
            <a:ext cx="1783080" cy="384048"/>
          </a:xfrm>
          <a:prstGeom prst="roundRect">
            <a:avLst>
              <a:gd name="adj" fmla="val 50000"/>
            </a:avLst>
          </a:prstGeom>
          <a:solidFill>
            <a:srgbClr val="FFFFFF"/>
          </a:solidFill>
          <a:ln w="12700">
            <a:solidFill>
              <a:srgbClr val="D7E4DF"/>
            </a:solidFill>
            <a:prstDash val="solid"/>
          </a:ln>
        </p:spPr>
      </p:sp>
      <p:sp>
        <p:nvSpPr>
          <p:cNvPr id="31" name="Text 26"/>
          <p:cNvSpPr txBox="1"/>
          <p:nvPr/>
        </p:nvSpPr>
        <p:spPr>
          <a:xfrm>
            <a:off x="5440680" y="4809744"/>
            <a:ext cx="1783080" cy="384048"/>
          </a:xfrm>
          <a:prstGeom prst="rect">
            <a:avLst/>
          </a:prstGeom>
          <a:noFill/>
          <a:ln/>
        </p:spPr>
        <p:txBody>
          <a:bodyPr wrap="square" lIns="0" tIns="0" rIns="0" bIns="0" rtlCol="0" anchor="ctr"/>
          <a:lstStyle/>
          <a:p>
            <a:pPr indent="0" marL="0">
              <a:buNone/>
            </a:pPr>
            <a:r>
              <a:rPr lang="en-US" sz="1000" b="1" dirty="0">
                <a:solidFill>
                  <a:srgbClr val="0F2624"/>
                </a:solidFill>
                <a:latin typeface="Calibri" pitchFamily="34" charset="0"/>
                <a:ea typeface="Calibri" pitchFamily="34" charset="-122"/>
                <a:cs typeface="Calibri" pitchFamily="34" charset="-120"/>
              </a:rPr>
              <a:t>Inbound</a:t>
            </a:r>
            <a:endParaRPr lang="en-US" sz="1000" dirty="0"/>
          </a:p>
        </p:txBody>
      </p:sp>
      <p:sp>
        <p:nvSpPr>
          <p:cNvPr id="32" name="Shape 27"/>
          <p:cNvSpPr/>
          <p:nvPr/>
        </p:nvSpPr>
        <p:spPr>
          <a:xfrm>
            <a:off x="7589520" y="2395728"/>
            <a:ext cx="3959352" cy="3474720"/>
          </a:xfrm>
          <a:prstGeom prst="roundRect">
            <a:avLst>
              <a:gd name="adj" fmla="val 3684"/>
            </a:avLst>
          </a:prstGeom>
          <a:solidFill>
            <a:srgbClr val="FFFFFF"/>
          </a:solidFill>
          <a:ln w="12700">
            <a:solidFill>
              <a:srgbClr val="D7E4DF"/>
            </a:solidFill>
            <a:prstDash val="solid"/>
          </a:ln>
        </p:spPr>
      </p:sp>
      <p:sp>
        <p:nvSpPr>
          <p:cNvPr id="33" name="Text 28"/>
          <p:cNvSpPr txBox="1"/>
          <p:nvPr/>
        </p:nvSpPr>
        <p:spPr>
          <a:xfrm>
            <a:off x="7882128" y="2651760"/>
            <a:ext cx="1463040" cy="274320"/>
          </a:xfrm>
          <a:prstGeom prst="rect">
            <a:avLst/>
          </a:prstGeom>
          <a:noFill/>
          <a:ln/>
        </p:spPr>
        <p:txBody>
          <a:bodyPr wrap="square" lIns="0" tIns="0" rIns="0" bIns="0" rtlCol="0" anchor="ctr"/>
          <a:lstStyle/>
          <a:p>
            <a:pPr indent="0" marL="0">
              <a:buNone/>
            </a:pPr>
            <a:r>
              <a:rPr lang="en-US" sz="1200" b="1" dirty="0">
                <a:solidFill>
                  <a:srgbClr val="0F2624"/>
                </a:solidFill>
                <a:latin typeface="Calibri" pitchFamily="34" charset="0"/>
                <a:ea typeface="Calibri" pitchFamily="34" charset="-122"/>
                <a:cs typeface="Calibri" pitchFamily="34" charset="-120"/>
              </a:rPr>
              <a:t>Meridian</a:t>
            </a:r>
            <a:pPr indent="0" marL="0">
              <a:buNone/>
            </a:pPr>
            <a:r>
              <a:rPr lang="en-US" sz="1200" b="1" dirty="0">
                <a:solidFill>
                  <a:srgbClr val="3ECFA0"/>
                </a:solidFill>
                <a:latin typeface="Calibri" pitchFamily="34" charset="0"/>
                <a:ea typeface="Calibri" pitchFamily="34" charset="-122"/>
                <a:cs typeface="Calibri" pitchFamily="34" charset="-120"/>
              </a:rPr>
              <a:t>.</a:t>
            </a:r>
            <a:endParaRPr lang="en-US" sz="1200" dirty="0"/>
          </a:p>
        </p:txBody>
      </p:sp>
      <p:sp>
        <p:nvSpPr>
          <p:cNvPr id="34" name="Shape 29"/>
          <p:cNvSpPr/>
          <p:nvPr/>
        </p:nvSpPr>
        <p:spPr>
          <a:xfrm>
            <a:off x="9966960" y="2651760"/>
            <a:ext cx="1298448" cy="274320"/>
          </a:xfrm>
          <a:prstGeom prst="roundRect">
            <a:avLst>
              <a:gd name="adj" fmla="val 50000"/>
            </a:avLst>
          </a:prstGeom>
          <a:solidFill>
            <a:srgbClr val="E6F7F0"/>
          </a:solidFill>
          <a:ln w="12700">
            <a:solidFill>
              <a:srgbClr val="E6F7F0"/>
            </a:solidFill>
            <a:prstDash val="solid"/>
          </a:ln>
        </p:spPr>
      </p:sp>
      <p:sp>
        <p:nvSpPr>
          <p:cNvPr id="35" name="Text 30"/>
          <p:cNvSpPr txBox="1"/>
          <p:nvPr/>
        </p:nvSpPr>
        <p:spPr>
          <a:xfrm>
            <a:off x="9966960" y="2633472"/>
            <a:ext cx="1298448" cy="274320"/>
          </a:xfrm>
          <a:prstGeom prst="rect">
            <a:avLst/>
          </a:prstGeom>
          <a:noFill/>
          <a:ln/>
        </p:spPr>
        <p:txBody>
          <a:bodyPr wrap="square" lIns="0" tIns="0" rIns="0" bIns="0" rtlCol="0" anchor="ctr"/>
          <a:lstStyle/>
          <a:p>
            <a:pPr indent="0" marL="0">
              <a:buNone/>
            </a:pPr>
            <a:r>
              <a:rPr lang="en-US" sz="800" b="1" dirty="0">
                <a:solidFill>
                  <a:srgbClr val="12705A"/>
                </a:solidFill>
                <a:latin typeface="Calibri" pitchFamily="34" charset="0"/>
                <a:ea typeface="Calibri" pitchFamily="34" charset="-122"/>
                <a:cs typeface="Calibri" pitchFamily="34" charset="-120"/>
              </a:rPr>
              <a:t>PAYMENT LINK</a:t>
            </a:r>
            <a:endParaRPr lang="en-US" sz="800" dirty="0"/>
          </a:p>
        </p:txBody>
      </p:sp>
      <p:sp>
        <p:nvSpPr>
          <p:cNvPr id="36" name="Text 31"/>
          <p:cNvSpPr txBox="1"/>
          <p:nvPr/>
        </p:nvSpPr>
        <p:spPr>
          <a:xfrm>
            <a:off x="7882128" y="3072384"/>
            <a:ext cx="3383280" cy="237744"/>
          </a:xfrm>
          <a:prstGeom prst="rect">
            <a:avLst/>
          </a:prstGeom>
          <a:noFill/>
          <a:ln/>
        </p:spPr>
        <p:txBody>
          <a:bodyPr wrap="square" lIns="0" tIns="0" rIns="0" bIns="0" rtlCol="0" anchor="ctr"/>
          <a:lstStyle/>
          <a:p>
            <a:pPr algn="l" indent="0" marL="0">
              <a:buNone/>
            </a:pPr>
            <a:r>
              <a:rPr lang="en-US" sz="950" b="1" dirty="0">
                <a:solidFill>
                  <a:srgbClr val="4F6B66"/>
                </a:solidFill>
                <a:latin typeface="Calibri" pitchFamily="34" charset="0"/>
                <a:ea typeface="Calibri" pitchFamily="34" charset="-122"/>
                <a:cs typeface="Calibri" pitchFamily="34" charset="-120"/>
              </a:rPr>
              <a:t>Kilimo Fresh Exports Ltd</a:t>
            </a:r>
            <a:endParaRPr lang="en-US" sz="950" dirty="0"/>
          </a:p>
        </p:txBody>
      </p:sp>
      <p:sp>
        <p:nvSpPr>
          <p:cNvPr id="37" name="Text 32"/>
          <p:cNvSpPr txBox="1"/>
          <p:nvPr/>
        </p:nvSpPr>
        <p:spPr>
          <a:xfrm>
            <a:off x="7882128" y="3291840"/>
            <a:ext cx="3383280" cy="457200"/>
          </a:xfrm>
          <a:prstGeom prst="rect">
            <a:avLst/>
          </a:prstGeom>
          <a:noFill/>
          <a:ln/>
        </p:spPr>
        <p:txBody>
          <a:bodyPr wrap="square" lIns="0" tIns="0" rIns="0" bIns="0" rtlCol="0" anchor="ctr"/>
          <a:lstStyle/>
          <a:p>
            <a:pPr algn="l" indent="0" marL="0">
              <a:buNone/>
            </a:pPr>
            <a:r>
              <a:rPr lang="en-US" sz="2400" b="1" dirty="0">
                <a:solidFill>
                  <a:srgbClr val="0F2624"/>
                </a:solidFill>
                <a:latin typeface="Calibri" pitchFamily="34" charset="0"/>
                <a:ea typeface="Calibri" pitchFamily="34" charset="-122"/>
                <a:cs typeface="Calibri" pitchFamily="34" charset="-120"/>
              </a:rPr>
              <a:t>USD 36,000</a:t>
            </a:r>
            <a:endParaRPr lang="en-US" sz="2400" dirty="0"/>
          </a:p>
        </p:txBody>
      </p:sp>
      <p:sp>
        <p:nvSpPr>
          <p:cNvPr id="38" name="Text 33"/>
          <p:cNvSpPr txBox="1"/>
          <p:nvPr/>
        </p:nvSpPr>
        <p:spPr>
          <a:xfrm>
            <a:off x="7882128" y="3749040"/>
            <a:ext cx="3383280" cy="219456"/>
          </a:xfrm>
          <a:prstGeom prst="rect">
            <a:avLst/>
          </a:prstGeom>
          <a:noFill/>
          <a:ln/>
        </p:spPr>
        <p:txBody>
          <a:bodyPr wrap="square" lIns="0" tIns="0" rIns="0" bIns="0" rtlCol="0" anchor="ctr"/>
          <a:lstStyle/>
          <a:p>
            <a:pPr algn="l" indent="0" marL="0">
              <a:buNone/>
            </a:pPr>
            <a:r>
              <a:rPr lang="en-US" sz="900" b="1" dirty="0">
                <a:solidFill>
                  <a:srgbClr val="4F6B66"/>
                </a:solidFill>
                <a:latin typeface="Calibri" pitchFamily="34" charset="0"/>
                <a:ea typeface="Calibri" pitchFamily="34" charset="-122"/>
                <a:cs typeface="Calibri" pitchFamily="34" charset="-120"/>
              </a:rPr>
              <a:t>Invoice INV-2048 · avocado shipment, week 38</a:t>
            </a:r>
            <a:endParaRPr lang="en-US" sz="900" dirty="0"/>
          </a:p>
        </p:txBody>
      </p:sp>
      <p:sp>
        <p:nvSpPr>
          <p:cNvPr id="39" name="Shape 34"/>
          <p:cNvSpPr/>
          <p:nvPr/>
        </p:nvSpPr>
        <p:spPr>
          <a:xfrm>
            <a:off x="7882128" y="3968496"/>
            <a:ext cx="1042416" cy="310896"/>
          </a:xfrm>
          <a:prstGeom prst="roundRect">
            <a:avLst>
              <a:gd name="adj" fmla="val 50000"/>
            </a:avLst>
          </a:prstGeom>
          <a:solidFill>
            <a:srgbClr val="EFF5F2"/>
          </a:solidFill>
          <a:ln w="12700">
            <a:solidFill>
              <a:srgbClr val="D7E4DF"/>
            </a:solidFill>
            <a:prstDash val="solid"/>
          </a:ln>
        </p:spPr>
      </p:sp>
      <p:sp>
        <p:nvSpPr>
          <p:cNvPr id="40" name="Text 35"/>
          <p:cNvSpPr txBox="1"/>
          <p:nvPr/>
        </p:nvSpPr>
        <p:spPr>
          <a:xfrm>
            <a:off x="7882128" y="3950208"/>
            <a:ext cx="1042416" cy="310896"/>
          </a:xfrm>
          <a:prstGeom prst="rect">
            <a:avLst/>
          </a:prstGeom>
          <a:noFill/>
          <a:ln/>
        </p:spPr>
        <p:txBody>
          <a:bodyPr wrap="square" lIns="0" tIns="0" rIns="0" bIns="0" rtlCol="0" anchor="ctr"/>
          <a:lstStyle/>
          <a:p>
            <a:pPr indent="0" marL="0">
              <a:buNone/>
            </a:pPr>
            <a:r>
              <a:rPr lang="en-US" sz="900" b="1" dirty="0">
                <a:solidFill>
                  <a:srgbClr val="0F2624"/>
                </a:solidFill>
                <a:latin typeface="Calibri" pitchFamily="34" charset="0"/>
                <a:ea typeface="Calibri" pitchFamily="34" charset="-122"/>
                <a:cs typeface="Calibri" pitchFamily="34" charset="-120"/>
              </a:rPr>
              <a:t>Bank</a:t>
            </a:r>
            <a:endParaRPr lang="en-US" sz="900" dirty="0"/>
          </a:p>
        </p:txBody>
      </p:sp>
      <p:sp>
        <p:nvSpPr>
          <p:cNvPr id="41" name="Shape 36"/>
          <p:cNvSpPr/>
          <p:nvPr/>
        </p:nvSpPr>
        <p:spPr>
          <a:xfrm>
            <a:off x="9052560" y="3968496"/>
            <a:ext cx="1042416" cy="310896"/>
          </a:xfrm>
          <a:prstGeom prst="roundRect">
            <a:avLst>
              <a:gd name="adj" fmla="val 50000"/>
            </a:avLst>
          </a:prstGeom>
          <a:solidFill>
            <a:srgbClr val="EFF5F2"/>
          </a:solidFill>
          <a:ln w="12700">
            <a:solidFill>
              <a:srgbClr val="D7E4DF"/>
            </a:solidFill>
            <a:prstDash val="solid"/>
          </a:ln>
        </p:spPr>
      </p:sp>
      <p:sp>
        <p:nvSpPr>
          <p:cNvPr id="42" name="Text 37"/>
          <p:cNvSpPr txBox="1"/>
          <p:nvPr/>
        </p:nvSpPr>
        <p:spPr>
          <a:xfrm>
            <a:off x="9052560" y="3950208"/>
            <a:ext cx="1042416" cy="310896"/>
          </a:xfrm>
          <a:prstGeom prst="rect">
            <a:avLst/>
          </a:prstGeom>
          <a:noFill/>
          <a:ln/>
        </p:spPr>
        <p:txBody>
          <a:bodyPr wrap="square" lIns="0" tIns="0" rIns="0" bIns="0" rtlCol="0" anchor="ctr"/>
          <a:lstStyle/>
          <a:p>
            <a:pPr indent="0" marL="0">
              <a:buNone/>
            </a:pPr>
            <a:r>
              <a:rPr lang="en-US" sz="900" b="1" dirty="0">
                <a:solidFill>
                  <a:srgbClr val="0F2624"/>
                </a:solidFill>
                <a:latin typeface="Calibri" pitchFamily="34" charset="0"/>
                <a:ea typeface="Calibri" pitchFamily="34" charset="-122"/>
                <a:cs typeface="Calibri" pitchFamily="34" charset="-120"/>
              </a:rPr>
              <a:t>Card</a:t>
            </a:r>
            <a:endParaRPr lang="en-US" sz="900" dirty="0"/>
          </a:p>
        </p:txBody>
      </p:sp>
      <p:sp>
        <p:nvSpPr>
          <p:cNvPr id="43" name="Shape 38"/>
          <p:cNvSpPr/>
          <p:nvPr/>
        </p:nvSpPr>
        <p:spPr>
          <a:xfrm>
            <a:off x="10222992" y="3968496"/>
            <a:ext cx="1042416" cy="310896"/>
          </a:xfrm>
          <a:prstGeom prst="roundRect">
            <a:avLst>
              <a:gd name="adj" fmla="val 50000"/>
            </a:avLst>
          </a:prstGeom>
          <a:solidFill>
            <a:srgbClr val="EFF5F2"/>
          </a:solidFill>
          <a:ln w="12700">
            <a:solidFill>
              <a:srgbClr val="D7E4DF"/>
            </a:solidFill>
            <a:prstDash val="solid"/>
          </a:ln>
        </p:spPr>
      </p:sp>
      <p:sp>
        <p:nvSpPr>
          <p:cNvPr id="44" name="Text 39"/>
          <p:cNvSpPr txBox="1"/>
          <p:nvPr/>
        </p:nvSpPr>
        <p:spPr>
          <a:xfrm>
            <a:off x="10222992" y="3950208"/>
            <a:ext cx="1042416" cy="310896"/>
          </a:xfrm>
          <a:prstGeom prst="rect">
            <a:avLst/>
          </a:prstGeom>
          <a:noFill/>
          <a:ln/>
        </p:spPr>
        <p:txBody>
          <a:bodyPr wrap="square" lIns="0" tIns="0" rIns="0" bIns="0" rtlCol="0" anchor="ctr"/>
          <a:lstStyle/>
          <a:p>
            <a:pPr indent="0" marL="0">
              <a:buNone/>
            </a:pPr>
            <a:r>
              <a:rPr lang="en-US" sz="900" b="1" dirty="0">
                <a:solidFill>
                  <a:srgbClr val="0F2624"/>
                </a:solidFill>
                <a:latin typeface="Calibri" pitchFamily="34" charset="0"/>
                <a:ea typeface="Calibri" pitchFamily="34" charset="-122"/>
                <a:cs typeface="Calibri" pitchFamily="34" charset="-120"/>
              </a:rPr>
              <a:t>M-Pesa</a:t>
            </a:r>
            <a:endParaRPr lang="en-US" sz="900" dirty="0"/>
          </a:p>
        </p:txBody>
      </p:sp>
      <p:sp>
        <p:nvSpPr>
          <p:cNvPr id="45" name="Text 40"/>
          <p:cNvSpPr txBox="1"/>
          <p:nvPr/>
        </p:nvSpPr>
        <p:spPr>
          <a:xfrm>
            <a:off x="7882128" y="4443984"/>
            <a:ext cx="3383280" cy="457200"/>
          </a:xfrm>
          <a:prstGeom prst="rect">
            <a:avLst/>
          </a:prstGeom>
          <a:noFill/>
          <a:ln/>
        </p:spPr>
        <p:txBody>
          <a:bodyPr wrap="square" lIns="0" tIns="0" rIns="0" bIns="0" rtlCol="0" anchor="ctr"/>
          <a:lstStyle/>
          <a:p>
            <a:pPr indent="0" marL="0">
              <a:lnSpc>
                <a:spcPct val="130000"/>
              </a:lnSpc>
              <a:buNone/>
            </a:pPr>
            <a:r>
              <a:rPr lang="en-US" sz="950" b="1" dirty="0">
                <a:solidFill>
                  <a:srgbClr val="4F6B66"/>
                </a:solidFill>
                <a:latin typeface="Calibri" pitchFamily="34" charset="0"/>
                <a:ea typeface="Calibri" pitchFamily="34" charset="-122"/>
                <a:cs typeface="Calibri" pitchFamily="34" charset="-120"/>
              </a:rPr>
              <a:t>Partner fee</a:t>
            </a:r>
            <a:pPr indent="0" marL="0">
              <a:lnSpc>
                <a:spcPct val="130000"/>
              </a:lnSpc>
              <a:buNone/>
            </a:pPr>
            <a:r>
              <a:rPr lang="en-US" sz="950" b="1" dirty="0">
                <a:solidFill>
                  <a:srgbClr val="0F2624"/>
                </a:solidFill>
                <a:latin typeface="Calibri" pitchFamily="34" charset="0"/>
                <a:ea typeface="Calibri" pitchFamily="34" charset="-122"/>
                <a:cs typeface="Calibri" pitchFamily="34" charset="-120"/>
              </a:rPr>
              <a:t>   $540</a:t>
            </a:r>
            <a:endParaRPr lang="en-US" sz="950" dirty="0"/>
          </a:p>
          <a:p>
            <a:pPr indent="0" marL="0">
              <a:lnSpc>
                <a:spcPct val="130000"/>
              </a:lnSpc>
              <a:buNone/>
            </a:pPr>
            <a:r>
              <a:rPr lang="en-US" sz="950" b="1" dirty="0">
                <a:solidFill>
                  <a:srgbClr val="4F6B66"/>
                </a:solidFill>
                <a:latin typeface="Calibri" pitchFamily="34" charset="0"/>
                <a:ea typeface="Calibri" pitchFamily="34" charset="-122"/>
                <a:cs typeface="Calibri" pitchFamily="34" charset="-120"/>
              </a:rPr>
              <a:t>Meridian 1%</a:t>
            </a:r>
            <a:pPr indent="0" marL="0">
              <a:lnSpc>
                <a:spcPct val="130000"/>
              </a:lnSpc>
              <a:buNone/>
            </a:pPr>
            <a:r>
              <a:rPr lang="en-US" sz="950" b="1" dirty="0">
                <a:solidFill>
                  <a:srgbClr val="0F2624"/>
                </a:solidFill>
                <a:latin typeface="Calibri" pitchFamily="34" charset="0"/>
                <a:ea typeface="Calibri" pitchFamily="34" charset="-122"/>
                <a:cs typeface="Calibri" pitchFamily="34" charset="-120"/>
              </a:rPr>
              <a:t>   $360</a:t>
            </a:r>
            <a:endParaRPr lang="en-US" sz="950" dirty="0"/>
          </a:p>
        </p:txBody>
      </p:sp>
      <p:sp>
        <p:nvSpPr>
          <p:cNvPr id="46" name="Shape 41"/>
          <p:cNvSpPr/>
          <p:nvPr/>
        </p:nvSpPr>
        <p:spPr>
          <a:xfrm>
            <a:off x="7882128" y="4992624"/>
            <a:ext cx="3383280" cy="420624"/>
          </a:xfrm>
          <a:prstGeom prst="roundRect">
            <a:avLst>
              <a:gd name="adj" fmla="val 50000"/>
            </a:avLst>
          </a:prstGeom>
          <a:solidFill>
            <a:srgbClr val="3ECFA0"/>
          </a:solidFill>
          <a:ln w="12700">
            <a:solidFill>
              <a:srgbClr val="3ECFA0"/>
            </a:solidFill>
            <a:prstDash val="solid"/>
          </a:ln>
        </p:spPr>
      </p:sp>
      <p:sp>
        <p:nvSpPr>
          <p:cNvPr id="47" name="Text 42"/>
          <p:cNvSpPr txBox="1"/>
          <p:nvPr/>
        </p:nvSpPr>
        <p:spPr>
          <a:xfrm>
            <a:off x="7882128" y="4974336"/>
            <a:ext cx="3383280" cy="420624"/>
          </a:xfrm>
          <a:prstGeom prst="rect">
            <a:avLst/>
          </a:prstGeom>
          <a:noFill/>
          <a:ln/>
        </p:spPr>
        <p:txBody>
          <a:bodyPr wrap="square" lIns="0" tIns="0" rIns="0" bIns="0" rtlCol="0" anchor="ctr"/>
          <a:lstStyle/>
          <a:p>
            <a:pPr indent="0" marL="0">
              <a:buNone/>
            </a:pPr>
            <a:r>
              <a:rPr lang="en-US" sz="1150" b="1" dirty="0">
                <a:solidFill>
                  <a:srgbClr val="0F2624"/>
                </a:solidFill>
                <a:latin typeface="Calibri" pitchFamily="34" charset="0"/>
                <a:ea typeface="Calibri" pitchFamily="34" charset="-122"/>
                <a:cs typeface="Calibri" pitchFamily="34" charset="-120"/>
              </a:rPr>
              <a:t>Pay USD 36,000</a:t>
            </a:r>
            <a:endParaRPr lang="en-US" sz="1150" dirty="0"/>
          </a:p>
        </p:txBody>
      </p:sp>
      <p:sp>
        <p:nvSpPr>
          <p:cNvPr id="48" name="Text 43"/>
          <p:cNvSpPr txBox="1"/>
          <p:nvPr/>
        </p:nvSpPr>
        <p:spPr>
          <a:xfrm>
            <a:off x="7882128" y="5504688"/>
            <a:ext cx="3383280" cy="219456"/>
          </a:xfrm>
          <a:prstGeom prst="rect">
            <a:avLst/>
          </a:prstGeom>
          <a:noFill/>
          <a:ln/>
        </p:spPr>
        <p:txBody>
          <a:bodyPr wrap="square" lIns="0" tIns="0" rIns="0" bIns="0" rtlCol="0" anchor="ctr"/>
          <a:lstStyle/>
          <a:p>
            <a:pPr algn="l" indent="0" marL="0">
              <a:buNone/>
            </a:pPr>
            <a:r>
              <a:rPr lang="en-US" sz="850" b="1" dirty="0">
                <a:solidFill>
                  <a:srgbClr val="4F6B66"/>
                </a:solidFill>
                <a:latin typeface="Calibri" pitchFamily="34" charset="0"/>
                <a:ea typeface="Calibri" pitchFamily="34" charset="-122"/>
                <a:cs typeface="Calibri" pitchFamily="34" charset="-120"/>
              </a:rPr>
              <a:t>Buyer in Hamburg pays by card or bank.</a:t>
            </a:r>
            <a:endParaRPr lang="en-US" sz="850" dirty="0"/>
          </a:p>
        </p:txBody>
      </p:sp>
      <p:sp>
        <p:nvSpPr>
          <p:cNvPr id="49" name="Text 44"/>
          <p:cNvSpPr txBox="1"/>
          <p:nvPr/>
        </p:nvSpPr>
        <p:spPr>
          <a:xfrm>
            <a:off x="7589520" y="5961888"/>
            <a:ext cx="3959352" cy="256032"/>
          </a:xfrm>
          <a:prstGeom prst="rect">
            <a:avLst/>
          </a:prstGeom>
          <a:noFill/>
          <a:ln/>
        </p:spPr>
        <p:txBody>
          <a:bodyPr wrap="square" lIns="0" tIns="0" rIns="0" bIns="0" rtlCol="0" anchor="ctr"/>
          <a:lstStyle/>
          <a:p>
            <a:pPr algn="l" indent="0" marL="0">
              <a:buNone/>
            </a:pPr>
            <a:r>
              <a:rPr lang="en-US" sz="950" b="1" dirty="0">
                <a:solidFill>
                  <a:srgbClr val="4F6B66"/>
                </a:solidFill>
                <a:latin typeface="Calibri" pitchFamily="34" charset="0"/>
                <a:ea typeface="Calibri" pitchFamily="34" charset="-122"/>
                <a:cs typeface="Calibri" pitchFamily="34" charset="-120"/>
              </a:rPr>
              <a:t>The same page embeds on the seller's own site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FF5F2"/>
        </a:solidFill>
      </p:bgPr>
    </p:bg>
    <p:spTree>
      <p:nvGrpSpPr>
        <p:cNvPr id="1" name=""/>
        <p:cNvGrpSpPr/>
        <p:nvPr/>
      </p:nvGrpSpPr>
      <p:grpSpPr>
        <a:xfrm>
          <a:off x="0" y="0"/>
          <a:ext cx="0" cy="0"/>
          <a:chOff x="0" y="0"/>
          <a:chExt cx="0" cy="0"/>
        </a:xfrm>
      </p:grpSpPr>
      <p:sp>
        <p:nvSpPr>
          <p:cNvPr id="2" name="Text 0"/>
          <p:cNvSpPr txBox="1"/>
          <p:nvPr/>
        </p:nvSpPr>
        <p:spPr>
          <a:xfrm>
            <a:off x="640080" y="512064"/>
            <a:ext cx="10908792" cy="274320"/>
          </a:xfrm>
          <a:prstGeom prst="rect">
            <a:avLst/>
          </a:prstGeom>
          <a:noFill/>
          <a:ln/>
        </p:spPr>
        <p:txBody>
          <a:bodyPr wrap="square" lIns="0" tIns="0" rIns="0" bIns="0" rtlCol="0" anchor="ctr"/>
          <a:lstStyle/>
          <a:p>
            <a:pPr algn="l" indent="0" marL="0">
              <a:buNone/>
            </a:pPr>
            <a:r>
              <a:rPr lang="en-US" sz="1100" b="1" spc="6000" kern="0" dirty="0">
                <a:solidFill>
                  <a:srgbClr val="4F6B66"/>
                </a:solidFill>
                <a:latin typeface="Calibri" pitchFamily="34" charset="0"/>
                <a:ea typeface="Calibri" pitchFamily="34" charset="-122"/>
                <a:cs typeface="Calibri" pitchFamily="34" charset="-120"/>
              </a:rPr>
              <a:t>10 · TEAM</a:t>
            </a:r>
            <a:endParaRPr lang="en-US" sz="1100" dirty="0"/>
          </a:p>
        </p:txBody>
      </p:sp>
      <p:sp>
        <p:nvSpPr>
          <p:cNvPr id="3" name="Text 1"/>
          <p:cNvSpPr txBox="1"/>
          <p:nvPr/>
        </p:nvSpPr>
        <p:spPr>
          <a:xfrm>
            <a:off x="640080" y="868680"/>
            <a:ext cx="10908792" cy="1234440"/>
          </a:xfrm>
          <a:prstGeom prst="rect">
            <a:avLst/>
          </a:prstGeom>
          <a:noFill/>
          <a:ln/>
        </p:spPr>
        <p:txBody>
          <a:bodyPr wrap="square" lIns="0" tIns="0" rIns="0" bIns="0" rtlCol="0" anchor="t"/>
          <a:lstStyle/>
          <a:p>
            <a:pPr indent="0" marL="0">
              <a:lnSpc>
                <a:spcPct val="104000"/>
              </a:lnSpc>
              <a:buNone/>
            </a:pPr>
            <a:r>
              <a:rPr lang="en-US" sz="3000" b="1" dirty="0">
                <a:solidFill>
                  <a:srgbClr val="0F2624"/>
                </a:solidFill>
                <a:latin typeface="Calibri" pitchFamily="34" charset="0"/>
                <a:ea typeface="Calibri" pitchFamily="34" charset="-122"/>
                <a:cs typeface="Calibri" pitchFamily="34" charset="-120"/>
              </a:rPr>
              <a:t>Built by someone who ships, advised by someone who knows the buyers.</a:t>
            </a:r>
            <a:endParaRPr lang="en-US" sz="3000" dirty="0"/>
          </a:p>
        </p:txBody>
      </p:sp>
      <p:sp>
        <p:nvSpPr>
          <p:cNvPr id="4" name="Shape 2"/>
          <p:cNvSpPr/>
          <p:nvPr/>
        </p:nvSpPr>
        <p:spPr>
          <a:xfrm>
            <a:off x="640080" y="6382512"/>
            <a:ext cx="274320" cy="274320"/>
          </a:xfrm>
          <a:prstGeom prst="roundRect">
            <a:avLst>
              <a:gd name="adj" fmla="val 21800"/>
            </a:avLst>
          </a:prstGeom>
          <a:solidFill>
            <a:srgbClr val="3ECFA0"/>
          </a:solidFill>
          <a:ln w="12700">
            <a:solidFill>
              <a:srgbClr val="3ECFA0"/>
            </a:solidFill>
            <a:prstDash val="solid"/>
          </a:ln>
        </p:spPr>
      </p:sp>
      <p:sp>
        <p:nvSpPr>
          <p:cNvPr id="5" name="Shape 3"/>
          <p:cNvSpPr/>
          <p:nvPr/>
        </p:nvSpPr>
        <p:spPr>
          <a:xfrm>
            <a:off x="717438" y="6459870"/>
            <a:ext cx="119604" cy="119604"/>
          </a:xfrm>
          <a:prstGeom prst="ellipse">
            <a:avLst/>
          </a:prstGeom>
          <a:solidFill>
            <a:srgbClr val="3ECFA0"/>
          </a:solidFill>
          <a:ln w="13868">
            <a:solidFill>
              <a:srgbClr val="0B1A19"/>
            </a:solidFill>
            <a:prstDash val="solid"/>
          </a:ln>
        </p:spPr>
      </p:sp>
      <p:sp>
        <p:nvSpPr>
          <p:cNvPr id="6" name="Text 4"/>
          <p:cNvSpPr txBox="1"/>
          <p:nvPr/>
        </p:nvSpPr>
        <p:spPr>
          <a:xfrm>
            <a:off x="1005840" y="6400800"/>
            <a:ext cx="3291840" cy="237744"/>
          </a:xfrm>
          <a:prstGeom prst="rect">
            <a:avLst/>
          </a:prstGeom>
          <a:noFill/>
          <a:ln/>
        </p:spPr>
        <p:txBody>
          <a:bodyPr wrap="square" lIns="0" tIns="0" rIns="0" bIns="0" rtlCol="0" anchor="ctr"/>
          <a:lstStyle/>
          <a:p>
            <a:pPr algn="l" indent="0" marL="0">
              <a:buNone/>
            </a:pPr>
            <a:r>
              <a:rPr lang="en-US" sz="800" b="1" spc="4000" kern="0" dirty="0">
                <a:solidFill>
                  <a:srgbClr val="4F6B66"/>
                </a:solidFill>
                <a:latin typeface="Calibri" pitchFamily="34" charset="0"/>
                <a:ea typeface="Calibri" pitchFamily="34" charset="-122"/>
                <a:cs typeface="Calibri" pitchFamily="34" charset="-120"/>
              </a:rPr>
              <a:t>MERIDIAN · APPIFY SOFTWARES</a:t>
            </a:r>
            <a:endParaRPr lang="en-US" sz="800" dirty="0"/>
          </a:p>
        </p:txBody>
      </p:sp>
      <p:sp>
        <p:nvSpPr>
          <p:cNvPr id="7" name="Text 5"/>
          <p:cNvSpPr txBox="1"/>
          <p:nvPr/>
        </p:nvSpPr>
        <p:spPr>
          <a:xfrm>
            <a:off x="7434072" y="6400800"/>
            <a:ext cx="4114800" cy="237744"/>
          </a:xfrm>
          <a:prstGeom prst="rect">
            <a:avLst/>
          </a:prstGeom>
          <a:noFill/>
          <a:ln/>
        </p:spPr>
        <p:txBody>
          <a:bodyPr wrap="square" lIns="0" tIns="0" rIns="0" bIns="0" rtlCol="0" anchor="ctr"/>
          <a:lstStyle/>
          <a:p>
            <a:pPr algn="r" indent="0" marL="0">
              <a:buNone/>
            </a:pPr>
            <a:r>
              <a:rPr lang="en-US" sz="800" b="1" spc="4000" kern="0" dirty="0">
                <a:solidFill>
                  <a:srgbClr val="4F6B66"/>
                </a:solidFill>
                <a:latin typeface="Calibri" pitchFamily="34" charset="0"/>
                <a:ea typeface="Calibri" pitchFamily="34" charset="-122"/>
                <a:cs typeface="Calibri" pitchFamily="34" charset="-120"/>
              </a:rPr>
              <a:t>PROJECTIONS ILLUSTRATIVE · 10 / 12</a:t>
            </a:r>
            <a:endParaRPr lang="en-US" sz="800" dirty="0"/>
          </a:p>
        </p:txBody>
      </p:sp>
      <p:sp>
        <p:nvSpPr>
          <p:cNvPr id="8" name="Shape 6"/>
          <p:cNvSpPr/>
          <p:nvPr/>
        </p:nvSpPr>
        <p:spPr>
          <a:xfrm>
            <a:off x="640080" y="2286000"/>
            <a:ext cx="3456432" cy="2999232"/>
          </a:xfrm>
          <a:prstGeom prst="roundRect">
            <a:avLst>
              <a:gd name="adj" fmla="val 3659"/>
            </a:avLst>
          </a:prstGeom>
          <a:solidFill>
            <a:srgbClr val="FFFFFF"/>
          </a:solidFill>
          <a:ln w="12700">
            <a:solidFill>
              <a:srgbClr val="D7E4DF"/>
            </a:solidFill>
            <a:prstDash val="solid"/>
          </a:ln>
        </p:spPr>
      </p:sp>
      <p:sp>
        <p:nvSpPr>
          <p:cNvPr id="9" name="Shape 7"/>
          <p:cNvSpPr/>
          <p:nvPr/>
        </p:nvSpPr>
        <p:spPr>
          <a:xfrm>
            <a:off x="950976" y="2615184"/>
            <a:ext cx="841248" cy="841248"/>
          </a:xfrm>
          <a:prstGeom prst="ellipse">
            <a:avLst/>
          </a:prstGeom>
          <a:solidFill>
            <a:srgbClr val="0F2624"/>
          </a:solidFill>
          <a:ln/>
        </p:spPr>
      </p:sp>
      <p:sp>
        <p:nvSpPr>
          <p:cNvPr id="10" name="Text 8"/>
          <p:cNvSpPr txBox="1"/>
          <p:nvPr/>
        </p:nvSpPr>
        <p:spPr>
          <a:xfrm>
            <a:off x="950976" y="2596896"/>
            <a:ext cx="841248" cy="841248"/>
          </a:xfrm>
          <a:prstGeom prst="rect">
            <a:avLst/>
          </a:prstGeom>
          <a:noFill/>
          <a:ln/>
        </p:spPr>
        <p:txBody>
          <a:bodyPr wrap="square" lIns="0" tIns="0" rIns="0" bIns="0" rtlCol="0" anchor="ctr"/>
          <a:lstStyle/>
          <a:p>
            <a:pPr indent="0" marL="0">
              <a:buNone/>
            </a:pPr>
            <a:r>
              <a:rPr lang="en-US" sz="2000" b="1" dirty="0">
                <a:solidFill>
                  <a:srgbClr val="F2F7F4"/>
                </a:solidFill>
                <a:latin typeface="Calibri" pitchFamily="34" charset="0"/>
                <a:ea typeface="Calibri" pitchFamily="34" charset="-122"/>
                <a:cs typeface="Calibri" pitchFamily="34" charset="-120"/>
              </a:rPr>
              <a:t>BW</a:t>
            </a:r>
            <a:endParaRPr lang="en-US" sz="2000" dirty="0"/>
          </a:p>
        </p:txBody>
      </p:sp>
      <p:sp>
        <p:nvSpPr>
          <p:cNvPr id="11" name="Text 9"/>
          <p:cNvSpPr txBox="1"/>
          <p:nvPr/>
        </p:nvSpPr>
        <p:spPr>
          <a:xfrm>
            <a:off x="950976" y="3657600"/>
            <a:ext cx="2834640" cy="310896"/>
          </a:xfrm>
          <a:prstGeom prst="rect">
            <a:avLst/>
          </a:prstGeom>
          <a:noFill/>
          <a:ln/>
        </p:spPr>
        <p:txBody>
          <a:bodyPr wrap="square" lIns="0" tIns="0" rIns="0" bIns="0" rtlCol="0" anchor="ctr"/>
          <a:lstStyle/>
          <a:p>
            <a:pPr algn="l" indent="0" marL="0">
              <a:buNone/>
            </a:pPr>
            <a:r>
              <a:rPr lang="en-US" sz="1600" b="1" dirty="0">
                <a:solidFill>
                  <a:srgbClr val="0F2624"/>
                </a:solidFill>
                <a:latin typeface="Calibri" pitchFamily="34" charset="0"/>
                <a:ea typeface="Calibri" pitchFamily="34" charset="-122"/>
                <a:cs typeface="Calibri" pitchFamily="34" charset="-120"/>
              </a:rPr>
              <a:t>Brian Waweru</a:t>
            </a:r>
            <a:endParaRPr lang="en-US" sz="1600" dirty="0"/>
          </a:p>
        </p:txBody>
      </p:sp>
      <p:sp>
        <p:nvSpPr>
          <p:cNvPr id="12" name="Text 10"/>
          <p:cNvSpPr txBox="1"/>
          <p:nvPr/>
        </p:nvSpPr>
        <p:spPr>
          <a:xfrm>
            <a:off x="950976" y="3986784"/>
            <a:ext cx="2834640" cy="237744"/>
          </a:xfrm>
          <a:prstGeom prst="rect">
            <a:avLst/>
          </a:prstGeom>
          <a:noFill/>
          <a:ln/>
        </p:spPr>
        <p:txBody>
          <a:bodyPr wrap="square" lIns="0" tIns="0" rIns="0" bIns="0" rtlCol="0" anchor="ctr"/>
          <a:lstStyle/>
          <a:p>
            <a:pPr algn="l" indent="0" marL="0">
              <a:buNone/>
            </a:pPr>
            <a:r>
              <a:rPr lang="en-US" sz="950" b="1" spc="5000" kern="0" dirty="0">
                <a:solidFill>
                  <a:srgbClr val="4F6B66"/>
                </a:solidFill>
                <a:latin typeface="Calibri" pitchFamily="34" charset="0"/>
                <a:ea typeface="Calibri" pitchFamily="34" charset="-122"/>
                <a:cs typeface="Calibri" pitchFamily="34" charset="-120"/>
              </a:rPr>
              <a:t>FOUNDER · PRODUCT &amp; ENGINEERING</a:t>
            </a:r>
            <a:endParaRPr lang="en-US" sz="950" dirty="0"/>
          </a:p>
        </p:txBody>
      </p:sp>
      <p:sp>
        <p:nvSpPr>
          <p:cNvPr id="13" name="Text 11"/>
          <p:cNvSpPr txBox="1"/>
          <p:nvPr/>
        </p:nvSpPr>
        <p:spPr>
          <a:xfrm>
            <a:off x="950976" y="4279392"/>
            <a:ext cx="2834640" cy="749808"/>
          </a:xfrm>
          <a:prstGeom prst="rect">
            <a:avLst/>
          </a:prstGeom>
          <a:noFill/>
          <a:ln/>
        </p:spPr>
        <p:txBody>
          <a:bodyPr wrap="square" lIns="0" tIns="0" rIns="0" bIns="0" rtlCol="0" anchor="t"/>
          <a:lstStyle/>
          <a:p>
            <a:pPr algn="l" indent="0" marL="0">
              <a:lnSpc>
                <a:spcPct val="118000"/>
              </a:lnSpc>
              <a:buNone/>
            </a:pPr>
            <a:r>
              <a:rPr lang="en-US" sz="1250" b="1" dirty="0">
                <a:solidFill>
                  <a:srgbClr val="4F6B66"/>
                </a:solidFill>
                <a:latin typeface="Calibri" pitchFamily="34" charset="0"/>
                <a:ea typeface="Calibri" pitchFamily="34" charset="-122"/>
                <a:cs typeface="Calibri" pitchFamily="34" charset="-120"/>
              </a:rPr>
              <a:t>Founder of Appify. Shipped Eazibiz and DealerSync. Ran every interview here.</a:t>
            </a:r>
            <a:endParaRPr lang="en-US" sz="1250" dirty="0"/>
          </a:p>
        </p:txBody>
      </p:sp>
      <p:sp>
        <p:nvSpPr>
          <p:cNvPr id="14" name="Shape 12"/>
          <p:cNvSpPr/>
          <p:nvPr/>
        </p:nvSpPr>
        <p:spPr>
          <a:xfrm>
            <a:off x="4361688" y="2286000"/>
            <a:ext cx="3456432" cy="2999232"/>
          </a:xfrm>
          <a:prstGeom prst="roundRect">
            <a:avLst>
              <a:gd name="adj" fmla="val 3659"/>
            </a:avLst>
          </a:prstGeom>
          <a:solidFill>
            <a:srgbClr val="FFFFFF"/>
          </a:solidFill>
          <a:ln w="12700">
            <a:solidFill>
              <a:srgbClr val="D7E4DF"/>
            </a:solidFill>
            <a:prstDash val="solid"/>
          </a:ln>
        </p:spPr>
      </p:sp>
      <p:sp>
        <p:nvSpPr>
          <p:cNvPr id="15" name="Shape 13"/>
          <p:cNvSpPr/>
          <p:nvPr/>
        </p:nvSpPr>
        <p:spPr>
          <a:xfrm>
            <a:off x="4672584" y="2615184"/>
            <a:ext cx="841248" cy="841248"/>
          </a:xfrm>
          <a:prstGeom prst="ellipse">
            <a:avLst/>
          </a:prstGeom>
          <a:solidFill>
            <a:srgbClr val="0F2624"/>
          </a:solidFill>
          <a:ln/>
        </p:spPr>
      </p:sp>
      <p:sp>
        <p:nvSpPr>
          <p:cNvPr id="16" name="Text 14"/>
          <p:cNvSpPr txBox="1"/>
          <p:nvPr/>
        </p:nvSpPr>
        <p:spPr>
          <a:xfrm>
            <a:off x="4672584" y="2596896"/>
            <a:ext cx="841248" cy="841248"/>
          </a:xfrm>
          <a:prstGeom prst="rect">
            <a:avLst/>
          </a:prstGeom>
          <a:noFill/>
          <a:ln/>
        </p:spPr>
        <p:txBody>
          <a:bodyPr wrap="square" lIns="0" tIns="0" rIns="0" bIns="0" rtlCol="0" anchor="ctr"/>
          <a:lstStyle/>
          <a:p>
            <a:pPr indent="0" marL="0">
              <a:buNone/>
            </a:pPr>
            <a:r>
              <a:rPr lang="en-US" sz="2000" b="1" dirty="0">
                <a:solidFill>
                  <a:srgbClr val="F2F7F4"/>
                </a:solidFill>
                <a:latin typeface="Calibri" pitchFamily="34" charset="0"/>
                <a:ea typeface="Calibri" pitchFamily="34" charset="-122"/>
                <a:cs typeface="Calibri" pitchFamily="34" charset="-120"/>
              </a:rPr>
              <a:t>B</a:t>
            </a:r>
            <a:endParaRPr lang="en-US" sz="2000" dirty="0"/>
          </a:p>
        </p:txBody>
      </p:sp>
      <p:sp>
        <p:nvSpPr>
          <p:cNvPr id="17" name="Text 15"/>
          <p:cNvSpPr txBox="1"/>
          <p:nvPr/>
        </p:nvSpPr>
        <p:spPr>
          <a:xfrm>
            <a:off x="4672584" y="3657600"/>
            <a:ext cx="2834640" cy="310896"/>
          </a:xfrm>
          <a:prstGeom prst="rect">
            <a:avLst/>
          </a:prstGeom>
          <a:noFill/>
          <a:ln/>
        </p:spPr>
        <p:txBody>
          <a:bodyPr wrap="square" lIns="0" tIns="0" rIns="0" bIns="0" rtlCol="0" anchor="ctr"/>
          <a:lstStyle/>
          <a:p>
            <a:pPr algn="l" indent="0" marL="0">
              <a:buNone/>
            </a:pPr>
            <a:r>
              <a:rPr lang="en-US" sz="1600" b="1" dirty="0">
                <a:solidFill>
                  <a:srgbClr val="0F2624"/>
                </a:solidFill>
                <a:latin typeface="Calibri" pitchFamily="34" charset="0"/>
                <a:ea typeface="Calibri" pitchFamily="34" charset="-122"/>
                <a:cs typeface="Calibri" pitchFamily="34" charset="-120"/>
              </a:rPr>
              <a:t>Bright</a:t>
            </a:r>
            <a:endParaRPr lang="en-US" sz="1600" dirty="0"/>
          </a:p>
        </p:txBody>
      </p:sp>
      <p:sp>
        <p:nvSpPr>
          <p:cNvPr id="18" name="Text 16"/>
          <p:cNvSpPr txBox="1"/>
          <p:nvPr/>
        </p:nvSpPr>
        <p:spPr>
          <a:xfrm>
            <a:off x="4672584" y="3986784"/>
            <a:ext cx="2834640" cy="237744"/>
          </a:xfrm>
          <a:prstGeom prst="rect">
            <a:avLst/>
          </a:prstGeom>
          <a:noFill/>
          <a:ln/>
        </p:spPr>
        <p:txBody>
          <a:bodyPr wrap="square" lIns="0" tIns="0" rIns="0" bIns="0" rtlCol="0" anchor="ctr"/>
          <a:lstStyle/>
          <a:p>
            <a:pPr algn="l" indent="0" marL="0">
              <a:buNone/>
            </a:pPr>
            <a:r>
              <a:rPr lang="en-US" sz="950" b="1" spc="5000" kern="0" dirty="0">
                <a:solidFill>
                  <a:srgbClr val="4F6B66"/>
                </a:solidFill>
                <a:latin typeface="Calibri" pitchFamily="34" charset="0"/>
                <a:ea typeface="Calibri" pitchFamily="34" charset="-122"/>
                <a:cs typeface="Calibri" pitchFamily="34" charset="-120"/>
              </a:rPr>
              <a:t>ADVISOR · MARKET</a:t>
            </a:r>
            <a:endParaRPr lang="en-US" sz="950" dirty="0"/>
          </a:p>
        </p:txBody>
      </p:sp>
      <p:sp>
        <p:nvSpPr>
          <p:cNvPr id="19" name="Text 17"/>
          <p:cNvSpPr txBox="1"/>
          <p:nvPr/>
        </p:nvSpPr>
        <p:spPr>
          <a:xfrm>
            <a:off x="4672584" y="4279392"/>
            <a:ext cx="2834640" cy="749808"/>
          </a:xfrm>
          <a:prstGeom prst="rect">
            <a:avLst/>
          </a:prstGeom>
          <a:noFill/>
          <a:ln/>
        </p:spPr>
        <p:txBody>
          <a:bodyPr wrap="square" lIns="0" tIns="0" rIns="0" bIns="0" rtlCol="0" anchor="t"/>
          <a:lstStyle/>
          <a:p>
            <a:pPr algn="l" indent="0" marL="0">
              <a:lnSpc>
                <a:spcPct val="118000"/>
              </a:lnSpc>
              <a:buNone/>
            </a:pPr>
            <a:r>
              <a:rPr lang="en-US" sz="1250" b="1" dirty="0">
                <a:solidFill>
                  <a:srgbClr val="4F6B66"/>
                </a:solidFill>
                <a:latin typeface="Calibri" pitchFamily="34" charset="0"/>
                <a:ea typeface="Calibri" pitchFamily="34" charset="-122"/>
                <a:cs typeface="Calibri" pitchFamily="34" charset="-120"/>
              </a:rPr>
              <a:t>Runs cybersecurity training across the region. Brought the inbound case.</a:t>
            </a:r>
            <a:endParaRPr lang="en-US" sz="1250" dirty="0"/>
          </a:p>
        </p:txBody>
      </p:sp>
      <p:sp>
        <p:nvSpPr>
          <p:cNvPr id="20" name="Shape 18"/>
          <p:cNvSpPr/>
          <p:nvPr/>
        </p:nvSpPr>
        <p:spPr>
          <a:xfrm>
            <a:off x="8083296" y="2286000"/>
            <a:ext cx="3456432" cy="2999232"/>
          </a:xfrm>
          <a:prstGeom prst="roundRect">
            <a:avLst>
              <a:gd name="adj" fmla="val 3659"/>
            </a:avLst>
          </a:prstGeom>
          <a:solidFill>
            <a:srgbClr val="FFFFFF"/>
          </a:solidFill>
          <a:ln w="12700">
            <a:solidFill>
              <a:srgbClr val="D7E4DF"/>
            </a:solidFill>
            <a:prstDash val="solid"/>
          </a:ln>
        </p:spPr>
      </p:sp>
      <p:sp>
        <p:nvSpPr>
          <p:cNvPr id="21" name="Shape 19"/>
          <p:cNvSpPr/>
          <p:nvPr/>
        </p:nvSpPr>
        <p:spPr>
          <a:xfrm>
            <a:off x="8394192" y="2615184"/>
            <a:ext cx="841248" cy="841248"/>
          </a:xfrm>
          <a:prstGeom prst="ellipse">
            <a:avLst/>
          </a:prstGeom>
          <a:solidFill>
            <a:srgbClr val="0F2624"/>
          </a:solidFill>
          <a:ln/>
        </p:spPr>
      </p:sp>
      <p:pic>
        <p:nvPicPr>
          <p:cNvPr id="22" name="Image 0" descr="preencoded.png">    </p:cNvPr>
          <p:cNvPicPr>
            <a:picLocks noChangeAspect="1"/>
          </p:cNvPicPr>
          <p:nvPr/>
        </p:nvPicPr>
        <p:blipFill>
          <a:blip r:embed="rId1"/>
          <a:stretch>
            <a:fillRect/>
          </a:stretch>
        </p:blipFill>
        <p:spPr>
          <a:xfrm>
            <a:off x="8613648" y="2834640"/>
            <a:ext cx="402336" cy="402336"/>
          </a:xfrm>
          <a:prstGeom prst="rect">
            <a:avLst/>
          </a:prstGeom>
        </p:spPr>
      </p:pic>
      <p:sp>
        <p:nvSpPr>
          <p:cNvPr id="23" name="Text 20"/>
          <p:cNvSpPr txBox="1"/>
          <p:nvPr/>
        </p:nvSpPr>
        <p:spPr>
          <a:xfrm>
            <a:off x="8394192" y="3657600"/>
            <a:ext cx="2834640" cy="310896"/>
          </a:xfrm>
          <a:prstGeom prst="rect">
            <a:avLst/>
          </a:prstGeom>
          <a:noFill/>
          <a:ln/>
        </p:spPr>
        <p:txBody>
          <a:bodyPr wrap="square" lIns="0" tIns="0" rIns="0" bIns="0" rtlCol="0" anchor="ctr"/>
          <a:lstStyle/>
          <a:p>
            <a:pPr algn="l" indent="0" marL="0">
              <a:buNone/>
            </a:pPr>
            <a:r>
              <a:rPr lang="en-US" sz="1600" b="1" dirty="0">
                <a:solidFill>
                  <a:srgbClr val="0F2624"/>
                </a:solidFill>
                <a:latin typeface="Calibri" pitchFamily="34" charset="0"/>
                <a:ea typeface="Calibri" pitchFamily="34" charset="-122"/>
                <a:cs typeface="Calibri" pitchFamily="34" charset="-120"/>
              </a:rPr>
              <a:t>Compliance lead</a:t>
            </a:r>
            <a:endParaRPr lang="en-US" sz="1600" dirty="0"/>
          </a:p>
        </p:txBody>
      </p:sp>
      <p:sp>
        <p:nvSpPr>
          <p:cNvPr id="24" name="Text 21"/>
          <p:cNvSpPr txBox="1"/>
          <p:nvPr/>
        </p:nvSpPr>
        <p:spPr>
          <a:xfrm>
            <a:off x="8394192" y="3986784"/>
            <a:ext cx="2834640" cy="237744"/>
          </a:xfrm>
          <a:prstGeom prst="rect">
            <a:avLst/>
          </a:prstGeom>
          <a:noFill/>
          <a:ln/>
        </p:spPr>
        <p:txBody>
          <a:bodyPr wrap="square" lIns="0" tIns="0" rIns="0" bIns="0" rtlCol="0" anchor="ctr"/>
          <a:lstStyle/>
          <a:p>
            <a:pPr algn="l" indent="0" marL="0">
              <a:buNone/>
            </a:pPr>
            <a:r>
              <a:rPr lang="en-US" sz="950" b="1" spc="5000" kern="0" dirty="0">
                <a:solidFill>
                  <a:srgbClr val="4F6B66"/>
                </a:solidFill>
                <a:latin typeface="Calibri" pitchFamily="34" charset="0"/>
                <a:ea typeface="Calibri" pitchFamily="34" charset="-122"/>
                <a:cs typeface="Calibri" pitchFamily="34" charset="-120"/>
              </a:rPr>
              <a:t>HIRING WITH THIS ROUND</a:t>
            </a:r>
            <a:endParaRPr lang="en-US" sz="950" dirty="0"/>
          </a:p>
        </p:txBody>
      </p:sp>
      <p:sp>
        <p:nvSpPr>
          <p:cNvPr id="25" name="Text 22"/>
          <p:cNvSpPr txBox="1"/>
          <p:nvPr/>
        </p:nvSpPr>
        <p:spPr>
          <a:xfrm>
            <a:off x="8394192" y="4279392"/>
            <a:ext cx="2834640" cy="749808"/>
          </a:xfrm>
          <a:prstGeom prst="rect">
            <a:avLst/>
          </a:prstGeom>
          <a:noFill/>
          <a:ln/>
        </p:spPr>
        <p:txBody>
          <a:bodyPr wrap="square" lIns="0" tIns="0" rIns="0" bIns="0" rtlCol="0" anchor="t"/>
          <a:lstStyle/>
          <a:p>
            <a:pPr algn="l" indent="0" marL="0">
              <a:lnSpc>
                <a:spcPct val="118000"/>
              </a:lnSpc>
              <a:buNone/>
            </a:pPr>
            <a:r>
              <a:rPr lang="en-US" sz="1250" b="1" dirty="0">
                <a:solidFill>
                  <a:srgbClr val="4F6B66"/>
                </a:solidFill>
                <a:latin typeface="Calibri" pitchFamily="34" charset="0"/>
                <a:ea typeface="Calibri" pitchFamily="34" charset="-122"/>
                <a:cs typeface="Calibri" pitchFamily="34" charset="-120"/>
              </a:rPr>
              <a:t>Part-time, ex-bank AML. In place before the first live shilling.</a:t>
            </a:r>
            <a:endParaRPr lang="en-US" sz="1250" dirty="0"/>
          </a:p>
        </p:txBody>
      </p:sp>
      <p:sp>
        <p:nvSpPr>
          <p:cNvPr id="26" name="Text 23"/>
          <p:cNvSpPr txBox="1"/>
          <p:nvPr/>
        </p:nvSpPr>
        <p:spPr>
          <a:xfrm>
            <a:off x="640080" y="5577840"/>
            <a:ext cx="10908792" cy="365760"/>
          </a:xfrm>
          <a:prstGeom prst="rect">
            <a:avLst/>
          </a:prstGeom>
          <a:noFill/>
          <a:ln/>
        </p:spPr>
        <p:txBody>
          <a:bodyPr wrap="square" lIns="0" tIns="0" rIns="0" bIns="0" rtlCol="0" anchor="ctr"/>
          <a:lstStyle/>
          <a:p>
            <a:pPr algn="l" indent="0" marL="0">
              <a:buNone/>
            </a:pPr>
            <a:r>
              <a:rPr lang="en-US" sz="1500" b="1" dirty="0">
                <a:solidFill>
                  <a:srgbClr val="12705A"/>
                </a:solidFill>
                <a:latin typeface="Calibri" pitchFamily="34" charset="0"/>
                <a:ea typeface="Calibri" pitchFamily="34" charset="-122"/>
                <a:cs typeface="Calibri" pitchFamily="34" charset="-120"/>
              </a:rPr>
              <a:t>“The spec is written, the demos are built, and the customers are named. What is missing is the build.”</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F5F2"/>
        </a:solidFill>
      </p:bgPr>
    </p:bg>
    <p:spTree>
      <p:nvGrpSpPr>
        <p:cNvPr id="1" name=""/>
        <p:cNvGrpSpPr/>
        <p:nvPr/>
      </p:nvGrpSpPr>
      <p:grpSpPr>
        <a:xfrm>
          <a:off x="0" y="0"/>
          <a:ext cx="0" cy="0"/>
          <a:chOff x="0" y="0"/>
          <a:chExt cx="0" cy="0"/>
        </a:xfrm>
      </p:grpSpPr>
      <p:sp>
        <p:nvSpPr>
          <p:cNvPr id="2" name="Text 0"/>
          <p:cNvSpPr txBox="1"/>
          <p:nvPr/>
        </p:nvSpPr>
        <p:spPr>
          <a:xfrm>
            <a:off x="640080" y="512064"/>
            <a:ext cx="10908792" cy="274320"/>
          </a:xfrm>
          <a:prstGeom prst="rect">
            <a:avLst/>
          </a:prstGeom>
          <a:noFill/>
          <a:ln/>
        </p:spPr>
        <p:txBody>
          <a:bodyPr wrap="square" lIns="0" tIns="0" rIns="0" bIns="0" rtlCol="0" anchor="ctr"/>
          <a:lstStyle/>
          <a:p>
            <a:pPr algn="l" indent="0" marL="0">
              <a:buNone/>
            </a:pPr>
            <a:r>
              <a:rPr lang="en-US" sz="1100" b="1" spc="6000" kern="0" dirty="0">
                <a:solidFill>
                  <a:srgbClr val="4F6B66"/>
                </a:solidFill>
                <a:latin typeface="Calibri" pitchFamily="34" charset="0"/>
                <a:ea typeface="Calibri" pitchFamily="34" charset="-122"/>
                <a:cs typeface="Calibri" pitchFamily="34" charset="-120"/>
              </a:rPr>
              <a:t>11 · FINANCIALS</a:t>
            </a:r>
            <a:endParaRPr lang="en-US" sz="1100" dirty="0"/>
          </a:p>
        </p:txBody>
      </p:sp>
      <p:sp>
        <p:nvSpPr>
          <p:cNvPr id="3" name="Text 1"/>
          <p:cNvSpPr txBox="1"/>
          <p:nvPr/>
        </p:nvSpPr>
        <p:spPr>
          <a:xfrm>
            <a:off x="640080" y="868680"/>
            <a:ext cx="10908792" cy="1234440"/>
          </a:xfrm>
          <a:prstGeom prst="rect">
            <a:avLst/>
          </a:prstGeom>
          <a:noFill/>
          <a:ln/>
        </p:spPr>
        <p:txBody>
          <a:bodyPr wrap="square" lIns="0" tIns="0" rIns="0" bIns="0" rtlCol="0" anchor="t"/>
          <a:lstStyle/>
          <a:p>
            <a:pPr indent="0" marL="0">
              <a:lnSpc>
                <a:spcPct val="104000"/>
              </a:lnSpc>
              <a:buNone/>
            </a:pPr>
            <a:r>
              <a:rPr lang="en-US" sz="3000" b="1" dirty="0">
                <a:solidFill>
                  <a:srgbClr val="0F2624"/>
                </a:solidFill>
                <a:latin typeface="Calibri" pitchFamily="34" charset="0"/>
                <a:ea typeface="Calibri" pitchFamily="34" charset="-122"/>
                <a:cs typeface="Calibri" pitchFamily="34" charset="-120"/>
              </a:rPr>
              <a:t>Path to </a:t>
            </a:r>
            <a:pPr indent="0" marL="0">
              <a:lnSpc>
                <a:spcPct val="104000"/>
              </a:lnSpc>
              <a:buNone/>
            </a:pPr>
            <a:r>
              <a:rPr lang="en-US" sz="3000" b="1" dirty="0">
                <a:solidFill>
                  <a:srgbClr val="12705A"/>
                </a:solidFill>
                <a:latin typeface="Calibri" pitchFamily="34" charset="0"/>
                <a:ea typeface="Calibri" pitchFamily="34" charset="-122"/>
                <a:cs typeface="Calibri" pitchFamily="34" charset="-120"/>
              </a:rPr>
              <a:t>$700K ARR</a:t>
            </a:r>
            <a:pPr indent="0" marL="0">
              <a:lnSpc>
                <a:spcPct val="104000"/>
              </a:lnSpc>
              <a:buNone/>
            </a:pPr>
            <a:r>
              <a:rPr lang="en-US" sz="3000" b="1" dirty="0">
                <a:solidFill>
                  <a:srgbClr val="0F2624"/>
                </a:solidFill>
                <a:latin typeface="Calibri" pitchFamily="34" charset="0"/>
                <a:ea typeface="Calibri" pitchFamily="34" charset="-122"/>
                <a:cs typeface="Calibri" pitchFamily="34" charset="-120"/>
              </a:rPr>
              <a:t> by 2029.</a:t>
            </a:r>
            <a:endParaRPr lang="en-US" sz="3000" dirty="0"/>
          </a:p>
        </p:txBody>
      </p:sp>
      <p:sp>
        <p:nvSpPr>
          <p:cNvPr id="4" name="Shape 2"/>
          <p:cNvSpPr/>
          <p:nvPr/>
        </p:nvSpPr>
        <p:spPr>
          <a:xfrm>
            <a:off x="640080" y="6382512"/>
            <a:ext cx="274320" cy="274320"/>
          </a:xfrm>
          <a:prstGeom prst="roundRect">
            <a:avLst>
              <a:gd name="adj" fmla="val 21800"/>
            </a:avLst>
          </a:prstGeom>
          <a:solidFill>
            <a:srgbClr val="3ECFA0"/>
          </a:solidFill>
          <a:ln w="12700">
            <a:solidFill>
              <a:srgbClr val="3ECFA0"/>
            </a:solidFill>
            <a:prstDash val="solid"/>
          </a:ln>
        </p:spPr>
      </p:sp>
      <p:sp>
        <p:nvSpPr>
          <p:cNvPr id="5" name="Shape 3"/>
          <p:cNvSpPr/>
          <p:nvPr/>
        </p:nvSpPr>
        <p:spPr>
          <a:xfrm>
            <a:off x="717438" y="6459870"/>
            <a:ext cx="119604" cy="119604"/>
          </a:xfrm>
          <a:prstGeom prst="ellipse">
            <a:avLst/>
          </a:prstGeom>
          <a:solidFill>
            <a:srgbClr val="3ECFA0"/>
          </a:solidFill>
          <a:ln w="13868">
            <a:solidFill>
              <a:srgbClr val="0B1A19"/>
            </a:solidFill>
            <a:prstDash val="solid"/>
          </a:ln>
        </p:spPr>
      </p:sp>
      <p:sp>
        <p:nvSpPr>
          <p:cNvPr id="6" name="Text 4"/>
          <p:cNvSpPr txBox="1"/>
          <p:nvPr/>
        </p:nvSpPr>
        <p:spPr>
          <a:xfrm>
            <a:off x="1005840" y="6400800"/>
            <a:ext cx="3291840" cy="237744"/>
          </a:xfrm>
          <a:prstGeom prst="rect">
            <a:avLst/>
          </a:prstGeom>
          <a:noFill/>
          <a:ln/>
        </p:spPr>
        <p:txBody>
          <a:bodyPr wrap="square" lIns="0" tIns="0" rIns="0" bIns="0" rtlCol="0" anchor="ctr"/>
          <a:lstStyle/>
          <a:p>
            <a:pPr algn="l" indent="0" marL="0">
              <a:buNone/>
            </a:pPr>
            <a:r>
              <a:rPr lang="en-US" sz="800" b="1" spc="4000" kern="0" dirty="0">
                <a:solidFill>
                  <a:srgbClr val="4F6B66"/>
                </a:solidFill>
                <a:latin typeface="Calibri" pitchFamily="34" charset="0"/>
                <a:ea typeface="Calibri" pitchFamily="34" charset="-122"/>
                <a:cs typeface="Calibri" pitchFamily="34" charset="-120"/>
              </a:rPr>
              <a:t>MERIDIAN · APPIFY SOFTWARES</a:t>
            </a:r>
            <a:endParaRPr lang="en-US" sz="800" dirty="0"/>
          </a:p>
        </p:txBody>
      </p:sp>
      <p:sp>
        <p:nvSpPr>
          <p:cNvPr id="7" name="Text 5"/>
          <p:cNvSpPr txBox="1"/>
          <p:nvPr/>
        </p:nvSpPr>
        <p:spPr>
          <a:xfrm>
            <a:off x="7434072" y="6400800"/>
            <a:ext cx="4114800" cy="237744"/>
          </a:xfrm>
          <a:prstGeom prst="rect">
            <a:avLst/>
          </a:prstGeom>
          <a:noFill/>
          <a:ln/>
        </p:spPr>
        <p:txBody>
          <a:bodyPr wrap="square" lIns="0" tIns="0" rIns="0" bIns="0" rtlCol="0" anchor="ctr"/>
          <a:lstStyle/>
          <a:p>
            <a:pPr algn="r" indent="0" marL="0">
              <a:buNone/>
            </a:pPr>
            <a:r>
              <a:rPr lang="en-US" sz="800" b="1" spc="4000" kern="0" dirty="0">
                <a:solidFill>
                  <a:srgbClr val="4F6B66"/>
                </a:solidFill>
                <a:latin typeface="Calibri" pitchFamily="34" charset="0"/>
                <a:ea typeface="Calibri" pitchFamily="34" charset="-122"/>
                <a:cs typeface="Calibri" pitchFamily="34" charset="-120"/>
              </a:rPr>
              <a:t>PROJECTIONS ILLUSTRATIVE · 11 / 12</a:t>
            </a:r>
            <a:endParaRPr lang="en-US" sz="800" dirty="0"/>
          </a:p>
        </p:txBody>
      </p:sp>
      <p:sp>
        <p:nvSpPr>
          <p:cNvPr id="8" name="Text 6"/>
          <p:cNvSpPr txBox="1"/>
          <p:nvPr/>
        </p:nvSpPr>
        <p:spPr>
          <a:xfrm>
            <a:off x="640080" y="1993392"/>
            <a:ext cx="6400800" cy="274320"/>
          </a:xfrm>
          <a:prstGeom prst="rect">
            <a:avLst/>
          </a:prstGeom>
          <a:noFill/>
          <a:ln/>
        </p:spPr>
        <p:txBody>
          <a:bodyPr wrap="square" lIns="0" tIns="0" rIns="0" bIns="0" rtlCol="0" anchor="ctr"/>
          <a:lstStyle/>
          <a:p>
            <a:pPr algn="l" indent="0" marL="0">
              <a:buNone/>
            </a:pPr>
            <a:r>
              <a:rPr lang="en-US" sz="1100" b="1" dirty="0">
                <a:solidFill>
                  <a:srgbClr val="4F6B66"/>
                </a:solidFill>
                <a:latin typeface="Calibri" pitchFamily="34" charset="0"/>
                <a:ea typeface="Calibri" pitchFamily="34" charset="-122"/>
                <a:cs typeface="Calibri" pitchFamily="34" charset="-120"/>
              </a:rPr>
              <a:t>Projected annual revenue, $ '000. Driven by one assumption.</a:t>
            </a:r>
            <a:endParaRPr lang="en-US" sz="1100" dirty="0"/>
          </a:p>
        </p:txBody>
      </p:sp>
      <p:graphicFrame>
        <p:nvGraphicFramePr>
          <p:cNvPr id="9" name="Chart 0" descr=""/>
          <p:cNvGraphicFramePr/>
          <p:nvPr/>
        </p:nvGraphicFramePr>
        <p:xfrm>
          <a:off x="640080" y="2331720"/>
          <a:ext cx="6309360" cy="379476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7315200" y="2331720"/>
            <a:ext cx="4233672" cy="2240280"/>
          </a:xfrm>
          <a:prstGeom prst="roundRect">
            <a:avLst>
              <a:gd name="adj" fmla="val 5714"/>
            </a:avLst>
          </a:prstGeom>
          <a:solidFill>
            <a:srgbClr val="FFFFFF"/>
          </a:solidFill>
          <a:ln w="12700">
            <a:solidFill>
              <a:srgbClr val="D7E4DF"/>
            </a:solidFill>
            <a:prstDash val="solid"/>
          </a:ln>
        </p:spPr>
      </p:sp>
      <p:sp>
        <p:nvSpPr>
          <p:cNvPr id="11" name="Text 8"/>
          <p:cNvSpPr txBox="1"/>
          <p:nvPr/>
        </p:nvSpPr>
        <p:spPr>
          <a:xfrm>
            <a:off x="7635240" y="2651760"/>
            <a:ext cx="3593592" cy="256032"/>
          </a:xfrm>
          <a:prstGeom prst="rect">
            <a:avLst/>
          </a:prstGeom>
          <a:noFill/>
          <a:ln/>
        </p:spPr>
        <p:txBody>
          <a:bodyPr wrap="square" lIns="0" tIns="0" rIns="0" bIns="0" rtlCol="0" anchor="ctr"/>
          <a:lstStyle/>
          <a:p>
            <a:pPr algn="l" indent="0" marL="0">
              <a:buNone/>
            </a:pPr>
            <a:r>
              <a:rPr lang="en-US" sz="1000" b="1" spc="6000" kern="0" dirty="0">
                <a:solidFill>
                  <a:srgbClr val="4F6B66"/>
                </a:solidFill>
                <a:latin typeface="Calibri" pitchFamily="34" charset="0"/>
                <a:ea typeface="Calibri" pitchFamily="34" charset="-122"/>
                <a:cs typeface="Calibri" pitchFamily="34" charset="-120"/>
              </a:rPr>
              <a:t>THE ONE ASSUMPTION</a:t>
            </a:r>
            <a:endParaRPr lang="en-US" sz="1000" dirty="0"/>
          </a:p>
        </p:txBody>
      </p:sp>
      <p:sp>
        <p:nvSpPr>
          <p:cNvPr id="12" name="Text 9"/>
          <p:cNvSpPr txBox="1"/>
          <p:nvPr/>
        </p:nvSpPr>
        <p:spPr>
          <a:xfrm>
            <a:off x="7635240" y="2999232"/>
            <a:ext cx="3593592" cy="868680"/>
          </a:xfrm>
          <a:prstGeom prst="rect">
            <a:avLst/>
          </a:prstGeom>
          <a:noFill/>
          <a:ln/>
        </p:spPr>
        <p:txBody>
          <a:bodyPr wrap="square" lIns="0" tIns="0" rIns="0" bIns="0" rtlCol="0" anchor="t"/>
          <a:lstStyle/>
          <a:p>
            <a:pPr algn="l" indent="0" marL="0">
              <a:lnSpc>
                <a:spcPct val="125000"/>
              </a:lnSpc>
              <a:buNone/>
            </a:pPr>
            <a:r>
              <a:rPr lang="en-US" sz="1500" b="1" dirty="0">
                <a:solidFill>
                  <a:srgbClr val="0F2624"/>
                </a:solidFill>
                <a:latin typeface="Calibri" pitchFamily="34" charset="0"/>
                <a:ea typeface="Calibri" pitchFamily="34" charset="-122"/>
                <a:cs typeface="Calibri" pitchFamily="34" charset="-120"/>
              </a:rPr>
              <a:t>500 active businesses by 2029, each moving KES 1.5M a month.</a:t>
            </a:r>
            <a:endParaRPr lang="en-US" sz="1500" dirty="0"/>
          </a:p>
        </p:txBody>
      </p:sp>
      <p:sp>
        <p:nvSpPr>
          <p:cNvPr id="13" name="Text 10"/>
          <p:cNvSpPr txBox="1"/>
          <p:nvPr/>
        </p:nvSpPr>
        <p:spPr>
          <a:xfrm>
            <a:off x="7635240" y="3931920"/>
            <a:ext cx="3593592" cy="411480"/>
          </a:xfrm>
          <a:prstGeom prst="rect">
            <a:avLst/>
          </a:prstGeom>
          <a:noFill/>
          <a:ln/>
        </p:spPr>
        <p:txBody>
          <a:bodyPr wrap="square" lIns="0" tIns="0" rIns="0" bIns="0" rtlCol="0" anchor="t"/>
          <a:lstStyle/>
          <a:p>
            <a:pPr algn="l" indent="0" marL="0">
              <a:lnSpc>
                <a:spcPct val="120000"/>
              </a:lnSpc>
              <a:buNone/>
            </a:pPr>
            <a:r>
              <a:rPr lang="en-US" sz="1150" b="1" dirty="0">
                <a:solidFill>
                  <a:srgbClr val="4F6B66"/>
                </a:solidFill>
                <a:latin typeface="Calibri" pitchFamily="34" charset="0"/>
                <a:ea typeface="Calibri" pitchFamily="34" charset="-122"/>
                <a:cs typeface="Calibri" pitchFamily="34" charset="-120"/>
              </a:rPr>
              <a:t>Everything else is arithmetic. Challenge this number.</a:t>
            </a:r>
            <a:endParaRPr lang="en-US" sz="1150" dirty="0"/>
          </a:p>
        </p:txBody>
      </p:sp>
      <p:sp>
        <p:nvSpPr>
          <p:cNvPr id="14" name="Shape 11"/>
          <p:cNvSpPr/>
          <p:nvPr/>
        </p:nvSpPr>
        <p:spPr>
          <a:xfrm>
            <a:off x="7315200" y="4800600"/>
            <a:ext cx="4233672" cy="1325880"/>
          </a:xfrm>
          <a:prstGeom prst="roundRect">
            <a:avLst>
              <a:gd name="adj" fmla="val 9655"/>
            </a:avLst>
          </a:prstGeom>
          <a:solidFill>
            <a:srgbClr val="0F2624"/>
          </a:solidFill>
          <a:ln/>
        </p:spPr>
      </p:sp>
      <p:sp>
        <p:nvSpPr>
          <p:cNvPr id="15" name="Text 12"/>
          <p:cNvSpPr txBox="1"/>
          <p:nvPr/>
        </p:nvSpPr>
        <p:spPr>
          <a:xfrm>
            <a:off x="7635240" y="5056632"/>
            <a:ext cx="3593592" cy="822960"/>
          </a:xfrm>
          <a:prstGeom prst="rect">
            <a:avLst/>
          </a:prstGeom>
          <a:noFill/>
          <a:ln/>
        </p:spPr>
        <p:txBody>
          <a:bodyPr wrap="square" lIns="0" tIns="0" rIns="0" bIns="0" rtlCol="0" anchor="ctr"/>
          <a:lstStyle/>
          <a:p>
            <a:pPr indent="0" marL="0">
              <a:lnSpc>
                <a:spcPct val="130000"/>
              </a:lnSpc>
              <a:buNone/>
            </a:pPr>
            <a:r>
              <a:rPr lang="en-US" sz="1500" b="1" dirty="0">
                <a:solidFill>
                  <a:srgbClr val="F2F7F4"/>
                </a:solidFill>
                <a:latin typeface="Calibri" pitchFamily="34" charset="0"/>
                <a:ea typeface="Calibri" pitchFamily="34" charset="-122"/>
                <a:cs typeface="Calibri" pitchFamily="34" charset="-120"/>
              </a:rPr>
              <a:t>Burn $8K / month after hires</a:t>
            </a:r>
            <a:endParaRPr lang="en-US" sz="1500" dirty="0"/>
          </a:p>
          <a:p>
            <a:pPr indent="0" marL="0">
              <a:lnSpc>
                <a:spcPct val="130000"/>
              </a:lnSpc>
              <a:buNone/>
            </a:pPr>
            <a:r>
              <a:rPr lang="en-US" sz="1300" b="1" dirty="0">
                <a:solidFill>
                  <a:srgbClr val="9FB8B2"/>
                </a:solidFill>
                <a:latin typeface="Calibri" pitchFamily="34" charset="0"/>
                <a:ea typeface="Calibri" pitchFamily="34" charset="-122"/>
                <a:cs typeface="Calibri" pitchFamily="34" charset="-120"/>
              </a:rPr>
              <a:t>12 months runway on this raise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624"/>
        </a:solidFill>
      </p:bgPr>
    </p:bg>
    <p:spTree>
      <p:nvGrpSpPr>
        <p:cNvPr id="1" name=""/>
        <p:cNvGrpSpPr/>
        <p:nvPr/>
      </p:nvGrpSpPr>
      <p:grpSpPr>
        <a:xfrm>
          <a:off x="0" y="0"/>
          <a:ext cx="0" cy="0"/>
          <a:chOff x="0" y="0"/>
          <a:chExt cx="0" cy="0"/>
        </a:xfrm>
      </p:grpSpPr>
      <p:sp>
        <p:nvSpPr>
          <p:cNvPr id="2" name="Text 0"/>
          <p:cNvSpPr txBox="1"/>
          <p:nvPr/>
        </p:nvSpPr>
        <p:spPr>
          <a:xfrm>
            <a:off x="640080" y="512064"/>
            <a:ext cx="10908792" cy="274320"/>
          </a:xfrm>
          <a:prstGeom prst="rect">
            <a:avLst/>
          </a:prstGeom>
          <a:noFill/>
          <a:ln/>
        </p:spPr>
        <p:txBody>
          <a:bodyPr wrap="square" lIns="0" tIns="0" rIns="0" bIns="0" rtlCol="0" anchor="ctr"/>
          <a:lstStyle/>
          <a:p>
            <a:pPr algn="l" indent="0" marL="0">
              <a:buNone/>
            </a:pPr>
            <a:r>
              <a:rPr lang="en-US" sz="1100" b="1" spc="6000" kern="0" dirty="0">
                <a:solidFill>
                  <a:srgbClr val="9FB8B2"/>
                </a:solidFill>
                <a:latin typeface="Calibri" pitchFamily="34" charset="0"/>
                <a:ea typeface="Calibri" pitchFamily="34" charset="-122"/>
                <a:cs typeface="Calibri" pitchFamily="34" charset="-120"/>
              </a:rPr>
              <a:t>12 · THE ASK</a:t>
            </a:r>
            <a:endParaRPr lang="en-US" sz="1100" dirty="0"/>
          </a:p>
        </p:txBody>
      </p:sp>
      <p:sp>
        <p:nvSpPr>
          <p:cNvPr id="3" name="Text 1"/>
          <p:cNvSpPr txBox="1"/>
          <p:nvPr/>
        </p:nvSpPr>
        <p:spPr>
          <a:xfrm>
            <a:off x="640080" y="868680"/>
            <a:ext cx="10908792" cy="1234440"/>
          </a:xfrm>
          <a:prstGeom prst="rect">
            <a:avLst/>
          </a:prstGeom>
          <a:noFill/>
          <a:ln/>
        </p:spPr>
        <p:txBody>
          <a:bodyPr wrap="square" lIns="0" tIns="0" rIns="0" bIns="0" rtlCol="0" anchor="t"/>
          <a:lstStyle/>
          <a:p>
            <a:pPr indent="0" marL="0">
              <a:lnSpc>
                <a:spcPct val="104000"/>
              </a:lnSpc>
              <a:buNone/>
            </a:pPr>
            <a:r>
              <a:rPr lang="en-US" sz="3000" b="1" dirty="0">
                <a:solidFill>
                  <a:srgbClr val="F2F7F4"/>
                </a:solidFill>
                <a:latin typeface="Calibri" pitchFamily="34" charset="0"/>
                <a:ea typeface="Calibri" pitchFamily="34" charset="-122"/>
                <a:cs typeface="Calibri" pitchFamily="34" charset="-120"/>
              </a:rPr>
              <a:t>Raising </a:t>
            </a:r>
            <a:pPr indent="0" marL="0">
              <a:lnSpc>
                <a:spcPct val="104000"/>
              </a:lnSpc>
              <a:buNone/>
            </a:pPr>
            <a:r>
              <a:rPr lang="en-US" sz="3000" b="1" dirty="0">
                <a:solidFill>
                  <a:srgbClr val="3ECFA0"/>
                </a:solidFill>
                <a:latin typeface="Calibri" pitchFamily="34" charset="0"/>
                <a:ea typeface="Calibri" pitchFamily="34" charset="-122"/>
                <a:cs typeface="Calibri" pitchFamily="34" charset="-120"/>
              </a:rPr>
              <a:t>$150K</a:t>
            </a:r>
            <a:pPr indent="0" marL="0">
              <a:lnSpc>
                <a:spcPct val="104000"/>
              </a:lnSpc>
              <a:buNone/>
            </a:pPr>
            <a:r>
              <a:rPr lang="en-US" sz="3000" b="1" dirty="0">
                <a:solidFill>
                  <a:srgbClr val="F2F7F4"/>
                </a:solidFill>
                <a:latin typeface="Calibri" pitchFamily="34" charset="0"/>
                <a:ea typeface="Calibri" pitchFamily="34" charset="-122"/>
                <a:cs typeface="Calibri" pitchFamily="34" charset="-120"/>
              </a:rPr>
              <a:t> to reach 100 paying businesses.</a:t>
            </a:r>
            <a:endParaRPr lang="en-US" sz="3000" dirty="0"/>
          </a:p>
        </p:txBody>
      </p:sp>
      <p:sp>
        <p:nvSpPr>
          <p:cNvPr id="4" name="Shape 2"/>
          <p:cNvSpPr/>
          <p:nvPr/>
        </p:nvSpPr>
        <p:spPr>
          <a:xfrm>
            <a:off x="640080" y="6382512"/>
            <a:ext cx="274320" cy="274320"/>
          </a:xfrm>
          <a:prstGeom prst="roundRect">
            <a:avLst>
              <a:gd name="adj" fmla="val 21800"/>
            </a:avLst>
          </a:prstGeom>
          <a:solidFill>
            <a:srgbClr val="3ECFA0"/>
          </a:solidFill>
          <a:ln w="12700">
            <a:solidFill>
              <a:srgbClr val="3ECFA0"/>
            </a:solidFill>
            <a:prstDash val="solid"/>
          </a:ln>
        </p:spPr>
      </p:sp>
      <p:sp>
        <p:nvSpPr>
          <p:cNvPr id="5" name="Shape 3"/>
          <p:cNvSpPr/>
          <p:nvPr/>
        </p:nvSpPr>
        <p:spPr>
          <a:xfrm>
            <a:off x="717438" y="6459870"/>
            <a:ext cx="119604" cy="119604"/>
          </a:xfrm>
          <a:prstGeom prst="ellipse">
            <a:avLst/>
          </a:prstGeom>
          <a:solidFill>
            <a:srgbClr val="3ECFA0"/>
          </a:solidFill>
          <a:ln w="13868">
            <a:solidFill>
              <a:srgbClr val="0B1A19"/>
            </a:solidFill>
            <a:prstDash val="solid"/>
          </a:ln>
        </p:spPr>
      </p:sp>
      <p:sp>
        <p:nvSpPr>
          <p:cNvPr id="6" name="Text 4"/>
          <p:cNvSpPr txBox="1"/>
          <p:nvPr/>
        </p:nvSpPr>
        <p:spPr>
          <a:xfrm>
            <a:off x="1005840" y="6400800"/>
            <a:ext cx="3291840" cy="237744"/>
          </a:xfrm>
          <a:prstGeom prst="rect">
            <a:avLst/>
          </a:prstGeom>
          <a:noFill/>
          <a:ln/>
        </p:spPr>
        <p:txBody>
          <a:bodyPr wrap="square" lIns="0" tIns="0" rIns="0" bIns="0" rtlCol="0" anchor="ctr"/>
          <a:lstStyle/>
          <a:p>
            <a:pPr algn="l" indent="0" marL="0">
              <a:buNone/>
            </a:pPr>
            <a:r>
              <a:rPr lang="en-US" sz="800" b="1" spc="4000" kern="0" dirty="0">
                <a:solidFill>
                  <a:srgbClr val="9FB8B2"/>
                </a:solidFill>
                <a:latin typeface="Calibri" pitchFamily="34" charset="0"/>
                <a:ea typeface="Calibri" pitchFamily="34" charset="-122"/>
                <a:cs typeface="Calibri" pitchFamily="34" charset="-120"/>
              </a:rPr>
              <a:t>MERIDIAN · APPIFY SOFTWARES</a:t>
            </a:r>
            <a:endParaRPr lang="en-US" sz="800" dirty="0"/>
          </a:p>
        </p:txBody>
      </p:sp>
      <p:sp>
        <p:nvSpPr>
          <p:cNvPr id="7" name="Text 5"/>
          <p:cNvSpPr txBox="1"/>
          <p:nvPr/>
        </p:nvSpPr>
        <p:spPr>
          <a:xfrm>
            <a:off x="7434072" y="6400800"/>
            <a:ext cx="4114800" cy="237744"/>
          </a:xfrm>
          <a:prstGeom prst="rect">
            <a:avLst/>
          </a:prstGeom>
          <a:noFill/>
          <a:ln/>
        </p:spPr>
        <p:txBody>
          <a:bodyPr wrap="square" lIns="0" tIns="0" rIns="0" bIns="0" rtlCol="0" anchor="ctr"/>
          <a:lstStyle/>
          <a:p>
            <a:pPr algn="r" indent="0" marL="0">
              <a:buNone/>
            </a:pPr>
            <a:r>
              <a:rPr lang="en-US" sz="800" b="1" spc="4000" kern="0" dirty="0">
                <a:solidFill>
                  <a:srgbClr val="9FB8B2"/>
                </a:solidFill>
                <a:latin typeface="Calibri" pitchFamily="34" charset="0"/>
                <a:ea typeface="Calibri" pitchFamily="34" charset="-122"/>
                <a:cs typeface="Calibri" pitchFamily="34" charset="-120"/>
              </a:rPr>
              <a:t>PROJECTIONS ILLUSTRATIVE · 12 / 12</a:t>
            </a:r>
            <a:endParaRPr lang="en-US" sz="800" dirty="0"/>
          </a:p>
        </p:txBody>
      </p:sp>
      <p:sp>
        <p:nvSpPr>
          <p:cNvPr id="8" name="Text 6"/>
          <p:cNvSpPr txBox="1"/>
          <p:nvPr/>
        </p:nvSpPr>
        <p:spPr>
          <a:xfrm>
            <a:off x="640080" y="2176272"/>
            <a:ext cx="4572000" cy="256032"/>
          </a:xfrm>
          <a:prstGeom prst="rect">
            <a:avLst/>
          </a:prstGeom>
          <a:noFill/>
          <a:ln/>
        </p:spPr>
        <p:txBody>
          <a:bodyPr wrap="square" lIns="0" tIns="0" rIns="0" bIns="0" rtlCol="0" anchor="ctr"/>
          <a:lstStyle/>
          <a:p>
            <a:pPr algn="l" indent="0" marL="0">
              <a:buNone/>
            </a:pPr>
            <a:r>
              <a:rPr lang="en-US" sz="1000" b="1" spc="6000" kern="0" dirty="0">
                <a:solidFill>
                  <a:srgbClr val="9FB8B2"/>
                </a:solidFill>
                <a:latin typeface="Calibri" pitchFamily="34" charset="0"/>
                <a:ea typeface="Calibri" pitchFamily="34" charset="-122"/>
                <a:cs typeface="Calibri" pitchFamily="34" charset="-120"/>
              </a:rPr>
              <a:t>USE OF FUNDS</a:t>
            </a:r>
            <a:endParaRPr lang="en-US" sz="1000" dirty="0"/>
          </a:p>
        </p:txBody>
      </p:sp>
      <p:sp>
        <p:nvSpPr>
          <p:cNvPr id="9" name="Shape 7"/>
          <p:cNvSpPr/>
          <p:nvPr/>
        </p:nvSpPr>
        <p:spPr>
          <a:xfrm>
            <a:off x="640080" y="2834640"/>
            <a:ext cx="4809744" cy="548640"/>
          </a:xfrm>
          <a:prstGeom prst="rect">
            <a:avLst/>
          </a:prstGeom>
          <a:solidFill>
            <a:srgbClr val="3ECFA0"/>
          </a:solidFill>
          <a:ln/>
        </p:spPr>
      </p:sp>
      <p:sp>
        <p:nvSpPr>
          <p:cNvPr id="10" name="Text 8"/>
          <p:cNvSpPr txBox="1"/>
          <p:nvPr/>
        </p:nvSpPr>
        <p:spPr>
          <a:xfrm>
            <a:off x="640080" y="2523744"/>
            <a:ext cx="4809744" cy="274320"/>
          </a:xfrm>
          <a:prstGeom prst="rect">
            <a:avLst/>
          </a:prstGeom>
          <a:noFill/>
          <a:ln/>
        </p:spPr>
        <p:txBody>
          <a:bodyPr wrap="square" lIns="0" tIns="0" rIns="0" bIns="0" rtlCol="0" anchor="ctr"/>
          <a:lstStyle/>
          <a:p>
            <a:pPr algn="l" indent="0" marL="0">
              <a:buNone/>
            </a:pPr>
            <a:r>
              <a:rPr lang="en-US" sz="1200" b="1" dirty="0">
                <a:solidFill>
                  <a:srgbClr val="F2F7F4"/>
                </a:solidFill>
                <a:latin typeface="Calibri" pitchFamily="34" charset="0"/>
                <a:ea typeface="Calibri" pitchFamily="34" charset="-122"/>
                <a:cs typeface="Calibri" pitchFamily="34" charset="-120"/>
              </a:rPr>
              <a:t>Build &amp; team · 45%</a:t>
            </a:r>
            <a:endParaRPr lang="en-US" sz="1200" dirty="0"/>
          </a:p>
        </p:txBody>
      </p:sp>
      <p:sp>
        <p:nvSpPr>
          <p:cNvPr id="11" name="Text 9"/>
          <p:cNvSpPr txBox="1"/>
          <p:nvPr/>
        </p:nvSpPr>
        <p:spPr>
          <a:xfrm>
            <a:off x="768096" y="2907792"/>
            <a:ext cx="4553712" cy="402336"/>
          </a:xfrm>
          <a:prstGeom prst="rect">
            <a:avLst/>
          </a:prstGeom>
          <a:noFill/>
          <a:ln/>
        </p:spPr>
        <p:txBody>
          <a:bodyPr wrap="square" lIns="0" tIns="0" rIns="0" bIns="0" rtlCol="0" anchor="ctr"/>
          <a:lstStyle/>
          <a:p>
            <a:pPr algn="l" indent="0" marL="0">
              <a:buNone/>
            </a:pPr>
            <a:r>
              <a:rPr lang="en-US" sz="1100" b="1" dirty="0">
                <a:solidFill>
                  <a:srgbClr val="0F2624"/>
                </a:solidFill>
                <a:latin typeface="Calibri" pitchFamily="34" charset="0"/>
                <a:ea typeface="Calibri" pitchFamily="34" charset="-122"/>
                <a:cs typeface="Calibri" pitchFamily="34" charset="-120"/>
              </a:rPr>
              <a:t>eight-week MVP, two hires</a:t>
            </a:r>
            <a:endParaRPr lang="en-US" sz="1100" dirty="0"/>
          </a:p>
        </p:txBody>
      </p:sp>
      <p:sp>
        <p:nvSpPr>
          <p:cNvPr id="12" name="Shape 10"/>
          <p:cNvSpPr/>
          <p:nvPr/>
        </p:nvSpPr>
        <p:spPr>
          <a:xfrm>
            <a:off x="5559552" y="2834640"/>
            <a:ext cx="3209544" cy="548640"/>
          </a:xfrm>
          <a:prstGeom prst="rect">
            <a:avLst/>
          </a:prstGeom>
          <a:solidFill>
            <a:srgbClr val="7FA39C"/>
          </a:solidFill>
          <a:ln/>
        </p:spPr>
      </p:sp>
      <p:sp>
        <p:nvSpPr>
          <p:cNvPr id="13" name="Text 11"/>
          <p:cNvSpPr txBox="1"/>
          <p:nvPr/>
        </p:nvSpPr>
        <p:spPr>
          <a:xfrm>
            <a:off x="5559552" y="2523744"/>
            <a:ext cx="3209544" cy="274320"/>
          </a:xfrm>
          <a:prstGeom prst="rect">
            <a:avLst/>
          </a:prstGeom>
          <a:noFill/>
          <a:ln/>
        </p:spPr>
        <p:txBody>
          <a:bodyPr wrap="square" lIns="0" tIns="0" rIns="0" bIns="0" rtlCol="0" anchor="ctr"/>
          <a:lstStyle/>
          <a:p>
            <a:pPr algn="l" indent="0" marL="0">
              <a:buNone/>
            </a:pPr>
            <a:r>
              <a:rPr lang="en-US" sz="1200" b="1" dirty="0">
                <a:solidFill>
                  <a:srgbClr val="F2F7F4"/>
                </a:solidFill>
                <a:latin typeface="Calibri" pitchFamily="34" charset="0"/>
                <a:ea typeface="Calibri" pitchFamily="34" charset="-122"/>
                <a:cs typeface="Calibri" pitchFamily="34" charset="-120"/>
              </a:rPr>
              <a:t>Compliance &amp; legal · 30%</a:t>
            </a:r>
            <a:endParaRPr lang="en-US" sz="1200" dirty="0"/>
          </a:p>
        </p:txBody>
      </p:sp>
      <p:sp>
        <p:nvSpPr>
          <p:cNvPr id="14" name="Text 12"/>
          <p:cNvSpPr txBox="1"/>
          <p:nvPr/>
        </p:nvSpPr>
        <p:spPr>
          <a:xfrm>
            <a:off x="5687568" y="2907792"/>
            <a:ext cx="2953512" cy="402336"/>
          </a:xfrm>
          <a:prstGeom prst="rect">
            <a:avLst/>
          </a:prstGeom>
          <a:noFill/>
          <a:ln/>
        </p:spPr>
        <p:txBody>
          <a:bodyPr wrap="square" lIns="0" tIns="0" rIns="0" bIns="0" rtlCol="0" anchor="ctr"/>
          <a:lstStyle/>
          <a:p>
            <a:pPr algn="l" indent="0" marL="0">
              <a:buNone/>
            </a:pPr>
            <a:r>
              <a:rPr lang="en-US" sz="1100" b="1" dirty="0">
                <a:solidFill>
                  <a:srgbClr val="0F2624"/>
                </a:solidFill>
                <a:latin typeface="Calibri" pitchFamily="34" charset="0"/>
                <a:ea typeface="Calibri" pitchFamily="34" charset="-122"/>
                <a:cs typeface="Calibri" pitchFamily="34" charset="-120"/>
              </a:rPr>
              <a:t>AML policy, KYB, partner terms</a:t>
            </a:r>
            <a:endParaRPr lang="en-US" sz="1100" dirty="0"/>
          </a:p>
        </p:txBody>
      </p:sp>
      <p:sp>
        <p:nvSpPr>
          <p:cNvPr id="15" name="Shape 13"/>
          <p:cNvSpPr/>
          <p:nvPr/>
        </p:nvSpPr>
        <p:spPr>
          <a:xfrm>
            <a:off x="8878824" y="2834640"/>
            <a:ext cx="2670048" cy="548640"/>
          </a:xfrm>
          <a:prstGeom prst="rect">
            <a:avLst/>
          </a:prstGeom>
          <a:solidFill>
            <a:srgbClr val="2C544F"/>
          </a:solidFill>
          <a:ln/>
        </p:spPr>
      </p:sp>
      <p:sp>
        <p:nvSpPr>
          <p:cNvPr id="16" name="Text 14"/>
          <p:cNvSpPr txBox="1"/>
          <p:nvPr/>
        </p:nvSpPr>
        <p:spPr>
          <a:xfrm>
            <a:off x="8878824" y="2523744"/>
            <a:ext cx="2670048" cy="274320"/>
          </a:xfrm>
          <a:prstGeom prst="rect">
            <a:avLst/>
          </a:prstGeom>
          <a:noFill/>
          <a:ln/>
        </p:spPr>
        <p:txBody>
          <a:bodyPr wrap="square" lIns="0" tIns="0" rIns="0" bIns="0" rtlCol="0" anchor="ctr"/>
          <a:lstStyle/>
          <a:p>
            <a:pPr algn="l" indent="0" marL="0">
              <a:buNone/>
            </a:pPr>
            <a:r>
              <a:rPr lang="en-US" sz="1200" b="1" dirty="0">
                <a:solidFill>
                  <a:srgbClr val="F2F7F4"/>
                </a:solidFill>
                <a:latin typeface="Calibri" pitchFamily="34" charset="0"/>
                <a:ea typeface="Calibri" pitchFamily="34" charset="-122"/>
                <a:cs typeface="Calibri" pitchFamily="34" charset="-120"/>
              </a:rPr>
              <a:t>Float &amp; ops · 25%</a:t>
            </a:r>
            <a:endParaRPr lang="en-US" sz="1200" dirty="0"/>
          </a:p>
        </p:txBody>
      </p:sp>
      <p:sp>
        <p:nvSpPr>
          <p:cNvPr id="17" name="Text 15"/>
          <p:cNvSpPr txBox="1"/>
          <p:nvPr/>
        </p:nvSpPr>
        <p:spPr>
          <a:xfrm>
            <a:off x="9006840" y="2907792"/>
            <a:ext cx="2414016" cy="402336"/>
          </a:xfrm>
          <a:prstGeom prst="rect">
            <a:avLst/>
          </a:prstGeom>
          <a:noFill/>
          <a:ln/>
        </p:spPr>
        <p:txBody>
          <a:bodyPr wrap="square" lIns="0" tIns="0" rIns="0" bIns="0" rtlCol="0" anchor="ctr"/>
          <a:lstStyle/>
          <a:p>
            <a:pPr algn="l" indent="0" marL="0">
              <a:buNone/>
            </a:pPr>
            <a:r>
              <a:rPr lang="en-US" sz="1100" b="1" dirty="0">
                <a:solidFill>
                  <a:srgbClr val="F2F7F4"/>
                </a:solidFill>
                <a:latin typeface="Calibri" pitchFamily="34" charset="0"/>
                <a:ea typeface="Calibri" pitchFamily="34" charset="-122"/>
                <a:cs typeface="Calibri" pitchFamily="34" charset="-120"/>
              </a:rPr>
              <a:t>partner liquidity</a:t>
            </a:r>
            <a:endParaRPr lang="en-US" sz="1100" dirty="0"/>
          </a:p>
        </p:txBody>
      </p:sp>
      <p:sp>
        <p:nvSpPr>
          <p:cNvPr id="18" name="Text 16"/>
          <p:cNvSpPr txBox="1"/>
          <p:nvPr/>
        </p:nvSpPr>
        <p:spPr>
          <a:xfrm>
            <a:off x="640080" y="4041648"/>
            <a:ext cx="4572000" cy="256032"/>
          </a:xfrm>
          <a:prstGeom prst="rect">
            <a:avLst/>
          </a:prstGeom>
          <a:noFill/>
          <a:ln/>
        </p:spPr>
        <p:txBody>
          <a:bodyPr wrap="square" lIns="0" tIns="0" rIns="0" bIns="0" rtlCol="0" anchor="ctr"/>
          <a:lstStyle/>
          <a:p>
            <a:pPr algn="l" indent="0" marL="0">
              <a:buNone/>
            </a:pPr>
            <a:r>
              <a:rPr lang="en-US" sz="1000" b="1" spc="6000" kern="0" dirty="0">
                <a:solidFill>
                  <a:srgbClr val="9FB8B2"/>
                </a:solidFill>
                <a:latin typeface="Calibri" pitchFamily="34" charset="0"/>
                <a:ea typeface="Calibri" pitchFamily="34" charset="-122"/>
                <a:cs typeface="Calibri" pitchFamily="34" charset="-120"/>
              </a:rPr>
              <a:t>BY MONTH 18</a:t>
            </a:r>
            <a:endParaRPr lang="en-US" sz="1000" dirty="0"/>
          </a:p>
        </p:txBody>
      </p:sp>
      <p:sp>
        <p:nvSpPr>
          <p:cNvPr id="19" name="Shape 17"/>
          <p:cNvSpPr/>
          <p:nvPr/>
        </p:nvSpPr>
        <p:spPr>
          <a:xfrm>
            <a:off x="640080" y="4389120"/>
            <a:ext cx="3456432" cy="786384"/>
          </a:xfrm>
          <a:prstGeom prst="roundRect">
            <a:avLst>
              <a:gd name="adj" fmla="val 13953"/>
            </a:avLst>
          </a:prstGeom>
          <a:solidFill>
            <a:srgbClr val="1B3B38"/>
          </a:solidFill>
          <a:ln w="12700">
            <a:solidFill>
              <a:srgbClr val="2C544F"/>
            </a:solidFill>
            <a:prstDash val="solid"/>
          </a:ln>
        </p:spPr>
      </p:sp>
      <p:pic>
        <p:nvPicPr>
          <p:cNvPr id="20" name="Image 0" descr="preencoded.png">    </p:cNvPr>
          <p:cNvPicPr>
            <a:picLocks noChangeAspect="1"/>
          </p:cNvPicPr>
          <p:nvPr/>
        </p:nvPicPr>
        <p:blipFill>
          <a:blip r:embed="rId1"/>
          <a:stretch>
            <a:fillRect/>
          </a:stretch>
        </p:blipFill>
        <p:spPr>
          <a:xfrm>
            <a:off x="896112" y="4590288"/>
            <a:ext cx="384048" cy="384048"/>
          </a:xfrm>
          <a:prstGeom prst="rect">
            <a:avLst/>
          </a:prstGeom>
        </p:spPr>
      </p:pic>
      <p:sp>
        <p:nvSpPr>
          <p:cNvPr id="21" name="Text 18"/>
          <p:cNvSpPr txBox="1"/>
          <p:nvPr/>
        </p:nvSpPr>
        <p:spPr>
          <a:xfrm>
            <a:off x="1444752" y="4389120"/>
            <a:ext cx="2395728" cy="786384"/>
          </a:xfrm>
          <a:prstGeom prst="rect">
            <a:avLst/>
          </a:prstGeom>
          <a:noFill/>
          <a:ln/>
        </p:spPr>
        <p:txBody>
          <a:bodyPr wrap="square" lIns="0" tIns="0" rIns="0" bIns="0" rtlCol="0" anchor="ctr"/>
          <a:lstStyle/>
          <a:p>
            <a:pPr algn="l" indent="0" marL="0">
              <a:buNone/>
            </a:pPr>
            <a:r>
              <a:rPr lang="en-US" sz="1450" b="1" dirty="0">
                <a:solidFill>
                  <a:srgbClr val="F2F7F4"/>
                </a:solidFill>
                <a:latin typeface="Calibri" pitchFamily="34" charset="0"/>
                <a:ea typeface="Calibri" pitchFamily="34" charset="-122"/>
                <a:cs typeface="Calibri" pitchFamily="34" charset="-120"/>
              </a:rPr>
              <a:t>100 active businesses</a:t>
            </a:r>
            <a:endParaRPr lang="en-US" sz="1450" dirty="0"/>
          </a:p>
        </p:txBody>
      </p:sp>
      <p:sp>
        <p:nvSpPr>
          <p:cNvPr id="22" name="Shape 19"/>
          <p:cNvSpPr/>
          <p:nvPr/>
        </p:nvSpPr>
        <p:spPr>
          <a:xfrm>
            <a:off x="4361688" y="4389120"/>
            <a:ext cx="3456432" cy="786384"/>
          </a:xfrm>
          <a:prstGeom prst="roundRect">
            <a:avLst>
              <a:gd name="adj" fmla="val 13953"/>
            </a:avLst>
          </a:prstGeom>
          <a:solidFill>
            <a:srgbClr val="1B3B38"/>
          </a:solidFill>
          <a:ln w="12700">
            <a:solidFill>
              <a:srgbClr val="2C544F"/>
            </a:solidFill>
            <a:prstDash val="solid"/>
          </a:ln>
        </p:spPr>
      </p:sp>
      <p:pic>
        <p:nvPicPr>
          <p:cNvPr id="23" name="Image 1" descr="preencoded.png">    </p:cNvPr>
          <p:cNvPicPr>
            <a:picLocks noChangeAspect="1"/>
          </p:cNvPicPr>
          <p:nvPr/>
        </p:nvPicPr>
        <p:blipFill>
          <a:blip r:embed="rId2"/>
          <a:stretch>
            <a:fillRect/>
          </a:stretch>
        </p:blipFill>
        <p:spPr>
          <a:xfrm>
            <a:off x="4617720" y="4590288"/>
            <a:ext cx="384048" cy="384048"/>
          </a:xfrm>
          <a:prstGeom prst="rect">
            <a:avLst/>
          </a:prstGeom>
        </p:spPr>
      </p:pic>
      <p:sp>
        <p:nvSpPr>
          <p:cNvPr id="24" name="Text 20"/>
          <p:cNvSpPr txBox="1"/>
          <p:nvPr/>
        </p:nvSpPr>
        <p:spPr>
          <a:xfrm>
            <a:off x="5166360" y="4389120"/>
            <a:ext cx="2395728" cy="786384"/>
          </a:xfrm>
          <a:prstGeom prst="rect">
            <a:avLst/>
          </a:prstGeom>
          <a:noFill/>
          <a:ln/>
        </p:spPr>
        <p:txBody>
          <a:bodyPr wrap="square" lIns="0" tIns="0" rIns="0" bIns="0" rtlCol="0" anchor="ctr"/>
          <a:lstStyle/>
          <a:p>
            <a:pPr algn="l" indent="0" marL="0">
              <a:buNone/>
            </a:pPr>
            <a:r>
              <a:rPr lang="en-US" sz="1450" b="1" dirty="0">
                <a:solidFill>
                  <a:srgbClr val="F2F7F4"/>
                </a:solidFill>
                <a:latin typeface="Calibri" pitchFamily="34" charset="0"/>
                <a:ea typeface="Calibri" pitchFamily="34" charset="-122"/>
                <a:cs typeface="Calibri" pitchFamily="34" charset="-120"/>
              </a:rPr>
              <a:t>$12K monthly revenue</a:t>
            </a:r>
            <a:endParaRPr lang="en-US" sz="1450" dirty="0"/>
          </a:p>
        </p:txBody>
      </p:sp>
      <p:sp>
        <p:nvSpPr>
          <p:cNvPr id="25" name="Shape 21"/>
          <p:cNvSpPr/>
          <p:nvPr/>
        </p:nvSpPr>
        <p:spPr>
          <a:xfrm>
            <a:off x="8083296" y="4389120"/>
            <a:ext cx="3456432" cy="786384"/>
          </a:xfrm>
          <a:prstGeom prst="roundRect">
            <a:avLst>
              <a:gd name="adj" fmla="val 13953"/>
            </a:avLst>
          </a:prstGeom>
          <a:solidFill>
            <a:srgbClr val="1B3B38"/>
          </a:solidFill>
          <a:ln w="12700">
            <a:solidFill>
              <a:srgbClr val="2C544F"/>
            </a:solidFill>
            <a:prstDash val="solid"/>
          </a:ln>
        </p:spPr>
      </p:sp>
      <p:pic>
        <p:nvPicPr>
          <p:cNvPr id="26" name="Image 2" descr="preencoded.png">    </p:cNvPr>
          <p:cNvPicPr>
            <a:picLocks noChangeAspect="1"/>
          </p:cNvPicPr>
          <p:nvPr/>
        </p:nvPicPr>
        <p:blipFill>
          <a:blip r:embed="rId3"/>
          <a:stretch>
            <a:fillRect/>
          </a:stretch>
        </p:blipFill>
        <p:spPr>
          <a:xfrm>
            <a:off x="8339328" y="4590288"/>
            <a:ext cx="384048" cy="384048"/>
          </a:xfrm>
          <a:prstGeom prst="rect">
            <a:avLst/>
          </a:prstGeom>
        </p:spPr>
      </p:pic>
      <p:sp>
        <p:nvSpPr>
          <p:cNvPr id="27" name="Text 22"/>
          <p:cNvSpPr txBox="1"/>
          <p:nvPr/>
        </p:nvSpPr>
        <p:spPr>
          <a:xfrm>
            <a:off x="8887968" y="4389120"/>
            <a:ext cx="2395728" cy="786384"/>
          </a:xfrm>
          <a:prstGeom prst="rect">
            <a:avLst/>
          </a:prstGeom>
          <a:noFill/>
          <a:ln/>
        </p:spPr>
        <p:txBody>
          <a:bodyPr wrap="square" lIns="0" tIns="0" rIns="0" bIns="0" rtlCol="0" anchor="ctr"/>
          <a:lstStyle/>
          <a:p>
            <a:pPr algn="l" indent="0" marL="0">
              <a:buNone/>
            </a:pPr>
            <a:r>
              <a:rPr lang="en-US" sz="1450" b="1" dirty="0">
                <a:solidFill>
                  <a:srgbClr val="F2F7F4"/>
                </a:solidFill>
                <a:latin typeface="Calibri" pitchFamily="34" charset="0"/>
                <a:ea typeface="Calibri" pitchFamily="34" charset="-122"/>
                <a:cs typeface="Calibri" pitchFamily="34" charset="-120"/>
              </a:rPr>
              <a:t>4 live corridors</a:t>
            </a:r>
            <a:endParaRPr lang="en-US" sz="1450" dirty="0"/>
          </a:p>
        </p:txBody>
      </p:sp>
      <p:sp>
        <p:nvSpPr>
          <p:cNvPr id="28" name="Text 23"/>
          <p:cNvSpPr txBox="1"/>
          <p:nvPr/>
        </p:nvSpPr>
        <p:spPr>
          <a:xfrm>
            <a:off x="640080" y="5413248"/>
            <a:ext cx="7315200" cy="292608"/>
          </a:xfrm>
          <a:prstGeom prst="rect">
            <a:avLst/>
          </a:prstGeom>
          <a:noFill/>
          <a:ln/>
        </p:spPr>
        <p:txBody>
          <a:bodyPr wrap="square" lIns="0" tIns="0" rIns="0" bIns="0" rtlCol="0" anchor="ctr"/>
          <a:lstStyle/>
          <a:p>
            <a:pPr algn="l" indent="0" marL="0">
              <a:buNone/>
            </a:pPr>
            <a:r>
              <a:rPr lang="en-US" sz="1250" b="1" dirty="0">
                <a:solidFill>
                  <a:srgbClr val="9FB8B2"/>
                </a:solidFill>
                <a:latin typeface="Calibri" pitchFamily="34" charset="0"/>
                <a:ea typeface="Calibri" pitchFamily="34" charset="-122"/>
                <a:cs typeface="Calibri" pitchFamily="34" charset="-120"/>
              </a:rPr>
              <a:t>These milestones price the next round.</a:t>
            </a:r>
            <a:endParaRPr lang="en-US" sz="1250" dirty="0"/>
          </a:p>
        </p:txBody>
      </p:sp>
      <p:sp>
        <p:nvSpPr>
          <p:cNvPr id="29" name="Text 24"/>
          <p:cNvSpPr txBox="1"/>
          <p:nvPr/>
        </p:nvSpPr>
        <p:spPr>
          <a:xfrm>
            <a:off x="640080" y="5870448"/>
            <a:ext cx="10908792" cy="329184"/>
          </a:xfrm>
          <a:prstGeom prst="rect">
            <a:avLst/>
          </a:prstGeom>
          <a:noFill/>
          <a:ln/>
        </p:spPr>
        <p:txBody>
          <a:bodyPr wrap="square" lIns="0" tIns="0" rIns="0" bIns="0" rtlCol="0" anchor="ctr"/>
          <a:lstStyle/>
          <a:p>
            <a:pPr indent="0" marL="0">
              <a:buNone/>
            </a:pPr>
            <a:r>
              <a:rPr lang="en-US" sz="1400" b="1" dirty="0">
                <a:solidFill>
                  <a:srgbClr val="F2F7F4"/>
                </a:solidFill>
                <a:latin typeface="Calibri" pitchFamily="34" charset="0"/>
                <a:ea typeface="Calibri" pitchFamily="34" charset="-122"/>
                <a:cs typeface="Calibri" pitchFamily="34" charset="-120"/>
              </a:rPr>
              <a:t>brian@appify.co.ke</a:t>
            </a:r>
            <a:pPr indent="0" marL="0">
              <a:buNone/>
            </a:pPr>
            <a:r>
              <a:rPr lang="en-US" sz="1250" b="1" dirty="0">
                <a:solidFill>
                  <a:srgbClr val="9FB8B2"/>
                </a:solidFill>
                <a:latin typeface="Calibri" pitchFamily="34" charset="0"/>
                <a:ea typeface="Calibri" pitchFamily="34" charset="-122"/>
                <a:cs typeface="Calibri" pitchFamily="34" charset="-120"/>
              </a:rPr>
              <a:t>    ·    Appify Softwares Limited, Nairobi</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Appify Softwares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Meridian — Investor Deck</dc:title>
  <dc:subject>PptxGenJS Presentation</dc:subject>
  <dc:creator>Appify Softwares Limited</dc:creator>
  <cp:lastModifiedBy>Appify Softwares Limited</cp:lastModifiedBy>
  <cp:revision>1</cp:revision>
  <dcterms:created xsi:type="dcterms:W3CDTF">2026-09-23T11:01:08Z</dcterms:created>
  <dcterms:modified xsi:type="dcterms:W3CDTF">2026-09-23T11:01:08Z</dcterms:modified>
</cp:coreProperties>
</file>