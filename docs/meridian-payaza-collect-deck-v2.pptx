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Meridian Collect lets an exporter send a payment link. The buyer pays the way they already do, sees every fee before paying, and covers the fees on top. So the exporter receives exactly the amount on the invoice, the same day. Payaza runs every money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problem in the hackathon's collections track. Chris ships avocados weekly and waits 2 to 3 days for European payments. Ann exports flowers across Africa and waits 1 to 3 days, and loses money when the exchange rate moves. A third flower exporter, referred by an advisor, has the same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Fees are not the main pain for these exporters. Time and exchange-rate risk are. And the damage cascades: cold storage, paying farmers, missing a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exporter sets the amount they want to receive. The buyer pays that plus the fees, using the method they already have. Payaza confirms, Meridian checks, and the exporter is paid the exact amount the same day. Payaza does not convert currencies, so the buyer pays in the currency the exporter is paid out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Payaza is not bolted on. It collects, confirms, checks account names and pays out. Meridian adds exact amounts, invoice numbers, fee transparency, compliance checks, a clear timeline and receipts. We ran the full flow in Payaza's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concrete order, the one we demo live in Payaza's sandbox. The buyer uses M-Pesa and sees every fee first. Ann gets exactly KES 650,000 the same day. Sending the same Payaza confirmation twice changes nothing, and a paid link can't be paid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exporters ready to try it, and the full collection flow is built on Payaza and tested in its sandbox. Revenue is a flat 1% per collection, paid by the buyer. Paying suppliers abroad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honest about the edge. Payaza confirmed it doesn't convert currencies and doesn't pay out in USD. So today a business is paid in the currency its buyer pays in. Those two features would let Ann's Ghanaian buyers and Chris's European buyers pay the way they want while the exporter still receives shillings. That's what we'd build with Payaza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624"/>
        </a:solidFill>
      </p:bgPr>
    </p:bg>
    <p:spTree>
      <p:nvGrpSpPr>
        <p:cNvPr id="1" name=""/>
        <p:cNvGrpSpPr/>
        <p:nvPr/>
      </p:nvGrpSpPr>
      <p:grpSpPr>
        <a:xfrm>
          <a:off x="0" y="0"/>
          <a:ext cx="0" cy="0"/>
          <a:chOff x="0" y="0"/>
          <a:chExt cx="0" cy="0"/>
        </a:xfrm>
      </p:grpSpPr>
      <p:sp>
        <p:nvSpPr>
          <p:cNvPr id="2" name="Shape 0"/>
          <p:cNvSpPr/>
          <p:nvPr/>
        </p:nvSpPr>
        <p:spPr>
          <a:xfrm>
            <a:off x="457200" y="548640"/>
            <a:ext cx="502920" cy="502920"/>
          </a:xfrm>
          <a:prstGeom prst="roundRect">
            <a:avLst>
              <a:gd name="adj" fmla="val 21818"/>
            </a:avLst>
          </a:prstGeom>
          <a:solidFill>
            <a:srgbClr val="3ECFA0"/>
          </a:solidFill>
          <a:ln w="12700">
            <a:solidFill>
              <a:srgbClr val="3ECFA0"/>
            </a:solidFill>
            <a:prstDash val="solid"/>
          </a:ln>
        </p:spPr>
      </p:sp>
      <p:sp>
        <p:nvSpPr>
          <p:cNvPr id="3" name="Shape 1"/>
          <p:cNvSpPr/>
          <p:nvPr/>
        </p:nvSpPr>
        <p:spPr>
          <a:xfrm>
            <a:off x="598932" y="690372"/>
            <a:ext cx="219456" cy="219456"/>
          </a:xfrm>
          <a:prstGeom prst="ellipse">
            <a:avLst/>
          </a:prstGeom>
          <a:solidFill>
            <a:srgbClr val="3ECFA0"/>
          </a:solidFill>
          <a:ln w="25400">
            <a:solidFill>
              <a:srgbClr val="0B1A19"/>
            </a:solidFill>
            <a:prstDash val="solid"/>
          </a:ln>
        </p:spPr>
      </p:sp>
      <p:sp>
        <p:nvSpPr>
          <p:cNvPr id="4" name="Text 2"/>
          <p:cNvSpPr txBox="1"/>
          <p:nvPr/>
        </p:nvSpPr>
        <p:spPr>
          <a:xfrm>
            <a:off x="1097280" y="566928"/>
            <a:ext cx="3657600" cy="457200"/>
          </a:xfrm>
          <a:prstGeom prst="rect">
            <a:avLst/>
          </a:prstGeom>
          <a:noFill/>
          <a:ln/>
        </p:spPr>
        <p:txBody>
          <a:bodyPr wrap="square" lIns="0" tIns="0" rIns="0" bIns="0" rtlCol="0" anchor="t"/>
          <a:lstStyle/>
          <a:p>
            <a:pPr algn="l" indent="0" marL="0">
              <a:lnSpc>
                <a:spcPct val="105000"/>
              </a:lnSpc>
              <a:buNone/>
            </a:pPr>
            <a:r>
              <a:rPr lang="en-US" sz="2200" b="1" dirty="0">
                <a:solidFill>
                  <a:srgbClr val="F2F7F4"/>
                </a:solidFill>
                <a:latin typeface="Calibri" pitchFamily="34" charset="0"/>
                <a:ea typeface="Calibri" pitchFamily="34" charset="-122"/>
                <a:cs typeface="Calibri" pitchFamily="34" charset="-120"/>
              </a:rPr>
              <a:t>Meridian Collect</a:t>
            </a:r>
            <a:endParaRPr lang="en-US" sz="2200" dirty="0"/>
          </a:p>
        </p:txBody>
      </p:sp>
      <p:sp>
        <p:nvSpPr>
          <p:cNvPr id="5" name="Text 3"/>
          <p:cNvSpPr txBox="1"/>
          <p:nvPr/>
        </p:nvSpPr>
        <p:spPr>
          <a:xfrm>
            <a:off x="457200" y="1463040"/>
            <a:ext cx="5394960" cy="1463040"/>
          </a:xfrm>
          <a:prstGeom prst="rect">
            <a:avLst/>
          </a:prstGeom>
          <a:noFill/>
          <a:ln/>
        </p:spPr>
        <p:txBody>
          <a:bodyPr wrap="square" lIns="0" tIns="0" rIns="0" bIns="0" rtlCol="0" anchor="t"/>
          <a:lstStyle/>
          <a:p>
            <a:pPr algn="l" indent="0" marL="0">
              <a:lnSpc>
                <a:spcPct val="100000"/>
              </a:lnSpc>
              <a:buNone/>
            </a:pPr>
            <a:r>
              <a:rPr lang="en-US" sz="2800" b="1" dirty="0">
                <a:solidFill>
                  <a:srgbClr val="F2F7F4"/>
                </a:solidFill>
                <a:latin typeface="Calibri" pitchFamily="34" charset="0"/>
                <a:ea typeface="Calibri" pitchFamily="34" charset="-122"/>
                <a:cs typeface="Calibri" pitchFamily="34" charset="-120"/>
              </a:rPr>
              <a:t>Exporters get paid</a:t>
            </a:r>
            <a:endParaRPr lang="en-US" sz="2800" dirty="0"/>
          </a:p>
          <a:p>
            <a:pPr algn="l" indent="0" marL="0">
              <a:lnSpc>
                <a:spcPct val="100000"/>
              </a:lnSpc>
              <a:buNone/>
            </a:pPr>
            <a:r>
              <a:rPr lang="en-US" sz="2800" b="1" dirty="0">
                <a:solidFill>
                  <a:srgbClr val="F2F7F4"/>
                </a:solidFill>
                <a:latin typeface="Calibri" pitchFamily="34" charset="0"/>
                <a:ea typeface="Calibri" pitchFamily="34" charset="-122"/>
                <a:cs typeface="Calibri" pitchFamily="34" charset="-120"/>
              </a:rPr>
              <a:t>the exact amount they</a:t>
            </a:r>
            <a:endParaRPr lang="en-US" sz="2800" dirty="0"/>
          </a:p>
          <a:p>
            <a:pPr algn="l" indent="0" marL="0">
              <a:lnSpc>
                <a:spcPct val="100000"/>
              </a:lnSpc>
              <a:buNone/>
            </a:pPr>
            <a:r>
              <a:rPr lang="en-US" sz="2800" b="1" dirty="0">
                <a:solidFill>
                  <a:srgbClr val="F2F7F4"/>
                </a:solidFill>
                <a:latin typeface="Calibri" pitchFamily="34" charset="0"/>
                <a:ea typeface="Calibri" pitchFamily="34" charset="-122"/>
                <a:cs typeface="Calibri" pitchFamily="34" charset="-120"/>
              </a:rPr>
              <a:t>invoiced. Same day.</a:t>
            </a:r>
            <a:endParaRPr lang="en-US" sz="2800" dirty="0"/>
          </a:p>
        </p:txBody>
      </p:sp>
      <p:sp>
        <p:nvSpPr>
          <p:cNvPr id="6" name="Text 4"/>
          <p:cNvSpPr txBox="1"/>
          <p:nvPr/>
        </p:nvSpPr>
        <p:spPr>
          <a:xfrm>
            <a:off x="457200" y="3017520"/>
            <a:ext cx="5120640" cy="1005840"/>
          </a:xfrm>
          <a:prstGeom prst="rect">
            <a:avLst/>
          </a:prstGeom>
          <a:noFill/>
          <a:ln/>
        </p:spPr>
        <p:txBody>
          <a:bodyPr wrap="square" lIns="0" tIns="0" rIns="0" bIns="0" rtlCol="0" anchor="t"/>
          <a:lstStyle/>
          <a:p>
            <a:pPr algn="l" indent="0" marL="0">
              <a:lnSpc>
                <a:spcPct val="105000"/>
              </a:lnSpc>
              <a:buNone/>
            </a:pPr>
            <a:r>
              <a:rPr lang="en-US" sz="1300" dirty="0">
                <a:solidFill>
                  <a:srgbClr val="9FB8B2"/>
                </a:solidFill>
                <a:latin typeface="Calibri" pitchFamily="34" charset="0"/>
                <a:ea typeface="Calibri" pitchFamily="34" charset="-122"/>
                <a:cs typeface="Calibri" pitchFamily="34" charset="-120"/>
              </a:rPr>
              <a:t>Send a buyer a payment link. They pay the way they already do: M-Pesa, MTN MoMo, bank transfer or card, with every fee shown first. The fees go on top, so the exporter receives exactly what they invoiced. Built on Payaza.</a:t>
            </a:r>
            <a:endParaRPr lang="en-US" sz="1300" dirty="0"/>
          </a:p>
        </p:txBody>
      </p:sp>
      <p:sp>
        <p:nvSpPr>
          <p:cNvPr id="7" name="Text 5"/>
          <p:cNvSpPr txBox="1"/>
          <p:nvPr/>
        </p:nvSpPr>
        <p:spPr>
          <a:xfrm>
            <a:off x="457200" y="4389120"/>
            <a:ext cx="7315200" cy="274320"/>
          </a:xfrm>
          <a:prstGeom prst="rect">
            <a:avLst/>
          </a:prstGeom>
          <a:noFill/>
          <a:ln/>
        </p:spPr>
        <p:txBody>
          <a:bodyPr wrap="square" lIns="0" tIns="0" rIns="0" bIns="0" rtlCol="0" anchor="t"/>
          <a:lstStyle/>
          <a:p>
            <a:pPr algn="l" indent="0" marL="0">
              <a:lnSpc>
                <a:spcPct val="105000"/>
              </a:lnSpc>
              <a:buNone/>
            </a:pPr>
            <a:r>
              <a:rPr lang="en-US" sz="1000" dirty="0">
                <a:solidFill>
                  <a:srgbClr val="9FB8B2"/>
                </a:solidFill>
                <a:latin typeface="Calibri" pitchFamily="34" charset="0"/>
                <a:ea typeface="Calibri" pitchFamily="34" charset="-122"/>
                <a:cs typeface="Calibri" pitchFamily="34" charset="-120"/>
              </a:rPr>
              <a:t>Track: SME and exporter collections  ·  Appify Softwares Limited, Nairobi  ·  September 2026</a:t>
            </a:r>
            <a:endParaRPr lang="en-US" sz="1000" dirty="0"/>
          </a:p>
        </p:txBody>
      </p:sp>
      <p:sp>
        <p:nvSpPr>
          <p:cNvPr id="8" name="Shape 6"/>
          <p:cNvSpPr/>
          <p:nvPr/>
        </p:nvSpPr>
        <p:spPr>
          <a:xfrm>
            <a:off x="6126480" y="1325880"/>
            <a:ext cx="2560320" cy="2834640"/>
          </a:xfrm>
          <a:prstGeom prst="roundRect">
            <a:avLst>
              <a:gd name="adj" fmla="val 2857"/>
            </a:avLst>
          </a:prstGeom>
          <a:solidFill>
            <a:srgbClr val="173432"/>
          </a:solidFill>
          <a:ln w="12700">
            <a:solidFill>
              <a:srgbClr val="173432"/>
            </a:solidFill>
            <a:prstDash val="solid"/>
          </a:ln>
        </p:spPr>
      </p:sp>
      <p:sp>
        <p:nvSpPr>
          <p:cNvPr id="9" name="Text 7"/>
          <p:cNvSpPr txBox="1"/>
          <p:nvPr/>
        </p:nvSpPr>
        <p:spPr>
          <a:xfrm>
            <a:off x="6263640" y="1481328"/>
            <a:ext cx="2286000" cy="228600"/>
          </a:xfrm>
          <a:prstGeom prst="rect">
            <a:avLst/>
          </a:prstGeom>
          <a:noFill/>
          <a:ln/>
        </p:spPr>
        <p:txBody>
          <a:bodyPr wrap="square" lIns="0" tIns="0" rIns="0" bIns="0" rtlCol="0" anchor="t"/>
          <a:lstStyle/>
          <a:p>
            <a:pPr algn="l" indent="0" marL="0">
              <a:lnSpc>
                <a:spcPct val="105000"/>
              </a:lnSpc>
              <a:buNone/>
            </a:pPr>
            <a:r>
              <a:rPr lang="en-US" sz="800" b="1" dirty="0">
                <a:solidFill>
                  <a:srgbClr val="3ECFA0"/>
                </a:solidFill>
                <a:latin typeface="Calibri" pitchFamily="34" charset="0"/>
                <a:ea typeface="Calibri" pitchFamily="34" charset="-122"/>
                <a:cs typeface="Calibri" pitchFamily="34" charset="-120"/>
              </a:rPr>
              <a:t>INVOICE AF-0917  ·  PAID</a:t>
            </a:r>
            <a:endParaRPr lang="en-US" sz="800" dirty="0"/>
          </a:p>
        </p:txBody>
      </p:sp>
      <p:sp>
        <p:nvSpPr>
          <p:cNvPr id="10" name="Text 8"/>
          <p:cNvSpPr txBox="1"/>
          <p:nvPr/>
        </p:nvSpPr>
        <p:spPr>
          <a:xfrm>
            <a:off x="6263640" y="1755648"/>
            <a:ext cx="2286000" cy="201168"/>
          </a:xfrm>
          <a:prstGeom prst="rect">
            <a:avLst/>
          </a:prstGeom>
          <a:noFill/>
          <a:ln/>
        </p:spPr>
        <p:txBody>
          <a:bodyPr wrap="square" lIns="0" tIns="0" rIns="0" bIns="0" rtlCol="0" anchor="t"/>
          <a:lstStyle/>
          <a:p>
            <a:pPr algn="l" indent="0" marL="0">
              <a:lnSpc>
                <a:spcPct val="105000"/>
              </a:lnSpc>
              <a:buNone/>
            </a:pPr>
            <a:r>
              <a:rPr lang="en-US" sz="900" dirty="0">
                <a:solidFill>
                  <a:srgbClr val="9FB8B2"/>
                </a:solidFill>
                <a:latin typeface="Calibri" pitchFamily="34" charset="0"/>
                <a:ea typeface="Calibri" pitchFamily="34" charset="-122"/>
                <a:cs typeface="Calibri" pitchFamily="34" charset="-120"/>
              </a:rPr>
              <a:t>Buyer pays, fees on top</a:t>
            </a:r>
            <a:endParaRPr lang="en-US" sz="900" dirty="0"/>
          </a:p>
        </p:txBody>
      </p:sp>
      <p:sp>
        <p:nvSpPr>
          <p:cNvPr id="11" name="Text 9"/>
          <p:cNvSpPr txBox="1"/>
          <p:nvPr/>
        </p:nvSpPr>
        <p:spPr>
          <a:xfrm>
            <a:off x="6263640" y="1956816"/>
            <a:ext cx="2286000" cy="320040"/>
          </a:xfrm>
          <a:prstGeom prst="rect">
            <a:avLst/>
          </a:prstGeom>
          <a:noFill/>
          <a:ln/>
        </p:spPr>
        <p:txBody>
          <a:bodyPr wrap="square" lIns="0" tIns="0" rIns="0" bIns="0" rtlCol="0" anchor="t"/>
          <a:lstStyle/>
          <a:p>
            <a:pPr algn="l" indent="0" marL="0">
              <a:lnSpc>
                <a:spcPct val="105000"/>
              </a:lnSpc>
              <a:buNone/>
            </a:pPr>
            <a:r>
              <a:rPr lang="en-US" sz="1600" b="1" dirty="0">
                <a:solidFill>
                  <a:srgbClr val="F2F7F4"/>
                </a:solidFill>
                <a:latin typeface="Calibri" pitchFamily="34" charset="0"/>
                <a:ea typeface="Calibri" pitchFamily="34" charset="-122"/>
                <a:cs typeface="Calibri" pitchFamily="34" charset="-120"/>
              </a:rPr>
              <a:t>KES 670,104 by M-Pesa</a:t>
            </a:r>
            <a:endParaRPr lang="en-US" sz="1600" dirty="0"/>
          </a:p>
        </p:txBody>
      </p:sp>
      <p:sp>
        <p:nvSpPr>
          <p:cNvPr id="12" name="Shape 10"/>
          <p:cNvSpPr/>
          <p:nvPr/>
        </p:nvSpPr>
        <p:spPr>
          <a:xfrm>
            <a:off x="6355080" y="2377440"/>
            <a:ext cx="0" cy="685800"/>
          </a:xfrm>
          <a:prstGeom prst="line">
            <a:avLst/>
          </a:prstGeom>
          <a:noFill/>
          <a:ln w="19050">
            <a:solidFill>
              <a:srgbClr val="3ECFA0"/>
            </a:solidFill>
            <a:prstDash val="solid"/>
          </a:ln>
        </p:spPr>
      </p:sp>
      <p:sp>
        <p:nvSpPr>
          <p:cNvPr id="13" name="Text 11"/>
          <p:cNvSpPr txBox="1"/>
          <p:nvPr/>
        </p:nvSpPr>
        <p:spPr>
          <a:xfrm>
            <a:off x="6492240" y="2359152"/>
            <a:ext cx="2103120" cy="731520"/>
          </a:xfrm>
          <a:prstGeom prst="rect">
            <a:avLst/>
          </a:prstGeom>
          <a:noFill/>
          <a:ln/>
        </p:spPr>
        <p:txBody>
          <a:bodyPr wrap="square" lIns="0" tIns="0" rIns="0" bIns="0" rtlCol="0" anchor="t"/>
          <a:lstStyle/>
          <a:p>
            <a:pPr algn="l" indent="0" marL="0">
              <a:lnSpc>
                <a:spcPct val="120000"/>
              </a:lnSpc>
              <a:buNone/>
            </a:pPr>
            <a:r>
              <a:rPr lang="en-US" sz="900" dirty="0">
                <a:solidFill>
                  <a:srgbClr val="9FB8B2"/>
                </a:solidFill>
                <a:latin typeface="Calibri" pitchFamily="34" charset="0"/>
                <a:ea typeface="Calibri" pitchFamily="34" charset="-122"/>
                <a:cs typeface="Calibri" pitchFamily="34" charset="-120"/>
              </a:rPr>
              <a:t>Payaza confirms payment</a:t>
            </a:r>
            <a:endParaRPr lang="en-US" sz="900" dirty="0"/>
          </a:p>
          <a:p>
            <a:pPr algn="l" indent="0" marL="0">
              <a:lnSpc>
                <a:spcPct val="120000"/>
              </a:lnSpc>
              <a:buNone/>
            </a:pPr>
            <a:r>
              <a:rPr lang="en-US" sz="900" dirty="0">
                <a:solidFill>
                  <a:srgbClr val="9FB8B2"/>
                </a:solidFill>
                <a:latin typeface="Calibri" pitchFamily="34" charset="0"/>
                <a:ea typeface="Calibri" pitchFamily="34" charset="-122"/>
                <a:cs typeface="Calibri" pitchFamily="34" charset="-120"/>
              </a:rPr>
              <a:t>Meridian checks it</a:t>
            </a:r>
            <a:endParaRPr lang="en-US" sz="900" dirty="0"/>
          </a:p>
          <a:p>
            <a:pPr algn="l" indent="0" marL="0">
              <a:lnSpc>
                <a:spcPct val="120000"/>
              </a:lnSpc>
              <a:buNone/>
            </a:pPr>
            <a:r>
              <a:rPr lang="en-US" sz="900" dirty="0">
                <a:solidFill>
                  <a:srgbClr val="9FB8B2"/>
                </a:solidFill>
                <a:latin typeface="Calibri" pitchFamily="34" charset="0"/>
                <a:ea typeface="Calibri" pitchFamily="34" charset="-122"/>
                <a:cs typeface="Calibri" pitchFamily="34" charset="-120"/>
              </a:rPr>
              <a:t>Payaza pays out same day</a:t>
            </a:r>
            <a:endParaRPr lang="en-US" sz="900" dirty="0"/>
          </a:p>
        </p:txBody>
      </p:sp>
      <p:sp>
        <p:nvSpPr>
          <p:cNvPr id="14" name="Shape 12"/>
          <p:cNvSpPr/>
          <p:nvPr/>
        </p:nvSpPr>
        <p:spPr>
          <a:xfrm>
            <a:off x="6263640" y="3200400"/>
            <a:ext cx="2286000" cy="658368"/>
          </a:xfrm>
          <a:prstGeom prst="roundRect">
            <a:avLst>
              <a:gd name="adj" fmla="val 8333"/>
            </a:avLst>
          </a:prstGeom>
          <a:solidFill>
            <a:srgbClr val="1E403D"/>
          </a:solidFill>
          <a:ln w="9525">
            <a:solidFill>
              <a:srgbClr val="3ECFA0"/>
            </a:solidFill>
            <a:prstDash val="solid"/>
          </a:ln>
        </p:spPr>
      </p:sp>
      <p:sp>
        <p:nvSpPr>
          <p:cNvPr id="15" name="Text 13"/>
          <p:cNvSpPr txBox="1"/>
          <p:nvPr/>
        </p:nvSpPr>
        <p:spPr>
          <a:xfrm>
            <a:off x="6373368" y="3255264"/>
            <a:ext cx="2103120" cy="201168"/>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Nairobi flower exporter receives</a:t>
            </a:r>
            <a:endParaRPr lang="en-US" sz="800" dirty="0"/>
          </a:p>
        </p:txBody>
      </p:sp>
      <p:sp>
        <p:nvSpPr>
          <p:cNvPr id="16" name="Text 14"/>
          <p:cNvSpPr txBox="1"/>
          <p:nvPr/>
        </p:nvSpPr>
        <p:spPr>
          <a:xfrm>
            <a:off x="6373368" y="3438144"/>
            <a:ext cx="2103120" cy="365760"/>
          </a:xfrm>
          <a:prstGeom prst="rect">
            <a:avLst/>
          </a:prstGeom>
          <a:noFill/>
          <a:ln/>
        </p:spPr>
        <p:txBody>
          <a:bodyPr wrap="square" lIns="0" tIns="0" rIns="0" bIns="0" rtlCol="0" anchor="t"/>
          <a:lstStyle/>
          <a:p>
            <a:pPr algn="l" indent="0" marL="0">
              <a:lnSpc>
                <a:spcPct val="105000"/>
              </a:lnSpc>
              <a:buNone/>
            </a:pPr>
            <a:r>
              <a:rPr lang="en-US" sz="1800" b="1" dirty="0">
                <a:solidFill>
                  <a:srgbClr val="3ECFA0"/>
                </a:solidFill>
                <a:latin typeface="Calibri" pitchFamily="34" charset="0"/>
                <a:ea typeface="Calibri" pitchFamily="34" charset="-122"/>
                <a:cs typeface="Calibri" pitchFamily="34" charset="-120"/>
              </a:rPr>
              <a:t>KES 650,000</a:t>
            </a:r>
            <a:endParaRPr lang="en-US" sz="1800" dirty="0"/>
          </a:p>
        </p:txBody>
      </p:sp>
      <p:sp>
        <p:nvSpPr>
          <p:cNvPr id="17" name="Text 15"/>
          <p:cNvSpPr txBox="1"/>
          <p:nvPr/>
        </p:nvSpPr>
        <p:spPr>
          <a:xfrm>
            <a:off x="6263640" y="3913632"/>
            <a:ext cx="2377440" cy="201168"/>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Exactly what was invoiced.</a:t>
            </a:r>
            <a:endParaRPr lang="en-US" sz="800" dirty="0"/>
          </a:p>
        </p:txBody>
      </p:sp>
      <p:sp>
        <p:nvSpPr>
          <p:cNvPr id="18" name="Text 16"/>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19" name="Text 17"/>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Two exporters. The same problem.</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From our customer interviews, September 2026.</a:t>
            </a:r>
            <a:endParaRPr lang="en-US" sz="1400" dirty="0"/>
          </a:p>
        </p:txBody>
      </p:sp>
      <p:sp>
        <p:nvSpPr>
          <p:cNvPr id="4" name="Shape 2"/>
          <p:cNvSpPr/>
          <p:nvPr/>
        </p:nvSpPr>
        <p:spPr>
          <a:xfrm>
            <a:off x="457200" y="1417320"/>
            <a:ext cx="2743200" cy="3017520"/>
          </a:xfrm>
          <a:prstGeom prst="roundRect">
            <a:avLst>
              <a:gd name="adj" fmla="val 2667"/>
            </a:avLst>
          </a:prstGeom>
          <a:solidFill>
            <a:srgbClr val="1E403D"/>
          </a:solidFill>
          <a:ln w="12700">
            <a:solidFill>
              <a:srgbClr val="1E403D"/>
            </a:solidFill>
            <a:prstDash val="solid"/>
          </a:ln>
        </p:spPr>
      </p:sp>
      <p:sp>
        <p:nvSpPr>
          <p:cNvPr id="5" name="Text 3"/>
          <p:cNvSpPr txBox="1"/>
          <p:nvPr/>
        </p:nvSpPr>
        <p:spPr>
          <a:xfrm>
            <a:off x="640080" y="1572768"/>
            <a:ext cx="2377440" cy="228600"/>
          </a:xfrm>
          <a:prstGeom prst="rect">
            <a:avLst/>
          </a:prstGeom>
          <a:noFill/>
          <a:ln/>
        </p:spPr>
        <p:txBody>
          <a:bodyPr wrap="square" lIns="0" tIns="0" rIns="0" bIns="0" rtlCol="0" anchor="t"/>
          <a:lstStyle/>
          <a:p>
            <a:pPr algn="l" indent="0" marL="0">
              <a:lnSpc>
                <a:spcPct val="105000"/>
              </a:lnSpc>
              <a:buNone/>
            </a:pPr>
            <a:r>
              <a:rPr lang="en-US" sz="800" b="1" dirty="0">
                <a:solidFill>
                  <a:srgbClr val="E5C158"/>
                </a:solidFill>
                <a:latin typeface="Calibri" pitchFamily="34" charset="0"/>
                <a:ea typeface="Calibri" pitchFamily="34" charset="-122"/>
                <a:cs typeface="Calibri" pitchFamily="34" charset="-120"/>
              </a:rPr>
              <a:t>THE HACKATHON CHALLENGE</a:t>
            </a:r>
            <a:endParaRPr lang="en-US" sz="800" dirty="0"/>
          </a:p>
        </p:txBody>
      </p:sp>
      <p:sp>
        <p:nvSpPr>
          <p:cNvPr id="6" name="Text 4"/>
          <p:cNvSpPr txBox="1"/>
          <p:nvPr/>
        </p:nvSpPr>
        <p:spPr>
          <a:xfrm>
            <a:off x="640080" y="1874520"/>
            <a:ext cx="2377440" cy="1737360"/>
          </a:xfrm>
          <a:prstGeom prst="rect">
            <a:avLst/>
          </a:prstGeom>
          <a:noFill/>
          <a:ln/>
        </p:spPr>
        <p:txBody>
          <a:bodyPr wrap="square" lIns="0" tIns="0" rIns="0" bIns="0" rtlCol="0" anchor="t"/>
          <a:lstStyle/>
          <a:p>
            <a:pPr algn="l" indent="0" marL="0">
              <a:lnSpc>
                <a:spcPct val="115000"/>
              </a:lnSpc>
              <a:buNone/>
            </a:pPr>
            <a:r>
              <a:rPr lang="en-US" sz="1400" i="1" dirty="0">
                <a:solidFill>
                  <a:srgbClr val="F2F7F4"/>
                </a:solidFill>
                <a:latin typeface="Calibri" pitchFamily="34" charset="0"/>
                <a:ea typeface="Calibri" pitchFamily="34" charset="-122"/>
                <a:cs typeface="Calibri" pitchFamily="34" charset="-120"/>
              </a:rPr>
              <a:t>“Small exporters in agriculture, crafts and digital services struggle to collect from international buyers without expensive intermediaries.”</a:t>
            </a:r>
            <a:endParaRPr lang="en-US" sz="1400" dirty="0"/>
          </a:p>
        </p:txBody>
      </p:sp>
      <p:sp>
        <p:nvSpPr>
          <p:cNvPr id="7" name="Text 5"/>
          <p:cNvSpPr txBox="1"/>
          <p:nvPr/>
        </p:nvSpPr>
        <p:spPr>
          <a:xfrm>
            <a:off x="640080" y="3977640"/>
            <a:ext cx="2377440" cy="228600"/>
          </a:xfrm>
          <a:prstGeom prst="rect">
            <a:avLst/>
          </a:prstGeom>
          <a:noFill/>
          <a:ln/>
        </p:spPr>
        <p:txBody>
          <a:bodyPr wrap="square" lIns="0" tIns="0" rIns="0" bIns="0" rtlCol="0" anchor="t"/>
          <a:lstStyle/>
          <a:p>
            <a:pPr algn="l" indent="0" marL="0">
              <a:lnSpc>
                <a:spcPct val="105000"/>
              </a:lnSpc>
              <a:buNone/>
            </a:pPr>
            <a:r>
              <a:rPr lang="en-US" sz="900" dirty="0">
                <a:solidFill>
                  <a:srgbClr val="9FB8B2"/>
                </a:solidFill>
                <a:latin typeface="Calibri" pitchFamily="34" charset="0"/>
                <a:ea typeface="Calibri" pitchFamily="34" charset="-122"/>
                <a:cs typeface="Calibri" pitchFamily="34" charset="-120"/>
              </a:rPr>
              <a:t>Payaza Borderless Kenya, track 3</a:t>
            </a:r>
            <a:endParaRPr lang="en-US" sz="900" dirty="0"/>
          </a:p>
        </p:txBody>
      </p:sp>
      <p:sp>
        <p:nvSpPr>
          <p:cNvPr id="8" name="Shape 6"/>
          <p:cNvSpPr/>
          <p:nvPr/>
        </p:nvSpPr>
        <p:spPr>
          <a:xfrm>
            <a:off x="3429000" y="1417320"/>
            <a:ext cx="2514600" cy="3017520"/>
          </a:xfrm>
          <a:prstGeom prst="roundRect">
            <a:avLst>
              <a:gd name="adj" fmla="val 2909"/>
            </a:avLst>
          </a:prstGeom>
          <a:solidFill>
            <a:srgbClr val="173432"/>
          </a:solidFill>
          <a:ln w="12700">
            <a:solidFill>
              <a:srgbClr val="173432"/>
            </a:solidFill>
            <a:prstDash val="solid"/>
          </a:ln>
        </p:spPr>
      </p:sp>
      <p:sp>
        <p:nvSpPr>
          <p:cNvPr id="9" name="Shape 7"/>
          <p:cNvSpPr/>
          <p:nvPr/>
        </p:nvSpPr>
        <p:spPr>
          <a:xfrm>
            <a:off x="3611880" y="1572768"/>
            <a:ext cx="411480" cy="411480"/>
          </a:xfrm>
          <a:prstGeom prst="ellipse">
            <a:avLst/>
          </a:prstGeom>
          <a:solidFill>
            <a:srgbClr val="3ECFA0"/>
          </a:solidFill>
          <a:ln w="12700">
            <a:solidFill>
              <a:srgbClr val="3ECFA0"/>
            </a:solidFill>
            <a:prstDash val="solid"/>
          </a:ln>
        </p:spPr>
      </p:sp>
      <p:pic>
        <p:nvPicPr>
          <p:cNvPr id="10" name="Image 0" descr="preencoded.png">    </p:cNvPr>
          <p:cNvPicPr>
            <a:picLocks noChangeAspect="1"/>
          </p:cNvPicPr>
          <p:nvPr/>
        </p:nvPicPr>
        <p:blipFill>
          <a:blip r:embed="rId1"/>
          <a:stretch>
            <a:fillRect/>
          </a:stretch>
        </p:blipFill>
        <p:spPr>
          <a:xfrm>
            <a:off x="3710635" y="1671523"/>
            <a:ext cx="213970" cy="213970"/>
          </a:xfrm>
          <a:prstGeom prst="rect">
            <a:avLst/>
          </a:prstGeom>
        </p:spPr>
      </p:pic>
      <p:sp>
        <p:nvSpPr>
          <p:cNvPr id="11" name="Text 8"/>
          <p:cNvSpPr txBox="1"/>
          <p:nvPr/>
        </p:nvSpPr>
        <p:spPr>
          <a:xfrm>
            <a:off x="4114800" y="1572768"/>
            <a:ext cx="1737360" cy="411480"/>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Chris, fresh produce exporter</a:t>
            </a:r>
            <a:endParaRPr lang="en-US" sz="1200" dirty="0"/>
          </a:p>
        </p:txBody>
      </p:sp>
      <p:sp>
        <p:nvSpPr>
          <p:cNvPr id="12" name="Text 9"/>
          <p:cNvSpPr txBox="1"/>
          <p:nvPr/>
        </p:nvSpPr>
        <p:spPr>
          <a:xfrm>
            <a:off x="3611880" y="2084832"/>
            <a:ext cx="2194560" cy="365760"/>
          </a:xfrm>
          <a:prstGeom prst="rect">
            <a:avLst/>
          </a:prstGeom>
          <a:noFill/>
          <a:ln/>
        </p:spPr>
        <p:txBody>
          <a:bodyPr wrap="square" lIns="0" tIns="0" rIns="0" bIns="0" rtlCol="0" anchor="t"/>
          <a:lstStyle/>
          <a:p>
            <a:pPr algn="l" indent="0" marL="0">
              <a:lnSpc>
                <a:spcPct val="105000"/>
              </a:lnSpc>
              <a:buNone/>
            </a:pPr>
            <a:r>
              <a:rPr lang="en-US" sz="900" dirty="0">
                <a:solidFill>
                  <a:srgbClr val="9FB8B2"/>
                </a:solidFill>
                <a:latin typeface="Calibri" pitchFamily="34" charset="0"/>
                <a:ea typeface="Calibri" pitchFamily="34" charset="-122"/>
                <a:cs typeface="Calibri" pitchFamily="34" charset="-120"/>
              </a:rPr>
              <a:t>Avocados to Europe, Egypt, Middle East, Asia</a:t>
            </a:r>
            <a:endParaRPr lang="en-US" sz="900" dirty="0"/>
          </a:p>
        </p:txBody>
      </p:sp>
      <p:sp>
        <p:nvSpPr>
          <p:cNvPr id="13" name="Text 10"/>
          <p:cNvSpPr txBox="1"/>
          <p:nvPr/>
        </p:nvSpPr>
        <p:spPr>
          <a:xfrm>
            <a:off x="3611880" y="2514600"/>
            <a:ext cx="2194560" cy="18288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USD 35,000 to 40,000 per weekly shipment.</a:t>
            </a:r>
            <a:endParaRPr lang="en-US" sz="1100" dirty="0"/>
          </a:p>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2 to 3 days to clear from Europe. Gulf banks shut Fridays.</a:t>
            </a:r>
            <a:endParaRPr lang="en-US" sz="1100" dirty="0"/>
          </a:p>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Buyers hold payment until they like the FX rate.</a:t>
            </a:r>
            <a:endParaRPr lang="en-US" sz="1100" dirty="0"/>
          </a:p>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Late money means cold storage bills and farmers left unpaid at harvest.</a:t>
            </a:r>
            <a:endParaRPr lang="en-US" sz="1100" dirty="0"/>
          </a:p>
        </p:txBody>
      </p:sp>
      <p:sp>
        <p:nvSpPr>
          <p:cNvPr id="14" name="Shape 11"/>
          <p:cNvSpPr/>
          <p:nvPr/>
        </p:nvSpPr>
        <p:spPr>
          <a:xfrm>
            <a:off x="6080760" y="1417320"/>
            <a:ext cx="2514600" cy="3017520"/>
          </a:xfrm>
          <a:prstGeom prst="roundRect">
            <a:avLst>
              <a:gd name="adj" fmla="val 2909"/>
            </a:avLst>
          </a:prstGeom>
          <a:solidFill>
            <a:srgbClr val="173432"/>
          </a:solidFill>
          <a:ln w="12700">
            <a:solidFill>
              <a:srgbClr val="173432"/>
            </a:solidFill>
            <a:prstDash val="solid"/>
          </a:ln>
        </p:spPr>
      </p:sp>
      <p:sp>
        <p:nvSpPr>
          <p:cNvPr id="15" name="Shape 12"/>
          <p:cNvSpPr/>
          <p:nvPr/>
        </p:nvSpPr>
        <p:spPr>
          <a:xfrm>
            <a:off x="6263640" y="1572768"/>
            <a:ext cx="411480" cy="411480"/>
          </a:xfrm>
          <a:prstGeom prst="ellipse">
            <a:avLst/>
          </a:prstGeom>
          <a:solidFill>
            <a:srgbClr val="3ECFA0"/>
          </a:solidFill>
          <a:ln w="12700">
            <a:solidFill>
              <a:srgbClr val="3ECFA0"/>
            </a:solidFill>
            <a:prstDash val="solid"/>
          </a:ln>
        </p:spPr>
      </p:sp>
      <p:pic>
        <p:nvPicPr>
          <p:cNvPr id="16" name="Image 1" descr="preencoded.png">    </p:cNvPr>
          <p:cNvPicPr>
            <a:picLocks noChangeAspect="1"/>
          </p:cNvPicPr>
          <p:nvPr/>
        </p:nvPicPr>
        <p:blipFill>
          <a:blip r:embed="rId2"/>
          <a:stretch>
            <a:fillRect/>
          </a:stretch>
        </p:blipFill>
        <p:spPr>
          <a:xfrm>
            <a:off x="6362395" y="1671523"/>
            <a:ext cx="213970" cy="213970"/>
          </a:xfrm>
          <a:prstGeom prst="rect">
            <a:avLst/>
          </a:prstGeom>
        </p:spPr>
      </p:pic>
      <p:sp>
        <p:nvSpPr>
          <p:cNvPr id="17" name="Text 13"/>
          <p:cNvSpPr txBox="1"/>
          <p:nvPr/>
        </p:nvSpPr>
        <p:spPr>
          <a:xfrm>
            <a:off x="6766560" y="1572768"/>
            <a:ext cx="1737360" cy="411480"/>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Ann, flower exporter</a:t>
            </a:r>
            <a:endParaRPr lang="en-US" sz="1200" dirty="0"/>
          </a:p>
        </p:txBody>
      </p:sp>
      <p:sp>
        <p:nvSpPr>
          <p:cNvPr id="18" name="Text 14"/>
          <p:cNvSpPr txBox="1"/>
          <p:nvPr/>
        </p:nvSpPr>
        <p:spPr>
          <a:xfrm>
            <a:off x="6263640" y="2084832"/>
            <a:ext cx="2194560" cy="365760"/>
          </a:xfrm>
          <a:prstGeom prst="rect">
            <a:avLst/>
          </a:prstGeom>
          <a:noFill/>
          <a:ln/>
        </p:spPr>
        <p:txBody>
          <a:bodyPr wrap="square" lIns="0" tIns="0" rIns="0" bIns="0" rtlCol="0" anchor="t"/>
          <a:lstStyle/>
          <a:p>
            <a:pPr algn="l" indent="0" marL="0">
              <a:lnSpc>
                <a:spcPct val="105000"/>
              </a:lnSpc>
              <a:buNone/>
            </a:pPr>
            <a:r>
              <a:rPr lang="en-US" sz="900" dirty="0">
                <a:solidFill>
                  <a:srgbClr val="9FB8B2"/>
                </a:solidFill>
                <a:latin typeface="Calibri" pitchFamily="34" charset="0"/>
                <a:ea typeface="Calibri" pitchFamily="34" charset="-122"/>
                <a:cs typeface="Calibri" pitchFamily="34" charset="-120"/>
              </a:rPr>
              <a:t>Flowers to Ghana, Nigeria, Namibia, Côte d’Ivoire</a:t>
            </a:r>
            <a:endParaRPr lang="en-US" sz="900" dirty="0"/>
          </a:p>
        </p:txBody>
      </p:sp>
      <p:sp>
        <p:nvSpPr>
          <p:cNvPr id="19" name="Text 15"/>
          <p:cNvSpPr txBox="1"/>
          <p:nvPr/>
        </p:nvSpPr>
        <p:spPr>
          <a:xfrm>
            <a:off x="6263640" y="2514600"/>
            <a:ext cx="2194560" cy="18288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Bank transfers take 1 to 3 working days to clear.</a:t>
            </a:r>
            <a:endParaRPr lang="en-US" sz="1100" dirty="0"/>
          </a:p>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She loses money on FX between invoice and payment.</a:t>
            </a:r>
            <a:endParaRPr lang="en-US" sz="1100" dirty="0"/>
          </a:p>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Flowers are perishable. Cash is tied up while stock ships.</a:t>
            </a:r>
            <a:endParaRPr lang="en-US" sz="1100" dirty="0"/>
          </a:p>
        </p:txBody>
      </p:sp>
      <p:sp>
        <p:nvSpPr>
          <p:cNvPr id="20" name="Text 16"/>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21" name="Text 17"/>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Slow money is expensive money</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What the delay costs an exporter, in their own words.</a:t>
            </a:r>
            <a:endParaRPr lang="en-US" sz="1400" dirty="0"/>
          </a:p>
        </p:txBody>
      </p:sp>
      <p:sp>
        <p:nvSpPr>
          <p:cNvPr id="4" name="Shape 2"/>
          <p:cNvSpPr/>
          <p:nvPr/>
        </p:nvSpPr>
        <p:spPr>
          <a:xfrm>
            <a:off x="457200" y="1417320"/>
            <a:ext cx="2606040" cy="1691640"/>
          </a:xfrm>
          <a:prstGeom prst="roundRect">
            <a:avLst>
              <a:gd name="adj" fmla="val 4324"/>
            </a:avLst>
          </a:prstGeom>
          <a:solidFill>
            <a:srgbClr val="173432"/>
          </a:solidFill>
          <a:ln w="12700">
            <a:solidFill>
              <a:srgbClr val="173432"/>
            </a:solidFill>
            <a:prstDash val="solid"/>
          </a:ln>
        </p:spPr>
      </p:sp>
      <p:sp>
        <p:nvSpPr>
          <p:cNvPr id="5" name="Text 3"/>
          <p:cNvSpPr txBox="1"/>
          <p:nvPr/>
        </p:nvSpPr>
        <p:spPr>
          <a:xfrm>
            <a:off x="685800" y="1572768"/>
            <a:ext cx="2194560" cy="731520"/>
          </a:xfrm>
          <a:prstGeom prst="rect">
            <a:avLst/>
          </a:prstGeom>
          <a:noFill/>
          <a:ln/>
        </p:spPr>
        <p:txBody>
          <a:bodyPr wrap="square" lIns="0" tIns="0" rIns="0" bIns="0" rtlCol="0" anchor="t"/>
          <a:lstStyle/>
          <a:p>
            <a:pPr algn="l" indent="0" marL="0">
              <a:lnSpc>
                <a:spcPct val="105000"/>
              </a:lnSpc>
              <a:buNone/>
            </a:pPr>
            <a:r>
              <a:rPr lang="en-US" sz="3600" b="1" dirty="0">
                <a:solidFill>
                  <a:srgbClr val="E5C158"/>
                </a:solidFill>
                <a:latin typeface="Calibri" pitchFamily="34" charset="0"/>
                <a:ea typeface="Calibri" pitchFamily="34" charset="-122"/>
                <a:cs typeface="Calibri" pitchFamily="34" charset="-120"/>
              </a:rPr>
              <a:t>1–3 days</a:t>
            </a:r>
            <a:endParaRPr lang="en-US" sz="3600" dirty="0"/>
          </a:p>
        </p:txBody>
      </p:sp>
      <p:sp>
        <p:nvSpPr>
          <p:cNvPr id="6" name="Text 4"/>
          <p:cNvSpPr txBox="1"/>
          <p:nvPr/>
        </p:nvSpPr>
        <p:spPr>
          <a:xfrm>
            <a:off x="685800" y="2331720"/>
            <a:ext cx="2194560" cy="685800"/>
          </a:xfrm>
          <a:prstGeom prst="rect">
            <a:avLst/>
          </a:prstGeom>
          <a:noFill/>
          <a:ln/>
        </p:spPr>
        <p:txBody>
          <a:bodyPr wrap="square" lIns="0" tIns="0" rIns="0" bIns="0" rtlCol="0" anchor="t"/>
          <a:lstStyle/>
          <a:p>
            <a:pPr algn="l" indent="0" marL="0">
              <a:lnSpc>
                <a:spcPct val="105000"/>
              </a:lnSpc>
              <a:buNone/>
            </a:pPr>
            <a:r>
              <a:rPr lang="en-US" sz="1200" dirty="0">
                <a:solidFill>
                  <a:srgbClr val="9FB8B2"/>
                </a:solidFill>
                <a:latin typeface="Calibri" pitchFamily="34" charset="0"/>
                <a:ea typeface="Calibri" pitchFamily="34" charset="-122"/>
                <a:cs typeface="Calibri" pitchFamily="34" charset="-120"/>
              </a:rPr>
              <a:t>for a buyer’s bank transfer to clear. Ann, every order.</a:t>
            </a:r>
            <a:endParaRPr lang="en-US" sz="1200" dirty="0"/>
          </a:p>
        </p:txBody>
      </p:sp>
      <p:sp>
        <p:nvSpPr>
          <p:cNvPr id="7" name="Shape 5"/>
          <p:cNvSpPr/>
          <p:nvPr/>
        </p:nvSpPr>
        <p:spPr>
          <a:xfrm>
            <a:off x="3268980" y="1417320"/>
            <a:ext cx="2606040" cy="1691640"/>
          </a:xfrm>
          <a:prstGeom prst="roundRect">
            <a:avLst>
              <a:gd name="adj" fmla="val 4324"/>
            </a:avLst>
          </a:prstGeom>
          <a:solidFill>
            <a:srgbClr val="173432"/>
          </a:solidFill>
          <a:ln w="12700">
            <a:solidFill>
              <a:srgbClr val="173432"/>
            </a:solidFill>
            <a:prstDash val="solid"/>
          </a:ln>
        </p:spPr>
      </p:sp>
      <p:sp>
        <p:nvSpPr>
          <p:cNvPr id="8" name="Text 6"/>
          <p:cNvSpPr txBox="1"/>
          <p:nvPr/>
        </p:nvSpPr>
        <p:spPr>
          <a:xfrm>
            <a:off x="3497580" y="1572768"/>
            <a:ext cx="2194560" cy="731520"/>
          </a:xfrm>
          <a:prstGeom prst="rect">
            <a:avLst/>
          </a:prstGeom>
          <a:noFill/>
          <a:ln/>
        </p:spPr>
        <p:txBody>
          <a:bodyPr wrap="square" lIns="0" tIns="0" rIns="0" bIns="0" rtlCol="0" anchor="t"/>
          <a:lstStyle/>
          <a:p>
            <a:pPr algn="l" indent="0" marL="0">
              <a:lnSpc>
                <a:spcPct val="105000"/>
              </a:lnSpc>
              <a:buNone/>
            </a:pPr>
            <a:r>
              <a:rPr lang="en-US" sz="3600" b="1" dirty="0">
                <a:solidFill>
                  <a:srgbClr val="E5C158"/>
                </a:solidFill>
                <a:latin typeface="Calibri" pitchFamily="34" charset="0"/>
                <a:ea typeface="Calibri" pitchFamily="34" charset="-122"/>
                <a:cs typeface="Calibri" pitchFamily="34" charset="-120"/>
              </a:rPr>
              <a:t>$40k</a:t>
            </a:r>
            <a:endParaRPr lang="en-US" sz="3600" dirty="0"/>
          </a:p>
        </p:txBody>
      </p:sp>
      <p:sp>
        <p:nvSpPr>
          <p:cNvPr id="9" name="Text 7"/>
          <p:cNvSpPr txBox="1"/>
          <p:nvPr/>
        </p:nvSpPr>
        <p:spPr>
          <a:xfrm>
            <a:off x="3497580" y="2331720"/>
            <a:ext cx="2194560" cy="685800"/>
          </a:xfrm>
          <a:prstGeom prst="rect">
            <a:avLst/>
          </a:prstGeom>
          <a:noFill/>
          <a:ln/>
        </p:spPr>
        <p:txBody>
          <a:bodyPr wrap="square" lIns="0" tIns="0" rIns="0" bIns="0" rtlCol="0" anchor="t"/>
          <a:lstStyle/>
          <a:p>
            <a:pPr algn="l" indent="0" marL="0">
              <a:lnSpc>
                <a:spcPct val="105000"/>
              </a:lnSpc>
              <a:buNone/>
            </a:pPr>
            <a:r>
              <a:rPr lang="en-US" sz="1200" dirty="0">
                <a:solidFill>
                  <a:srgbClr val="9FB8B2"/>
                </a:solidFill>
                <a:latin typeface="Calibri" pitchFamily="34" charset="0"/>
                <a:ea typeface="Calibri" pitchFamily="34" charset="-122"/>
                <a:cs typeface="Calibri" pitchFamily="34" charset="-120"/>
              </a:rPr>
              <a:t>stuck per shipment while Chris waits 2 to 3 days on Europe.</a:t>
            </a:r>
            <a:endParaRPr lang="en-US" sz="1200" dirty="0"/>
          </a:p>
        </p:txBody>
      </p:sp>
      <p:sp>
        <p:nvSpPr>
          <p:cNvPr id="10" name="Shape 8"/>
          <p:cNvSpPr/>
          <p:nvPr/>
        </p:nvSpPr>
        <p:spPr>
          <a:xfrm>
            <a:off x="6080760" y="1417320"/>
            <a:ext cx="2606040" cy="1691640"/>
          </a:xfrm>
          <a:prstGeom prst="roundRect">
            <a:avLst>
              <a:gd name="adj" fmla="val 4324"/>
            </a:avLst>
          </a:prstGeom>
          <a:solidFill>
            <a:srgbClr val="173432"/>
          </a:solidFill>
          <a:ln w="12700">
            <a:solidFill>
              <a:srgbClr val="173432"/>
            </a:solidFill>
            <a:prstDash val="solid"/>
          </a:ln>
        </p:spPr>
      </p:sp>
      <p:sp>
        <p:nvSpPr>
          <p:cNvPr id="11" name="Text 9"/>
          <p:cNvSpPr txBox="1"/>
          <p:nvPr/>
        </p:nvSpPr>
        <p:spPr>
          <a:xfrm>
            <a:off x="6309360" y="1572768"/>
            <a:ext cx="2194560" cy="731520"/>
          </a:xfrm>
          <a:prstGeom prst="rect">
            <a:avLst/>
          </a:prstGeom>
          <a:noFill/>
          <a:ln/>
        </p:spPr>
        <p:txBody>
          <a:bodyPr wrap="square" lIns="0" tIns="0" rIns="0" bIns="0" rtlCol="0" anchor="t"/>
          <a:lstStyle/>
          <a:p>
            <a:pPr algn="l" indent="0" marL="0">
              <a:lnSpc>
                <a:spcPct val="105000"/>
              </a:lnSpc>
              <a:buNone/>
            </a:pPr>
            <a:r>
              <a:rPr lang="en-US" sz="3600" b="1" dirty="0">
                <a:solidFill>
                  <a:srgbClr val="E58A7A"/>
                </a:solidFill>
                <a:latin typeface="Calibri" pitchFamily="34" charset="0"/>
                <a:ea typeface="Calibri" pitchFamily="34" charset="-122"/>
                <a:cs typeface="Calibri" pitchFamily="34" charset="-120"/>
              </a:rPr>
              <a:t>FX loss</a:t>
            </a:r>
            <a:endParaRPr lang="en-US" sz="3600" dirty="0"/>
          </a:p>
        </p:txBody>
      </p:sp>
      <p:sp>
        <p:nvSpPr>
          <p:cNvPr id="12" name="Text 10"/>
          <p:cNvSpPr txBox="1"/>
          <p:nvPr/>
        </p:nvSpPr>
        <p:spPr>
          <a:xfrm>
            <a:off x="6309360" y="2331720"/>
            <a:ext cx="2194560" cy="685800"/>
          </a:xfrm>
          <a:prstGeom prst="rect">
            <a:avLst/>
          </a:prstGeom>
          <a:noFill/>
          <a:ln/>
        </p:spPr>
        <p:txBody>
          <a:bodyPr wrap="square" lIns="0" tIns="0" rIns="0" bIns="0" rtlCol="0" anchor="t"/>
          <a:lstStyle/>
          <a:p>
            <a:pPr algn="l" indent="0" marL="0">
              <a:lnSpc>
                <a:spcPct val="105000"/>
              </a:lnSpc>
              <a:buNone/>
            </a:pPr>
            <a:r>
              <a:rPr lang="en-US" sz="1200" dirty="0">
                <a:solidFill>
                  <a:srgbClr val="9FB8B2"/>
                </a:solidFill>
                <a:latin typeface="Calibri" pitchFamily="34" charset="0"/>
                <a:ea typeface="Calibri" pitchFamily="34" charset="-122"/>
                <a:cs typeface="Calibri" pitchFamily="34" charset="-120"/>
              </a:rPr>
              <a:t>when the rate moves between invoice and payment. Buyers stall for a better rate.</a:t>
            </a:r>
            <a:endParaRPr lang="en-US" sz="1200" dirty="0"/>
          </a:p>
        </p:txBody>
      </p:sp>
      <p:sp>
        <p:nvSpPr>
          <p:cNvPr id="13" name="Shape 11"/>
          <p:cNvSpPr/>
          <p:nvPr/>
        </p:nvSpPr>
        <p:spPr>
          <a:xfrm>
            <a:off x="457200" y="3474720"/>
            <a:ext cx="411480" cy="411480"/>
          </a:xfrm>
          <a:prstGeom prst="ellipse">
            <a:avLst/>
          </a:prstGeom>
          <a:solidFill>
            <a:srgbClr val="1E403D"/>
          </a:solidFill>
          <a:ln w="12700">
            <a:solidFill>
              <a:srgbClr val="1E403D"/>
            </a:solidFill>
            <a:prstDash val="solid"/>
          </a:ln>
        </p:spPr>
      </p:sp>
      <p:pic>
        <p:nvPicPr>
          <p:cNvPr id="14" name="Image 0" descr="preencoded.png">    </p:cNvPr>
          <p:cNvPicPr>
            <a:picLocks noChangeAspect="1"/>
          </p:cNvPicPr>
          <p:nvPr/>
        </p:nvPicPr>
        <p:blipFill>
          <a:blip r:embed="rId1"/>
          <a:stretch>
            <a:fillRect/>
          </a:stretch>
        </p:blipFill>
        <p:spPr>
          <a:xfrm>
            <a:off x="555955" y="3573475"/>
            <a:ext cx="213970" cy="213970"/>
          </a:xfrm>
          <a:prstGeom prst="rect">
            <a:avLst/>
          </a:prstGeom>
        </p:spPr>
      </p:pic>
      <p:sp>
        <p:nvSpPr>
          <p:cNvPr id="15" name="Text 12"/>
          <p:cNvSpPr txBox="1"/>
          <p:nvPr/>
        </p:nvSpPr>
        <p:spPr>
          <a:xfrm>
            <a:off x="1051560" y="3456432"/>
            <a:ext cx="7315200" cy="274320"/>
          </a:xfrm>
          <a:prstGeom prst="rect">
            <a:avLst/>
          </a:prstGeom>
          <a:noFill/>
          <a:ln/>
        </p:spPr>
        <p:txBody>
          <a:bodyPr wrap="square" lIns="0" tIns="0" rIns="0" bIns="0" rtlCol="0" anchor="t"/>
          <a:lstStyle/>
          <a:p>
            <a:pPr algn="l" indent="0" marL="0">
              <a:lnSpc>
                <a:spcPct val="105000"/>
              </a:lnSpc>
              <a:buNone/>
            </a:pPr>
            <a:r>
              <a:rPr lang="en-US" sz="1400" b="1" dirty="0">
                <a:solidFill>
                  <a:srgbClr val="F2F7F4"/>
                </a:solidFill>
                <a:latin typeface="Calibri" pitchFamily="34" charset="0"/>
                <a:ea typeface="Calibri" pitchFamily="34" charset="-122"/>
                <a:cs typeface="Calibri" pitchFamily="34" charset="-120"/>
              </a:rPr>
              <a:t>The knock-on effect is the real cost.</a:t>
            </a:r>
            <a:endParaRPr lang="en-US" sz="1400" dirty="0"/>
          </a:p>
        </p:txBody>
      </p:sp>
      <p:sp>
        <p:nvSpPr>
          <p:cNvPr id="16" name="Text 13"/>
          <p:cNvSpPr txBox="1"/>
          <p:nvPr/>
        </p:nvSpPr>
        <p:spPr>
          <a:xfrm>
            <a:off x="1051560" y="3767328"/>
            <a:ext cx="7589520" cy="640080"/>
          </a:xfrm>
          <a:prstGeom prst="rect">
            <a:avLst/>
          </a:prstGeom>
          <a:noFill/>
          <a:ln/>
        </p:spPr>
        <p:txBody>
          <a:bodyPr wrap="square" lIns="0" tIns="0" rIns="0" bIns="0" rtlCol="0" anchor="t"/>
          <a:lstStyle/>
          <a:p>
            <a:pPr algn="l" indent="0" marL="0">
              <a:lnSpc>
                <a:spcPct val="105000"/>
              </a:lnSpc>
              <a:buNone/>
            </a:pPr>
            <a:r>
              <a:rPr lang="en-US" sz="1200" dirty="0">
                <a:solidFill>
                  <a:srgbClr val="9FB8B2"/>
                </a:solidFill>
                <a:latin typeface="Calibri" pitchFamily="34" charset="0"/>
                <a:ea typeface="Calibri" pitchFamily="34" charset="-122"/>
                <a:cs typeface="Calibri" pitchFamily="34" charset="-120"/>
              </a:rPr>
              <a:t>Cold storage keeps running. Farmers must be paid at harvest. A missed sailing waits a week. Flowers wilt. Small exporters carry all of that because the money has not landed.</a:t>
            </a:r>
            <a:endParaRPr lang="en-US" sz="1200" dirty="0"/>
          </a:p>
        </p:txBody>
      </p:sp>
      <p:sp>
        <p:nvSpPr>
          <p:cNvPr id="17" name="Text 14"/>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18" name="Text 15"/>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How Meridian Collect works</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Four steps. The exporter only does the first one.</a:t>
            </a:r>
            <a:endParaRPr lang="en-US" sz="1400" dirty="0"/>
          </a:p>
        </p:txBody>
      </p:sp>
      <p:sp>
        <p:nvSpPr>
          <p:cNvPr id="4" name="Shape 2"/>
          <p:cNvSpPr/>
          <p:nvPr/>
        </p:nvSpPr>
        <p:spPr>
          <a:xfrm>
            <a:off x="457200" y="1463040"/>
            <a:ext cx="1874520" cy="2514600"/>
          </a:xfrm>
          <a:prstGeom prst="roundRect">
            <a:avLst>
              <a:gd name="adj" fmla="val 3902"/>
            </a:avLst>
          </a:prstGeom>
          <a:solidFill>
            <a:srgbClr val="173432"/>
          </a:solidFill>
          <a:ln w="12700">
            <a:solidFill>
              <a:srgbClr val="173432"/>
            </a:solidFill>
            <a:prstDash val="solid"/>
          </a:ln>
        </p:spPr>
      </p:sp>
      <p:sp>
        <p:nvSpPr>
          <p:cNvPr id="5" name="Shape 3"/>
          <p:cNvSpPr/>
          <p:nvPr/>
        </p:nvSpPr>
        <p:spPr>
          <a:xfrm>
            <a:off x="640080" y="1645920"/>
            <a:ext cx="457200" cy="457200"/>
          </a:xfrm>
          <a:prstGeom prst="ellipse">
            <a:avLst/>
          </a:prstGeom>
          <a:solidFill>
            <a:srgbClr val="3ECFA0"/>
          </a:solidFill>
          <a:ln w="12700">
            <a:solidFill>
              <a:srgbClr val="3ECFA0"/>
            </a:solidFill>
            <a:prstDash val="solid"/>
          </a:ln>
        </p:spPr>
      </p:sp>
      <p:pic>
        <p:nvPicPr>
          <p:cNvPr id="6" name="Image 0" descr="preencoded.png">    </p:cNvPr>
          <p:cNvPicPr>
            <a:picLocks noChangeAspect="1"/>
          </p:cNvPicPr>
          <p:nvPr/>
        </p:nvPicPr>
        <p:blipFill>
          <a:blip r:embed="rId1"/>
          <a:stretch>
            <a:fillRect/>
          </a:stretch>
        </p:blipFill>
        <p:spPr>
          <a:xfrm>
            <a:off x="749808" y="1755648"/>
            <a:ext cx="237744" cy="237744"/>
          </a:xfrm>
          <a:prstGeom prst="rect">
            <a:avLst/>
          </a:prstGeom>
        </p:spPr>
      </p:pic>
      <p:sp>
        <p:nvSpPr>
          <p:cNvPr id="7" name="Text 4"/>
          <p:cNvSpPr txBox="1"/>
          <p:nvPr/>
        </p:nvSpPr>
        <p:spPr>
          <a:xfrm>
            <a:off x="640080" y="2240280"/>
            <a:ext cx="1508760" cy="457200"/>
          </a:xfrm>
          <a:prstGeom prst="rect">
            <a:avLst/>
          </a:prstGeom>
          <a:noFill/>
          <a:ln/>
        </p:spPr>
        <p:txBody>
          <a:bodyPr wrap="square" lIns="0" tIns="0" rIns="0" bIns="0" rtlCol="0" anchor="t"/>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1. Request the amount</a:t>
            </a:r>
            <a:endParaRPr lang="en-US" sz="1300" dirty="0"/>
          </a:p>
        </p:txBody>
      </p:sp>
      <p:sp>
        <p:nvSpPr>
          <p:cNvPr id="8" name="Text 5"/>
          <p:cNvSpPr txBox="1"/>
          <p:nvPr/>
        </p:nvSpPr>
        <p:spPr>
          <a:xfrm>
            <a:off x="640080" y="2724912"/>
            <a:ext cx="1508760" cy="11887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Exporter enters what they want to receive, say KES 650,000, with their own invoice number. Gets a link with a Meridian reference.</a:t>
            </a:r>
            <a:endParaRPr lang="en-US" sz="1050" dirty="0"/>
          </a:p>
        </p:txBody>
      </p:sp>
      <p:sp>
        <p:nvSpPr>
          <p:cNvPr id="9" name="Shape 6"/>
          <p:cNvSpPr/>
          <p:nvPr/>
        </p:nvSpPr>
        <p:spPr>
          <a:xfrm>
            <a:off x="2514600" y="1463040"/>
            <a:ext cx="1874520" cy="2514600"/>
          </a:xfrm>
          <a:prstGeom prst="roundRect">
            <a:avLst>
              <a:gd name="adj" fmla="val 3902"/>
            </a:avLst>
          </a:prstGeom>
          <a:solidFill>
            <a:srgbClr val="173432"/>
          </a:solidFill>
          <a:ln w="12700">
            <a:solidFill>
              <a:srgbClr val="173432"/>
            </a:solidFill>
            <a:prstDash val="solid"/>
          </a:ln>
        </p:spPr>
      </p:sp>
      <p:sp>
        <p:nvSpPr>
          <p:cNvPr id="10" name="Shape 7"/>
          <p:cNvSpPr/>
          <p:nvPr/>
        </p:nvSpPr>
        <p:spPr>
          <a:xfrm>
            <a:off x="2697480" y="1645920"/>
            <a:ext cx="457200" cy="457200"/>
          </a:xfrm>
          <a:prstGeom prst="ellipse">
            <a:avLst/>
          </a:prstGeom>
          <a:solidFill>
            <a:srgbClr val="3ECFA0"/>
          </a:solidFill>
          <a:ln w="12700">
            <a:solidFill>
              <a:srgbClr val="3ECFA0"/>
            </a:solidFill>
            <a:prstDash val="solid"/>
          </a:ln>
        </p:spPr>
      </p:sp>
      <p:pic>
        <p:nvPicPr>
          <p:cNvPr id="11" name="Image 1" descr="preencoded.png">    </p:cNvPr>
          <p:cNvPicPr>
            <a:picLocks noChangeAspect="1"/>
          </p:cNvPicPr>
          <p:nvPr/>
        </p:nvPicPr>
        <p:blipFill>
          <a:blip r:embed="rId2"/>
          <a:stretch>
            <a:fillRect/>
          </a:stretch>
        </p:blipFill>
        <p:spPr>
          <a:xfrm>
            <a:off x="2807208" y="1755648"/>
            <a:ext cx="237744" cy="237744"/>
          </a:xfrm>
          <a:prstGeom prst="rect">
            <a:avLst/>
          </a:prstGeom>
        </p:spPr>
      </p:pic>
      <p:sp>
        <p:nvSpPr>
          <p:cNvPr id="12" name="Text 8"/>
          <p:cNvSpPr txBox="1"/>
          <p:nvPr/>
        </p:nvSpPr>
        <p:spPr>
          <a:xfrm>
            <a:off x="2697480" y="2240280"/>
            <a:ext cx="1508760" cy="457200"/>
          </a:xfrm>
          <a:prstGeom prst="rect">
            <a:avLst/>
          </a:prstGeom>
          <a:noFill/>
          <a:ln/>
        </p:spPr>
        <p:txBody>
          <a:bodyPr wrap="square" lIns="0" tIns="0" rIns="0" bIns="0" rtlCol="0" anchor="t"/>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2. Buyer pays their way</a:t>
            </a:r>
            <a:endParaRPr lang="en-US" sz="1300" dirty="0"/>
          </a:p>
        </p:txBody>
      </p:sp>
      <p:sp>
        <p:nvSpPr>
          <p:cNvPr id="13" name="Text 9"/>
          <p:cNvSpPr txBox="1"/>
          <p:nvPr/>
        </p:nvSpPr>
        <p:spPr>
          <a:xfrm>
            <a:off x="2697480" y="2724912"/>
            <a:ext cx="1508760" cy="11887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M-Pesa, MTN MoMo, bank transfer or card. Every fee is shown before paying, and the buyer covers it on top.</a:t>
            </a:r>
            <a:endParaRPr lang="en-US" sz="1050" dirty="0"/>
          </a:p>
        </p:txBody>
      </p:sp>
      <p:sp>
        <p:nvSpPr>
          <p:cNvPr id="14" name="Shape 10"/>
          <p:cNvSpPr/>
          <p:nvPr/>
        </p:nvSpPr>
        <p:spPr>
          <a:xfrm>
            <a:off x="4572000" y="1463040"/>
            <a:ext cx="1874520" cy="2514600"/>
          </a:xfrm>
          <a:prstGeom prst="roundRect">
            <a:avLst>
              <a:gd name="adj" fmla="val 3902"/>
            </a:avLst>
          </a:prstGeom>
          <a:solidFill>
            <a:srgbClr val="173432"/>
          </a:solidFill>
          <a:ln w="12700">
            <a:solidFill>
              <a:srgbClr val="173432"/>
            </a:solidFill>
            <a:prstDash val="solid"/>
          </a:ln>
        </p:spPr>
      </p:sp>
      <p:sp>
        <p:nvSpPr>
          <p:cNvPr id="15" name="Shape 11"/>
          <p:cNvSpPr/>
          <p:nvPr/>
        </p:nvSpPr>
        <p:spPr>
          <a:xfrm>
            <a:off x="4754880" y="1645920"/>
            <a:ext cx="457200" cy="457200"/>
          </a:xfrm>
          <a:prstGeom prst="ellipse">
            <a:avLst/>
          </a:prstGeom>
          <a:solidFill>
            <a:srgbClr val="3ECFA0"/>
          </a:solidFill>
          <a:ln w="12700">
            <a:solidFill>
              <a:srgbClr val="3ECFA0"/>
            </a:solidFill>
            <a:prstDash val="solid"/>
          </a:ln>
        </p:spPr>
      </p:sp>
      <p:pic>
        <p:nvPicPr>
          <p:cNvPr id="16" name="Image 2" descr="preencoded.png">    </p:cNvPr>
          <p:cNvPicPr>
            <a:picLocks noChangeAspect="1"/>
          </p:cNvPicPr>
          <p:nvPr/>
        </p:nvPicPr>
        <p:blipFill>
          <a:blip r:embed="rId3"/>
          <a:stretch>
            <a:fillRect/>
          </a:stretch>
        </p:blipFill>
        <p:spPr>
          <a:xfrm>
            <a:off x="4864608" y="1755648"/>
            <a:ext cx="237744" cy="237744"/>
          </a:xfrm>
          <a:prstGeom prst="rect">
            <a:avLst/>
          </a:prstGeom>
        </p:spPr>
      </p:pic>
      <p:sp>
        <p:nvSpPr>
          <p:cNvPr id="17" name="Text 12"/>
          <p:cNvSpPr txBox="1"/>
          <p:nvPr/>
        </p:nvSpPr>
        <p:spPr>
          <a:xfrm>
            <a:off x="4754880" y="2240280"/>
            <a:ext cx="1508760" cy="457200"/>
          </a:xfrm>
          <a:prstGeom prst="rect">
            <a:avLst/>
          </a:prstGeom>
          <a:noFill/>
          <a:ln/>
        </p:spPr>
        <p:txBody>
          <a:bodyPr wrap="square" lIns="0" tIns="0" rIns="0" bIns="0" rtlCol="0" anchor="t"/>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3. Confirmed and checked</a:t>
            </a:r>
            <a:endParaRPr lang="en-US" sz="1300" dirty="0"/>
          </a:p>
        </p:txBody>
      </p:sp>
      <p:sp>
        <p:nvSpPr>
          <p:cNvPr id="18" name="Text 13"/>
          <p:cNvSpPr txBox="1"/>
          <p:nvPr/>
        </p:nvSpPr>
        <p:spPr>
          <a:xfrm>
            <a:off x="4754880" y="2724912"/>
            <a:ext cx="1508760" cy="11887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Payaza confirms. Meridian double-checks with Payaza and runs its checks. Nobody is charged or paid twice.</a:t>
            </a:r>
            <a:endParaRPr lang="en-US" sz="1050" dirty="0"/>
          </a:p>
        </p:txBody>
      </p:sp>
      <p:sp>
        <p:nvSpPr>
          <p:cNvPr id="19" name="Shape 14"/>
          <p:cNvSpPr/>
          <p:nvPr/>
        </p:nvSpPr>
        <p:spPr>
          <a:xfrm>
            <a:off x="6629400" y="1463040"/>
            <a:ext cx="1874520" cy="2514600"/>
          </a:xfrm>
          <a:prstGeom prst="roundRect">
            <a:avLst>
              <a:gd name="adj" fmla="val 3902"/>
            </a:avLst>
          </a:prstGeom>
          <a:solidFill>
            <a:srgbClr val="173432"/>
          </a:solidFill>
          <a:ln w="12700">
            <a:solidFill>
              <a:srgbClr val="173432"/>
            </a:solidFill>
            <a:prstDash val="solid"/>
          </a:ln>
        </p:spPr>
      </p:sp>
      <p:sp>
        <p:nvSpPr>
          <p:cNvPr id="20" name="Shape 15"/>
          <p:cNvSpPr/>
          <p:nvPr/>
        </p:nvSpPr>
        <p:spPr>
          <a:xfrm>
            <a:off x="6812280" y="1645920"/>
            <a:ext cx="457200" cy="457200"/>
          </a:xfrm>
          <a:prstGeom prst="ellipse">
            <a:avLst/>
          </a:prstGeom>
          <a:solidFill>
            <a:srgbClr val="3ECFA0"/>
          </a:solidFill>
          <a:ln w="12700">
            <a:solidFill>
              <a:srgbClr val="3ECFA0"/>
            </a:solidFill>
            <a:prstDash val="solid"/>
          </a:ln>
        </p:spPr>
      </p:sp>
      <p:pic>
        <p:nvPicPr>
          <p:cNvPr id="21" name="Image 3" descr="preencoded.png">    </p:cNvPr>
          <p:cNvPicPr>
            <a:picLocks noChangeAspect="1"/>
          </p:cNvPicPr>
          <p:nvPr/>
        </p:nvPicPr>
        <p:blipFill>
          <a:blip r:embed="rId4"/>
          <a:stretch>
            <a:fillRect/>
          </a:stretch>
        </p:blipFill>
        <p:spPr>
          <a:xfrm>
            <a:off x="6922008" y="1755648"/>
            <a:ext cx="237744" cy="237744"/>
          </a:xfrm>
          <a:prstGeom prst="rect">
            <a:avLst/>
          </a:prstGeom>
        </p:spPr>
      </p:pic>
      <p:sp>
        <p:nvSpPr>
          <p:cNvPr id="22" name="Text 16"/>
          <p:cNvSpPr txBox="1"/>
          <p:nvPr/>
        </p:nvSpPr>
        <p:spPr>
          <a:xfrm>
            <a:off x="6812280" y="2240280"/>
            <a:ext cx="1508760" cy="457200"/>
          </a:xfrm>
          <a:prstGeom prst="rect">
            <a:avLst/>
          </a:prstGeom>
          <a:noFill/>
          <a:ln/>
        </p:spPr>
        <p:txBody>
          <a:bodyPr wrap="square" lIns="0" tIns="0" rIns="0" bIns="0" rtlCol="0" anchor="t"/>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4. Paid out same day</a:t>
            </a:r>
            <a:endParaRPr lang="en-US" sz="1300" dirty="0"/>
          </a:p>
        </p:txBody>
      </p:sp>
      <p:sp>
        <p:nvSpPr>
          <p:cNvPr id="23" name="Text 17"/>
          <p:cNvSpPr txBox="1"/>
          <p:nvPr/>
        </p:nvSpPr>
        <p:spPr>
          <a:xfrm>
            <a:off x="6812280" y="2724912"/>
            <a:ext cx="1508760" cy="11887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The exact invoiced amount goes to the exporter’s M-Pesa or bank. Receipts to both sides carry the invoice number.</a:t>
            </a:r>
            <a:endParaRPr lang="en-US" sz="1050" dirty="0"/>
          </a:p>
        </p:txBody>
      </p:sp>
      <p:sp>
        <p:nvSpPr>
          <p:cNvPr id="24" name="Text 18"/>
          <p:cNvSpPr txBox="1"/>
          <p:nvPr/>
        </p:nvSpPr>
        <p:spPr>
          <a:xfrm>
            <a:off x="457200" y="4160520"/>
            <a:ext cx="8229600" cy="411480"/>
          </a:xfrm>
          <a:prstGeom prst="rect">
            <a:avLst/>
          </a:prstGeom>
          <a:noFill/>
          <a:ln/>
        </p:spPr>
        <p:txBody>
          <a:bodyPr wrap="square" lIns="0" tIns="0" rIns="0" bIns="0" rtlCol="0" anchor="t"/>
          <a:lstStyle/>
          <a:p>
            <a:pPr algn="l" indent="0" marL="0">
              <a:lnSpc>
                <a:spcPct val="105000"/>
              </a:lnSpc>
              <a:buNone/>
            </a:pPr>
            <a:r>
              <a:rPr lang="en-US" sz="1200" dirty="0">
                <a:solidFill>
                  <a:srgbClr val="3ECFA0"/>
                </a:solidFill>
                <a:latin typeface="Calibri" pitchFamily="34" charset="0"/>
                <a:ea typeface="Calibri" pitchFamily="34" charset="-122"/>
                <a:cs typeface="Calibri" pitchFamily="34" charset="-120"/>
              </a:rPr>
              <a:t>Pricing: flat 1% plus Payaza’s fee, both paid by the buyer and shown up front. The buyer pays in the exporter’s currency, and the payout is in that same currency.</a:t>
            </a:r>
            <a:endParaRPr lang="en-US" sz="1200" dirty="0"/>
          </a:p>
        </p:txBody>
      </p:sp>
      <p:sp>
        <p:nvSpPr>
          <p:cNvPr id="25" name="Text 19"/>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26" name="Text 20"/>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Payaza does the heavy lifting</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Every money step runs on Payaza’s APIs. Built and run in its sandbox.</a:t>
            </a:r>
            <a:endParaRPr lang="en-US" sz="1400" dirty="0"/>
          </a:p>
        </p:txBody>
      </p:sp>
      <p:sp>
        <p:nvSpPr>
          <p:cNvPr id="4" name="Shape 2"/>
          <p:cNvSpPr/>
          <p:nvPr/>
        </p:nvSpPr>
        <p:spPr>
          <a:xfrm>
            <a:off x="457200" y="1417320"/>
            <a:ext cx="2606040" cy="1188720"/>
          </a:xfrm>
          <a:prstGeom prst="roundRect">
            <a:avLst>
              <a:gd name="adj" fmla="val 6154"/>
            </a:avLst>
          </a:prstGeom>
          <a:solidFill>
            <a:srgbClr val="173432"/>
          </a:solidFill>
          <a:ln w="12700">
            <a:solidFill>
              <a:srgbClr val="173432"/>
            </a:solidFill>
            <a:prstDash val="solid"/>
          </a:ln>
        </p:spPr>
      </p:sp>
      <p:sp>
        <p:nvSpPr>
          <p:cNvPr id="5" name="Shape 3"/>
          <p:cNvSpPr/>
          <p:nvPr/>
        </p:nvSpPr>
        <p:spPr>
          <a:xfrm>
            <a:off x="621792" y="1600200"/>
            <a:ext cx="384048" cy="384048"/>
          </a:xfrm>
          <a:prstGeom prst="ellipse">
            <a:avLst/>
          </a:prstGeom>
          <a:solidFill>
            <a:srgbClr val="3ECFA0"/>
          </a:solidFill>
          <a:ln w="12700">
            <a:solidFill>
              <a:srgbClr val="3ECFA0"/>
            </a:solidFill>
            <a:prstDash val="solid"/>
          </a:ln>
        </p:spPr>
      </p:sp>
      <p:pic>
        <p:nvPicPr>
          <p:cNvPr id="6" name="Image 0" descr="preencoded.png">    </p:cNvPr>
          <p:cNvPicPr>
            <a:picLocks noChangeAspect="1"/>
          </p:cNvPicPr>
          <p:nvPr/>
        </p:nvPicPr>
        <p:blipFill>
          <a:blip r:embed="rId1"/>
          <a:stretch>
            <a:fillRect/>
          </a:stretch>
        </p:blipFill>
        <p:spPr>
          <a:xfrm>
            <a:off x="713964" y="1692372"/>
            <a:ext cx="199705" cy="199705"/>
          </a:xfrm>
          <a:prstGeom prst="rect">
            <a:avLst/>
          </a:prstGeom>
        </p:spPr>
      </p:pic>
      <p:sp>
        <p:nvSpPr>
          <p:cNvPr id="7" name="Text 4"/>
          <p:cNvSpPr txBox="1"/>
          <p:nvPr/>
        </p:nvSpPr>
        <p:spPr>
          <a:xfrm>
            <a:off x="1115568" y="16002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Mobile money collections</a:t>
            </a:r>
            <a:endParaRPr lang="en-US" sz="1200" dirty="0"/>
          </a:p>
        </p:txBody>
      </p:sp>
      <p:sp>
        <p:nvSpPr>
          <p:cNvPr id="8" name="Text 5"/>
          <p:cNvSpPr txBox="1"/>
          <p:nvPr/>
        </p:nvSpPr>
        <p:spPr>
          <a:xfrm>
            <a:off x="621792" y="20756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M-Pesa in Kenya, and MoMo wallets in Uganda, Tanzania, Ghana and more.</a:t>
            </a:r>
            <a:endParaRPr lang="en-US" sz="1050" dirty="0"/>
          </a:p>
        </p:txBody>
      </p:sp>
      <p:sp>
        <p:nvSpPr>
          <p:cNvPr id="9" name="Shape 6"/>
          <p:cNvSpPr/>
          <p:nvPr/>
        </p:nvSpPr>
        <p:spPr>
          <a:xfrm>
            <a:off x="3268980" y="1417320"/>
            <a:ext cx="2606040" cy="1188720"/>
          </a:xfrm>
          <a:prstGeom prst="roundRect">
            <a:avLst>
              <a:gd name="adj" fmla="val 6154"/>
            </a:avLst>
          </a:prstGeom>
          <a:solidFill>
            <a:srgbClr val="173432"/>
          </a:solidFill>
          <a:ln w="12700">
            <a:solidFill>
              <a:srgbClr val="173432"/>
            </a:solidFill>
            <a:prstDash val="solid"/>
          </a:ln>
        </p:spPr>
      </p:sp>
      <p:sp>
        <p:nvSpPr>
          <p:cNvPr id="10" name="Shape 7"/>
          <p:cNvSpPr/>
          <p:nvPr/>
        </p:nvSpPr>
        <p:spPr>
          <a:xfrm>
            <a:off x="3433572" y="1600200"/>
            <a:ext cx="384048" cy="384048"/>
          </a:xfrm>
          <a:prstGeom prst="ellipse">
            <a:avLst/>
          </a:prstGeom>
          <a:solidFill>
            <a:srgbClr val="3ECFA0"/>
          </a:solidFill>
          <a:ln w="12700">
            <a:solidFill>
              <a:srgbClr val="3ECFA0"/>
            </a:solidFill>
            <a:prstDash val="solid"/>
          </a:ln>
        </p:spPr>
      </p:sp>
      <p:pic>
        <p:nvPicPr>
          <p:cNvPr id="11" name="Image 1" descr="preencoded.png">    </p:cNvPr>
          <p:cNvPicPr>
            <a:picLocks noChangeAspect="1"/>
          </p:cNvPicPr>
          <p:nvPr/>
        </p:nvPicPr>
        <p:blipFill>
          <a:blip r:embed="rId2"/>
          <a:stretch>
            <a:fillRect/>
          </a:stretch>
        </p:blipFill>
        <p:spPr>
          <a:xfrm>
            <a:off x="3525744" y="1692372"/>
            <a:ext cx="199705" cy="199705"/>
          </a:xfrm>
          <a:prstGeom prst="rect">
            <a:avLst/>
          </a:prstGeom>
        </p:spPr>
      </p:pic>
      <p:sp>
        <p:nvSpPr>
          <p:cNvPr id="12" name="Text 8"/>
          <p:cNvSpPr txBox="1"/>
          <p:nvPr/>
        </p:nvSpPr>
        <p:spPr>
          <a:xfrm>
            <a:off x="3927348" y="16002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NGN virtual accounts</a:t>
            </a:r>
            <a:endParaRPr lang="en-US" sz="1200" dirty="0"/>
          </a:p>
        </p:txBody>
      </p:sp>
      <p:sp>
        <p:nvSpPr>
          <p:cNvPr id="13" name="Text 9"/>
          <p:cNvSpPr txBox="1"/>
          <p:nvPr/>
        </p:nvSpPr>
        <p:spPr>
          <a:xfrm>
            <a:off x="3433572" y="20756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Nigerian buyers pay by bank transfer to a one-off account that expires.</a:t>
            </a:r>
            <a:endParaRPr lang="en-US" sz="1050" dirty="0"/>
          </a:p>
        </p:txBody>
      </p:sp>
      <p:sp>
        <p:nvSpPr>
          <p:cNvPr id="14" name="Shape 10"/>
          <p:cNvSpPr/>
          <p:nvPr/>
        </p:nvSpPr>
        <p:spPr>
          <a:xfrm>
            <a:off x="6080760" y="1417320"/>
            <a:ext cx="2606040" cy="1188720"/>
          </a:xfrm>
          <a:prstGeom prst="roundRect">
            <a:avLst>
              <a:gd name="adj" fmla="val 6154"/>
            </a:avLst>
          </a:prstGeom>
          <a:solidFill>
            <a:srgbClr val="173432"/>
          </a:solidFill>
          <a:ln w="12700">
            <a:solidFill>
              <a:srgbClr val="173432"/>
            </a:solidFill>
            <a:prstDash val="solid"/>
          </a:ln>
        </p:spPr>
      </p:sp>
      <p:sp>
        <p:nvSpPr>
          <p:cNvPr id="15" name="Shape 11"/>
          <p:cNvSpPr/>
          <p:nvPr/>
        </p:nvSpPr>
        <p:spPr>
          <a:xfrm>
            <a:off x="6245352" y="1600200"/>
            <a:ext cx="384048" cy="384048"/>
          </a:xfrm>
          <a:prstGeom prst="ellipse">
            <a:avLst/>
          </a:prstGeom>
          <a:solidFill>
            <a:srgbClr val="3ECFA0"/>
          </a:solidFill>
          <a:ln w="12700">
            <a:solidFill>
              <a:srgbClr val="3ECFA0"/>
            </a:solidFill>
            <a:prstDash val="solid"/>
          </a:ln>
        </p:spPr>
      </p:sp>
      <p:pic>
        <p:nvPicPr>
          <p:cNvPr id="16" name="Image 2" descr="preencoded.png">    </p:cNvPr>
          <p:cNvPicPr>
            <a:picLocks noChangeAspect="1"/>
          </p:cNvPicPr>
          <p:nvPr/>
        </p:nvPicPr>
        <p:blipFill>
          <a:blip r:embed="rId3"/>
          <a:stretch>
            <a:fillRect/>
          </a:stretch>
        </p:blipFill>
        <p:spPr>
          <a:xfrm>
            <a:off x="6337524" y="1692372"/>
            <a:ext cx="199705" cy="199705"/>
          </a:xfrm>
          <a:prstGeom prst="rect">
            <a:avLst/>
          </a:prstGeom>
        </p:spPr>
      </p:pic>
      <p:sp>
        <p:nvSpPr>
          <p:cNvPr id="17" name="Text 12"/>
          <p:cNvSpPr txBox="1"/>
          <p:nvPr/>
        </p:nvSpPr>
        <p:spPr>
          <a:xfrm>
            <a:off x="6739128" y="16002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Web Checkout for cards</a:t>
            </a:r>
            <a:endParaRPr lang="en-US" sz="1200" dirty="0"/>
          </a:p>
        </p:txBody>
      </p:sp>
      <p:sp>
        <p:nvSpPr>
          <p:cNvPr id="18" name="Text 13"/>
          <p:cNvSpPr txBox="1"/>
          <p:nvPr/>
        </p:nvSpPr>
        <p:spPr>
          <a:xfrm>
            <a:off x="6245352" y="20756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Visa, Mastercard and Verve in NGN, 3DS secured. Card numbers never touch Meridian.</a:t>
            </a:r>
            <a:endParaRPr lang="en-US" sz="1050" dirty="0"/>
          </a:p>
        </p:txBody>
      </p:sp>
      <p:sp>
        <p:nvSpPr>
          <p:cNvPr id="19" name="Shape 14"/>
          <p:cNvSpPr/>
          <p:nvPr/>
        </p:nvSpPr>
        <p:spPr>
          <a:xfrm>
            <a:off x="457200" y="2788920"/>
            <a:ext cx="2606040" cy="1188720"/>
          </a:xfrm>
          <a:prstGeom prst="roundRect">
            <a:avLst>
              <a:gd name="adj" fmla="val 6154"/>
            </a:avLst>
          </a:prstGeom>
          <a:solidFill>
            <a:srgbClr val="173432"/>
          </a:solidFill>
          <a:ln w="12700">
            <a:solidFill>
              <a:srgbClr val="173432"/>
            </a:solidFill>
            <a:prstDash val="solid"/>
          </a:ln>
        </p:spPr>
      </p:sp>
      <p:sp>
        <p:nvSpPr>
          <p:cNvPr id="20" name="Shape 15"/>
          <p:cNvSpPr/>
          <p:nvPr/>
        </p:nvSpPr>
        <p:spPr>
          <a:xfrm>
            <a:off x="621792" y="2971800"/>
            <a:ext cx="384048" cy="384048"/>
          </a:xfrm>
          <a:prstGeom prst="ellipse">
            <a:avLst/>
          </a:prstGeom>
          <a:solidFill>
            <a:srgbClr val="3ECFA0"/>
          </a:solidFill>
          <a:ln w="12700">
            <a:solidFill>
              <a:srgbClr val="3ECFA0"/>
            </a:solidFill>
            <a:prstDash val="solid"/>
          </a:ln>
        </p:spPr>
      </p:sp>
      <p:pic>
        <p:nvPicPr>
          <p:cNvPr id="21" name="Image 3" descr="preencoded.png">    </p:cNvPr>
          <p:cNvPicPr>
            <a:picLocks noChangeAspect="1"/>
          </p:cNvPicPr>
          <p:nvPr/>
        </p:nvPicPr>
        <p:blipFill>
          <a:blip r:embed="rId4"/>
          <a:stretch>
            <a:fillRect/>
          </a:stretch>
        </p:blipFill>
        <p:spPr>
          <a:xfrm>
            <a:off x="713964" y="3063972"/>
            <a:ext cx="199705" cy="199705"/>
          </a:xfrm>
          <a:prstGeom prst="rect">
            <a:avLst/>
          </a:prstGeom>
        </p:spPr>
      </p:pic>
      <p:sp>
        <p:nvSpPr>
          <p:cNvPr id="22" name="Text 16"/>
          <p:cNvSpPr txBox="1"/>
          <p:nvPr/>
        </p:nvSpPr>
        <p:spPr>
          <a:xfrm>
            <a:off x="1115568" y="29718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Account name enquiry</a:t>
            </a:r>
            <a:endParaRPr lang="en-US" sz="1200" dirty="0"/>
          </a:p>
        </p:txBody>
      </p:sp>
      <p:sp>
        <p:nvSpPr>
          <p:cNvPr id="23" name="Text 17"/>
          <p:cNvSpPr txBox="1"/>
          <p:nvPr/>
        </p:nvSpPr>
        <p:spPr>
          <a:xfrm>
            <a:off x="621792" y="34472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The exporter’s payout account is checked against their business name before it’s saved.</a:t>
            </a:r>
            <a:endParaRPr lang="en-US" sz="1050" dirty="0"/>
          </a:p>
        </p:txBody>
      </p:sp>
      <p:sp>
        <p:nvSpPr>
          <p:cNvPr id="24" name="Shape 18"/>
          <p:cNvSpPr/>
          <p:nvPr/>
        </p:nvSpPr>
        <p:spPr>
          <a:xfrm>
            <a:off x="3268980" y="2788920"/>
            <a:ext cx="2606040" cy="1188720"/>
          </a:xfrm>
          <a:prstGeom prst="roundRect">
            <a:avLst>
              <a:gd name="adj" fmla="val 6154"/>
            </a:avLst>
          </a:prstGeom>
          <a:solidFill>
            <a:srgbClr val="173432"/>
          </a:solidFill>
          <a:ln w="12700">
            <a:solidFill>
              <a:srgbClr val="173432"/>
            </a:solidFill>
            <a:prstDash val="solid"/>
          </a:ln>
        </p:spPr>
      </p:sp>
      <p:sp>
        <p:nvSpPr>
          <p:cNvPr id="25" name="Shape 19"/>
          <p:cNvSpPr/>
          <p:nvPr/>
        </p:nvSpPr>
        <p:spPr>
          <a:xfrm>
            <a:off x="3433572" y="2971800"/>
            <a:ext cx="384048" cy="384048"/>
          </a:xfrm>
          <a:prstGeom prst="ellipse">
            <a:avLst/>
          </a:prstGeom>
          <a:solidFill>
            <a:srgbClr val="3ECFA0"/>
          </a:solidFill>
          <a:ln w="12700">
            <a:solidFill>
              <a:srgbClr val="3ECFA0"/>
            </a:solidFill>
            <a:prstDash val="solid"/>
          </a:ln>
        </p:spPr>
      </p:sp>
      <p:pic>
        <p:nvPicPr>
          <p:cNvPr id="26" name="Image 4" descr="preencoded.png">    </p:cNvPr>
          <p:cNvPicPr>
            <a:picLocks noChangeAspect="1"/>
          </p:cNvPicPr>
          <p:nvPr/>
        </p:nvPicPr>
        <p:blipFill>
          <a:blip r:embed="rId5"/>
          <a:stretch>
            <a:fillRect/>
          </a:stretch>
        </p:blipFill>
        <p:spPr>
          <a:xfrm>
            <a:off x="3525744" y="3063972"/>
            <a:ext cx="199705" cy="199705"/>
          </a:xfrm>
          <a:prstGeom prst="rect">
            <a:avLst/>
          </a:prstGeom>
        </p:spPr>
      </p:pic>
      <p:sp>
        <p:nvSpPr>
          <p:cNvPr id="27" name="Text 20"/>
          <p:cNvSpPr txBox="1"/>
          <p:nvPr/>
        </p:nvSpPr>
        <p:spPr>
          <a:xfrm>
            <a:off x="3927348" y="29718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Transfers</a:t>
            </a:r>
            <a:endParaRPr lang="en-US" sz="1200" dirty="0"/>
          </a:p>
        </p:txBody>
      </p:sp>
      <p:sp>
        <p:nvSpPr>
          <p:cNvPr id="28" name="Text 21"/>
          <p:cNvSpPr txBox="1"/>
          <p:nvPr/>
        </p:nvSpPr>
        <p:spPr>
          <a:xfrm>
            <a:off x="3433572" y="34472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Pays the exporter out to M-Pesa or bank, in their currency, the moment a payment is confirmed.</a:t>
            </a:r>
            <a:endParaRPr lang="en-US" sz="1050" dirty="0"/>
          </a:p>
        </p:txBody>
      </p:sp>
      <p:sp>
        <p:nvSpPr>
          <p:cNvPr id="29" name="Shape 22"/>
          <p:cNvSpPr/>
          <p:nvPr/>
        </p:nvSpPr>
        <p:spPr>
          <a:xfrm>
            <a:off x="6080760" y="2788920"/>
            <a:ext cx="2606040" cy="1188720"/>
          </a:xfrm>
          <a:prstGeom prst="roundRect">
            <a:avLst>
              <a:gd name="adj" fmla="val 6154"/>
            </a:avLst>
          </a:prstGeom>
          <a:solidFill>
            <a:srgbClr val="173432"/>
          </a:solidFill>
          <a:ln w="12700">
            <a:solidFill>
              <a:srgbClr val="173432"/>
            </a:solidFill>
            <a:prstDash val="solid"/>
          </a:ln>
        </p:spPr>
      </p:sp>
      <p:sp>
        <p:nvSpPr>
          <p:cNvPr id="30" name="Shape 23"/>
          <p:cNvSpPr/>
          <p:nvPr/>
        </p:nvSpPr>
        <p:spPr>
          <a:xfrm>
            <a:off x="6245352" y="2971800"/>
            <a:ext cx="384048" cy="384048"/>
          </a:xfrm>
          <a:prstGeom prst="ellipse">
            <a:avLst/>
          </a:prstGeom>
          <a:solidFill>
            <a:srgbClr val="3ECFA0"/>
          </a:solidFill>
          <a:ln w="12700">
            <a:solidFill>
              <a:srgbClr val="3ECFA0"/>
            </a:solidFill>
            <a:prstDash val="solid"/>
          </a:ln>
        </p:spPr>
      </p:sp>
      <p:pic>
        <p:nvPicPr>
          <p:cNvPr id="31" name="Image 5" descr="preencoded.png">    </p:cNvPr>
          <p:cNvPicPr>
            <a:picLocks noChangeAspect="1"/>
          </p:cNvPicPr>
          <p:nvPr/>
        </p:nvPicPr>
        <p:blipFill>
          <a:blip r:embed="rId6"/>
          <a:stretch>
            <a:fillRect/>
          </a:stretch>
        </p:blipFill>
        <p:spPr>
          <a:xfrm>
            <a:off x="6337524" y="3063972"/>
            <a:ext cx="199705" cy="199705"/>
          </a:xfrm>
          <a:prstGeom prst="rect">
            <a:avLst/>
          </a:prstGeom>
        </p:spPr>
      </p:pic>
      <p:sp>
        <p:nvSpPr>
          <p:cNvPr id="32" name="Text 24"/>
          <p:cNvSpPr txBox="1"/>
          <p:nvPr/>
        </p:nvSpPr>
        <p:spPr>
          <a:xfrm>
            <a:off x="6739128" y="29718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Webhooks + status queries</a:t>
            </a:r>
            <a:endParaRPr lang="en-US" sz="1200" dirty="0"/>
          </a:p>
        </p:txBody>
      </p:sp>
      <p:sp>
        <p:nvSpPr>
          <p:cNvPr id="33" name="Text 25"/>
          <p:cNvSpPr txBox="1"/>
          <p:nvPr/>
        </p:nvSpPr>
        <p:spPr>
          <a:xfrm>
            <a:off x="6245352" y="34472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Every payment confirmed twice, and a live timeline from “Paid” to “Settled”.</a:t>
            </a:r>
            <a:endParaRPr lang="en-US" sz="1050" dirty="0"/>
          </a:p>
        </p:txBody>
      </p:sp>
      <p:sp>
        <p:nvSpPr>
          <p:cNvPr id="34" name="Text 26"/>
          <p:cNvSpPr txBox="1"/>
          <p:nvPr/>
        </p:nvSpPr>
        <p:spPr>
          <a:xfrm>
            <a:off x="457200" y="4206240"/>
            <a:ext cx="8229600" cy="320040"/>
          </a:xfrm>
          <a:prstGeom prst="rect">
            <a:avLst/>
          </a:prstGeom>
          <a:noFill/>
          <a:ln/>
        </p:spPr>
        <p:txBody>
          <a:bodyPr wrap="square" lIns="0" tIns="0" rIns="0" bIns="0" rtlCol="0" anchor="t"/>
          <a:lstStyle/>
          <a:p>
            <a:pPr algn="l" indent="0" marL="0">
              <a:lnSpc>
                <a:spcPct val="105000"/>
              </a:lnSpc>
              <a:buNone/>
            </a:pPr>
            <a:r>
              <a:rPr lang="en-US" sz="1100" i="1" dirty="0">
                <a:solidFill>
                  <a:srgbClr val="9FB8B2"/>
                </a:solidFill>
                <a:latin typeface="Calibri" pitchFamily="34" charset="0"/>
                <a:ea typeface="Calibri" pitchFamily="34" charset="-122"/>
                <a:cs typeface="Calibri" pitchFamily="34" charset="-120"/>
              </a:rPr>
              <a:t>Meridian adds the exporter experience: exact amounts, invoice numbers, fee transparency, checks and receipts.</a:t>
            </a:r>
            <a:endParaRPr lang="en-US" sz="1100" dirty="0"/>
          </a:p>
        </p:txBody>
      </p:sp>
      <p:sp>
        <p:nvSpPr>
          <p:cNvPr id="35" name="Text 27"/>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36" name="Text 28"/>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Ann’s next order, end to end</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Illustrative. A buyer pays in KES by M-Pesa for flowers worth KES 650,000.</a:t>
            </a:r>
            <a:endParaRPr lang="en-US" sz="1400" dirty="0"/>
          </a:p>
        </p:txBody>
      </p:sp>
      <p:sp>
        <p:nvSpPr>
          <p:cNvPr id="4" name="Shape 2"/>
          <p:cNvSpPr/>
          <p:nvPr/>
        </p:nvSpPr>
        <p:spPr>
          <a:xfrm>
            <a:off x="1536192" y="1508760"/>
            <a:ext cx="146304" cy="146304"/>
          </a:xfrm>
          <a:prstGeom prst="ellipse">
            <a:avLst/>
          </a:prstGeom>
          <a:solidFill>
            <a:srgbClr val="3ECFA0"/>
          </a:solidFill>
          <a:ln w="12700">
            <a:solidFill>
              <a:srgbClr val="3ECFA0"/>
            </a:solidFill>
            <a:prstDash val="solid"/>
          </a:ln>
        </p:spPr>
      </p:sp>
      <p:sp>
        <p:nvSpPr>
          <p:cNvPr id="5" name="Text 3"/>
          <p:cNvSpPr txBox="1"/>
          <p:nvPr/>
        </p:nvSpPr>
        <p:spPr>
          <a:xfrm>
            <a:off x="457200" y="1444752"/>
            <a:ext cx="960120" cy="274320"/>
          </a:xfrm>
          <a:prstGeom prst="rect">
            <a:avLst/>
          </a:prstGeom>
          <a:noFill/>
          <a:ln/>
        </p:spPr>
        <p:txBody>
          <a:bodyPr wrap="square" lIns="0" tIns="0" rIns="0" bIns="0" rtlCol="0" anchor="t"/>
          <a:lstStyle/>
          <a:p>
            <a:pPr algn="r" indent="0" marL="0">
              <a:lnSpc>
                <a:spcPct val="105000"/>
              </a:lnSpc>
              <a:buNone/>
            </a:pPr>
            <a:r>
              <a:rPr lang="en-US" sz="1300" b="1" dirty="0">
                <a:solidFill>
                  <a:srgbClr val="3ECFA0"/>
                </a:solidFill>
                <a:latin typeface="Calibri" pitchFamily="34" charset="0"/>
                <a:ea typeface="Calibri" pitchFamily="34" charset="-122"/>
                <a:cs typeface="Calibri" pitchFamily="34" charset="-120"/>
              </a:rPr>
              <a:t>9:00</a:t>
            </a:r>
            <a:endParaRPr lang="en-US" sz="1300" dirty="0"/>
          </a:p>
        </p:txBody>
      </p:sp>
      <p:sp>
        <p:nvSpPr>
          <p:cNvPr id="6" name="Text 4"/>
          <p:cNvSpPr txBox="1"/>
          <p:nvPr/>
        </p:nvSpPr>
        <p:spPr>
          <a:xfrm>
            <a:off x="1828800" y="1444752"/>
            <a:ext cx="3657600" cy="548640"/>
          </a:xfrm>
          <a:prstGeom prst="rect">
            <a:avLst/>
          </a:prstGeom>
          <a:noFill/>
          <a:ln/>
        </p:spPr>
        <p:txBody>
          <a:bodyPr wrap="square" lIns="0" tIns="0" rIns="0" bIns="0" rtlCol="0" anchor="t"/>
          <a:lstStyle/>
          <a:p>
            <a:pPr algn="l" indent="0" marL="0">
              <a:lnSpc>
                <a:spcPct val="105000"/>
              </a:lnSpc>
              <a:buNone/>
            </a:pPr>
            <a:r>
              <a:rPr lang="en-US" sz="1200" dirty="0">
                <a:solidFill>
                  <a:srgbClr val="F2F7F4"/>
                </a:solidFill>
                <a:latin typeface="Calibri" pitchFamily="34" charset="0"/>
                <a:ea typeface="Calibri" pitchFamily="34" charset="-122"/>
                <a:cs typeface="Calibri" pitchFamily="34" charset="-120"/>
              </a:rPr>
              <a:t>Ann requests KES 650,000 with her invoice number AF-0917 and sends the link on WhatsApp.</a:t>
            </a:r>
            <a:endParaRPr lang="en-US" sz="1200" dirty="0"/>
          </a:p>
        </p:txBody>
      </p:sp>
      <p:sp>
        <p:nvSpPr>
          <p:cNvPr id="7" name="Shape 5"/>
          <p:cNvSpPr/>
          <p:nvPr/>
        </p:nvSpPr>
        <p:spPr>
          <a:xfrm>
            <a:off x="1536192" y="2167128"/>
            <a:ext cx="146304" cy="146304"/>
          </a:xfrm>
          <a:prstGeom prst="ellipse">
            <a:avLst/>
          </a:prstGeom>
          <a:solidFill>
            <a:srgbClr val="3ECFA0"/>
          </a:solidFill>
          <a:ln w="12700">
            <a:solidFill>
              <a:srgbClr val="3ECFA0"/>
            </a:solidFill>
            <a:prstDash val="solid"/>
          </a:ln>
        </p:spPr>
      </p:sp>
      <p:sp>
        <p:nvSpPr>
          <p:cNvPr id="8" name="Text 6"/>
          <p:cNvSpPr txBox="1"/>
          <p:nvPr/>
        </p:nvSpPr>
        <p:spPr>
          <a:xfrm>
            <a:off x="457200" y="2103120"/>
            <a:ext cx="960120" cy="274320"/>
          </a:xfrm>
          <a:prstGeom prst="rect">
            <a:avLst/>
          </a:prstGeom>
          <a:noFill/>
          <a:ln/>
        </p:spPr>
        <p:txBody>
          <a:bodyPr wrap="square" lIns="0" tIns="0" rIns="0" bIns="0" rtlCol="0" anchor="t"/>
          <a:lstStyle/>
          <a:p>
            <a:pPr algn="r" indent="0" marL="0">
              <a:lnSpc>
                <a:spcPct val="105000"/>
              </a:lnSpc>
              <a:buNone/>
            </a:pPr>
            <a:r>
              <a:rPr lang="en-US" sz="1300" b="1" dirty="0">
                <a:solidFill>
                  <a:srgbClr val="3ECFA0"/>
                </a:solidFill>
                <a:latin typeface="Calibri" pitchFamily="34" charset="0"/>
                <a:ea typeface="Calibri" pitchFamily="34" charset="-122"/>
                <a:cs typeface="Calibri" pitchFamily="34" charset="-120"/>
              </a:rPr>
              <a:t>9:40</a:t>
            </a:r>
            <a:endParaRPr lang="en-US" sz="1300" dirty="0"/>
          </a:p>
        </p:txBody>
      </p:sp>
      <p:sp>
        <p:nvSpPr>
          <p:cNvPr id="9" name="Text 7"/>
          <p:cNvSpPr txBox="1"/>
          <p:nvPr/>
        </p:nvSpPr>
        <p:spPr>
          <a:xfrm>
            <a:off x="1828800" y="2103120"/>
            <a:ext cx="3657600" cy="548640"/>
          </a:xfrm>
          <a:prstGeom prst="rect">
            <a:avLst/>
          </a:prstGeom>
          <a:noFill/>
          <a:ln/>
        </p:spPr>
        <p:txBody>
          <a:bodyPr wrap="square" lIns="0" tIns="0" rIns="0" bIns="0" rtlCol="0" anchor="t"/>
          <a:lstStyle/>
          <a:p>
            <a:pPr algn="l" indent="0" marL="0">
              <a:lnSpc>
                <a:spcPct val="105000"/>
              </a:lnSpc>
              <a:buNone/>
            </a:pPr>
            <a:r>
              <a:rPr lang="en-US" sz="1200" dirty="0">
                <a:solidFill>
                  <a:srgbClr val="F2F7F4"/>
                </a:solidFill>
                <a:latin typeface="Calibri" pitchFamily="34" charset="0"/>
                <a:ea typeface="Calibri" pitchFamily="34" charset="-122"/>
                <a:cs typeface="Calibri" pitchFamily="34" charset="-120"/>
              </a:rPr>
              <a:t>Her buyer opens it, sees KES 20,104 in fees, and pays KES 670,104 by M-Pesa.</a:t>
            </a:r>
            <a:endParaRPr lang="en-US" sz="1200" dirty="0"/>
          </a:p>
        </p:txBody>
      </p:sp>
      <p:sp>
        <p:nvSpPr>
          <p:cNvPr id="10" name="Shape 8"/>
          <p:cNvSpPr/>
          <p:nvPr/>
        </p:nvSpPr>
        <p:spPr>
          <a:xfrm>
            <a:off x="1536192" y="2825496"/>
            <a:ext cx="146304" cy="146304"/>
          </a:xfrm>
          <a:prstGeom prst="ellipse">
            <a:avLst/>
          </a:prstGeom>
          <a:solidFill>
            <a:srgbClr val="3ECFA0"/>
          </a:solidFill>
          <a:ln w="12700">
            <a:solidFill>
              <a:srgbClr val="3ECFA0"/>
            </a:solidFill>
            <a:prstDash val="solid"/>
          </a:ln>
        </p:spPr>
      </p:sp>
      <p:sp>
        <p:nvSpPr>
          <p:cNvPr id="11" name="Text 9"/>
          <p:cNvSpPr txBox="1"/>
          <p:nvPr/>
        </p:nvSpPr>
        <p:spPr>
          <a:xfrm>
            <a:off x="457200" y="2761488"/>
            <a:ext cx="960120" cy="274320"/>
          </a:xfrm>
          <a:prstGeom prst="rect">
            <a:avLst/>
          </a:prstGeom>
          <a:noFill/>
          <a:ln/>
        </p:spPr>
        <p:txBody>
          <a:bodyPr wrap="square" lIns="0" tIns="0" rIns="0" bIns="0" rtlCol="0" anchor="t"/>
          <a:lstStyle/>
          <a:p>
            <a:pPr algn="r" indent="0" marL="0">
              <a:lnSpc>
                <a:spcPct val="105000"/>
              </a:lnSpc>
              <a:buNone/>
            </a:pPr>
            <a:r>
              <a:rPr lang="en-US" sz="1300" b="1" dirty="0">
                <a:solidFill>
                  <a:srgbClr val="3ECFA0"/>
                </a:solidFill>
                <a:latin typeface="Calibri" pitchFamily="34" charset="0"/>
                <a:ea typeface="Calibri" pitchFamily="34" charset="-122"/>
                <a:cs typeface="Calibri" pitchFamily="34" charset="-120"/>
              </a:rPr>
              <a:t>9:41</a:t>
            </a:r>
            <a:endParaRPr lang="en-US" sz="1300" dirty="0"/>
          </a:p>
        </p:txBody>
      </p:sp>
      <p:sp>
        <p:nvSpPr>
          <p:cNvPr id="12" name="Text 10"/>
          <p:cNvSpPr txBox="1"/>
          <p:nvPr/>
        </p:nvSpPr>
        <p:spPr>
          <a:xfrm>
            <a:off x="1828800" y="2761488"/>
            <a:ext cx="3657600" cy="548640"/>
          </a:xfrm>
          <a:prstGeom prst="rect">
            <a:avLst/>
          </a:prstGeom>
          <a:noFill/>
          <a:ln/>
        </p:spPr>
        <p:txBody>
          <a:bodyPr wrap="square" lIns="0" tIns="0" rIns="0" bIns="0" rtlCol="0" anchor="t"/>
          <a:lstStyle/>
          <a:p>
            <a:pPr algn="l" indent="0" marL="0">
              <a:lnSpc>
                <a:spcPct val="105000"/>
              </a:lnSpc>
              <a:buNone/>
            </a:pPr>
            <a:r>
              <a:rPr lang="en-US" sz="1200" dirty="0">
                <a:solidFill>
                  <a:srgbClr val="F2F7F4"/>
                </a:solidFill>
                <a:latin typeface="Calibri" pitchFamily="34" charset="0"/>
                <a:ea typeface="Calibri" pitchFamily="34" charset="-122"/>
                <a:cs typeface="Calibri" pitchFamily="34" charset="-120"/>
              </a:rPr>
              <a:t>Payaza confirms. Meridian’s checks pass. Timeline shows “Paid”.</a:t>
            </a:r>
            <a:endParaRPr lang="en-US" sz="1200" dirty="0"/>
          </a:p>
        </p:txBody>
      </p:sp>
      <p:sp>
        <p:nvSpPr>
          <p:cNvPr id="13" name="Shape 11"/>
          <p:cNvSpPr/>
          <p:nvPr/>
        </p:nvSpPr>
        <p:spPr>
          <a:xfrm>
            <a:off x="1536192" y="3483864"/>
            <a:ext cx="146304" cy="146304"/>
          </a:xfrm>
          <a:prstGeom prst="ellipse">
            <a:avLst/>
          </a:prstGeom>
          <a:solidFill>
            <a:srgbClr val="3ECFA0"/>
          </a:solidFill>
          <a:ln w="12700">
            <a:solidFill>
              <a:srgbClr val="3ECFA0"/>
            </a:solidFill>
            <a:prstDash val="solid"/>
          </a:ln>
        </p:spPr>
      </p:sp>
      <p:sp>
        <p:nvSpPr>
          <p:cNvPr id="14" name="Text 12"/>
          <p:cNvSpPr txBox="1"/>
          <p:nvPr/>
        </p:nvSpPr>
        <p:spPr>
          <a:xfrm>
            <a:off x="457200" y="3419856"/>
            <a:ext cx="960120" cy="274320"/>
          </a:xfrm>
          <a:prstGeom prst="rect">
            <a:avLst/>
          </a:prstGeom>
          <a:noFill/>
          <a:ln/>
        </p:spPr>
        <p:txBody>
          <a:bodyPr wrap="square" lIns="0" tIns="0" rIns="0" bIns="0" rtlCol="0" anchor="t"/>
          <a:lstStyle/>
          <a:p>
            <a:pPr algn="r" indent="0" marL="0">
              <a:lnSpc>
                <a:spcPct val="105000"/>
              </a:lnSpc>
              <a:buNone/>
            </a:pPr>
            <a:r>
              <a:rPr lang="en-US" sz="1300" b="1" dirty="0">
                <a:solidFill>
                  <a:srgbClr val="3ECFA0"/>
                </a:solidFill>
                <a:latin typeface="Calibri" pitchFamily="34" charset="0"/>
                <a:ea typeface="Calibri" pitchFamily="34" charset="-122"/>
                <a:cs typeface="Calibri" pitchFamily="34" charset="-120"/>
              </a:rPr>
              <a:t>Same day</a:t>
            </a:r>
            <a:endParaRPr lang="en-US" sz="1300" dirty="0"/>
          </a:p>
        </p:txBody>
      </p:sp>
      <p:sp>
        <p:nvSpPr>
          <p:cNvPr id="15" name="Text 13"/>
          <p:cNvSpPr txBox="1"/>
          <p:nvPr/>
        </p:nvSpPr>
        <p:spPr>
          <a:xfrm>
            <a:off x="1828800" y="3419856"/>
            <a:ext cx="3657600" cy="548640"/>
          </a:xfrm>
          <a:prstGeom prst="rect">
            <a:avLst/>
          </a:prstGeom>
          <a:noFill/>
          <a:ln/>
        </p:spPr>
        <p:txBody>
          <a:bodyPr wrap="square" lIns="0" tIns="0" rIns="0" bIns="0" rtlCol="0" anchor="t"/>
          <a:lstStyle/>
          <a:p>
            <a:pPr algn="l" indent="0" marL="0">
              <a:lnSpc>
                <a:spcPct val="105000"/>
              </a:lnSpc>
              <a:buNone/>
            </a:pPr>
            <a:r>
              <a:rPr lang="en-US" sz="1200" dirty="0">
                <a:solidFill>
                  <a:srgbClr val="F2F7F4"/>
                </a:solidFill>
                <a:latin typeface="Calibri" pitchFamily="34" charset="0"/>
                <a:ea typeface="Calibri" pitchFamily="34" charset="-122"/>
                <a:cs typeface="Calibri" pitchFamily="34" charset="-120"/>
              </a:rPr>
              <a:t>Ann’s M-Pesa receives KES 650,000, exactly what she invoiced.</a:t>
            </a:r>
            <a:endParaRPr lang="en-US" sz="1200" dirty="0"/>
          </a:p>
        </p:txBody>
      </p:sp>
      <p:sp>
        <p:nvSpPr>
          <p:cNvPr id="16" name="Shape 14"/>
          <p:cNvSpPr/>
          <p:nvPr/>
        </p:nvSpPr>
        <p:spPr>
          <a:xfrm>
            <a:off x="1609344" y="1600200"/>
            <a:ext cx="0" cy="2011680"/>
          </a:xfrm>
          <a:prstGeom prst="line">
            <a:avLst/>
          </a:prstGeom>
          <a:noFill/>
          <a:ln w="19050">
            <a:solidFill>
              <a:srgbClr val="1E403D"/>
            </a:solidFill>
            <a:prstDash val="solid"/>
          </a:ln>
        </p:spPr>
      </p:sp>
      <p:sp>
        <p:nvSpPr>
          <p:cNvPr id="17" name="Shape 15"/>
          <p:cNvSpPr/>
          <p:nvPr/>
        </p:nvSpPr>
        <p:spPr>
          <a:xfrm>
            <a:off x="5760720" y="1417320"/>
            <a:ext cx="2926080" cy="2743200"/>
          </a:xfrm>
          <a:prstGeom prst="roundRect">
            <a:avLst>
              <a:gd name="adj" fmla="val 2667"/>
            </a:avLst>
          </a:prstGeom>
          <a:solidFill>
            <a:srgbClr val="173432"/>
          </a:solidFill>
          <a:ln w="12700">
            <a:solidFill>
              <a:srgbClr val="173432"/>
            </a:solidFill>
            <a:prstDash val="solid"/>
          </a:ln>
        </p:spPr>
      </p:sp>
      <p:sp>
        <p:nvSpPr>
          <p:cNvPr id="18" name="Text 16"/>
          <p:cNvSpPr txBox="1"/>
          <p:nvPr/>
        </p:nvSpPr>
        <p:spPr>
          <a:xfrm>
            <a:off x="5943600" y="1572768"/>
            <a:ext cx="2560320" cy="228600"/>
          </a:xfrm>
          <a:prstGeom prst="rect">
            <a:avLst/>
          </a:prstGeom>
          <a:noFill/>
          <a:ln/>
        </p:spPr>
        <p:txBody>
          <a:bodyPr wrap="square" lIns="0" tIns="0" rIns="0" bIns="0" rtlCol="0" anchor="t"/>
          <a:lstStyle/>
          <a:p>
            <a:pPr algn="l" indent="0" marL="0">
              <a:lnSpc>
                <a:spcPct val="105000"/>
              </a:lnSpc>
              <a:buNone/>
            </a:pPr>
            <a:r>
              <a:rPr lang="en-US" sz="800" b="1" dirty="0">
                <a:solidFill>
                  <a:srgbClr val="E5C158"/>
                </a:solidFill>
                <a:latin typeface="Calibri" pitchFamily="34" charset="0"/>
                <a:ea typeface="Calibri" pitchFamily="34" charset="-122"/>
                <a:cs typeface="Calibri" pitchFamily="34" charset="-120"/>
              </a:rPr>
              <a:t>TODAY vs WITH MERIDIAN</a:t>
            </a:r>
            <a:endParaRPr lang="en-US" sz="800" dirty="0"/>
          </a:p>
        </p:txBody>
      </p:sp>
      <p:sp>
        <p:nvSpPr>
          <p:cNvPr id="19" name="Text 17"/>
          <p:cNvSpPr txBox="1"/>
          <p:nvPr/>
        </p:nvSpPr>
        <p:spPr>
          <a:xfrm>
            <a:off x="5943600" y="1920240"/>
            <a:ext cx="960120" cy="457200"/>
          </a:xfrm>
          <a:prstGeom prst="rect">
            <a:avLst/>
          </a:prstGeom>
          <a:noFill/>
          <a:ln/>
        </p:spPr>
        <p:txBody>
          <a:bodyPr wrap="square" lIns="0" tIns="0" rIns="0" bIns="0" rtlCol="0" anchor="t"/>
          <a:lstStyle/>
          <a:p>
            <a:pPr algn="l" indent="0" marL="0">
              <a:lnSpc>
                <a:spcPct val="105000"/>
              </a:lnSpc>
              <a:buNone/>
            </a:pPr>
            <a:r>
              <a:rPr lang="en-US" sz="1000" dirty="0">
                <a:solidFill>
                  <a:srgbClr val="9FB8B2"/>
                </a:solidFill>
                <a:latin typeface="Calibri" pitchFamily="34" charset="0"/>
                <a:ea typeface="Calibri" pitchFamily="34" charset="-122"/>
                <a:cs typeface="Calibri" pitchFamily="34" charset="-120"/>
              </a:rPr>
              <a:t>Money lands</a:t>
            </a:r>
            <a:endParaRPr lang="en-US" sz="1000" dirty="0"/>
          </a:p>
        </p:txBody>
      </p:sp>
      <p:sp>
        <p:nvSpPr>
          <p:cNvPr id="20" name="Text 18"/>
          <p:cNvSpPr txBox="1"/>
          <p:nvPr/>
        </p:nvSpPr>
        <p:spPr>
          <a:xfrm>
            <a:off x="6903720" y="1920240"/>
            <a:ext cx="777240" cy="457200"/>
          </a:xfrm>
          <a:prstGeom prst="rect">
            <a:avLst/>
          </a:prstGeom>
          <a:noFill/>
          <a:ln/>
        </p:spPr>
        <p:txBody>
          <a:bodyPr wrap="square" lIns="0" tIns="0" rIns="0" bIns="0" rtlCol="0" anchor="t"/>
          <a:lstStyle/>
          <a:p>
            <a:pPr algn="l" indent="0" marL="0">
              <a:lnSpc>
                <a:spcPct val="105000"/>
              </a:lnSpc>
              <a:buNone/>
            </a:pPr>
            <a:r>
              <a:rPr lang="en-US" sz="1000" dirty="0">
                <a:solidFill>
                  <a:srgbClr val="E58A7A"/>
                </a:solidFill>
                <a:latin typeface="Calibri" pitchFamily="34" charset="0"/>
                <a:ea typeface="Calibri" pitchFamily="34" charset="-122"/>
                <a:cs typeface="Calibri" pitchFamily="34" charset="-120"/>
              </a:rPr>
              <a:t>1–3 days</a:t>
            </a:r>
            <a:endParaRPr lang="en-US" sz="1000" dirty="0"/>
          </a:p>
        </p:txBody>
      </p:sp>
      <p:sp>
        <p:nvSpPr>
          <p:cNvPr id="21" name="Text 19"/>
          <p:cNvSpPr txBox="1"/>
          <p:nvPr/>
        </p:nvSpPr>
        <p:spPr>
          <a:xfrm>
            <a:off x="7680960" y="1920240"/>
            <a:ext cx="914400" cy="457200"/>
          </a:xfrm>
          <a:prstGeom prst="rect">
            <a:avLst/>
          </a:prstGeom>
          <a:noFill/>
          <a:ln/>
        </p:spPr>
        <p:txBody>
          <a:bodyPr wrap="square" lIns="0" tIns="0" rIns="0" bIns="0" rtlCol="0" anchor="t"/>
          <a:lstStyle/>
          <a:p>
            <a:pPr algn="l" indent="0" marL="0">
              <a:lnSpc>
                <a:spcPct val="105000"/>
              </a:lnSpc>
              <a:buNone/>
            </a:pPr>
            <a:r>
              <a:rPr lang="en-US" sz="1000" b="1" dirty="0">
                <a:solidFill>
                  <a:srgbClr val="3ECFA0"/>
                </a:solidFill>
                <a:latin typeface="Calibri" pitchFamily="34" charset="0"/>
                <a:ea typeface="Calibri" pitchFamily="34" charset="-122"/>
                <a:cs typeface="Calibri" pitchFamily="34" charset="-120"/>
              </a:rPr>
              <a:t>Same day</a:t>
            </a:r>
            <a:endParaRPr lang="en-US" sz="1000" dirty="0"/>
          </a:p>
        </p:txBody>
      </p:sp>
      <p:sp>
        <p:nvSpPr>
          <p:cNvPr id="22" name="Text 20"/>
          <p:cNvSpPr txBox="1"/>
          <p:nvPr/>
        </p:nvSpPr>
        <p:spPr>
          <a:xfrm>
            <a:off x="5943600" y="2450592"/>
            <a:ext cx="960120" cy="457200"/>
          </a:xfrm>
          <a:prstGeom prst="rect">
            <a:avLst/>
          </a:prstGeom>
          <a:noFill/>
          <a:ln/>
        </p:spPr>
        <p:txBody>
          <a:bodyPr wrap="square" lIns="0" tIns="0" rIns="0" bIns="0" rtlCol="0" anchor="t"/>
          <a:lstStyle/>
          <a:p>
            <a:pPr algn="l" indent="0" marL="0">
              <a:lnSpc>
                <a:spcPct val="105000"/>
              </a:lnSpc>
              <a:buNone/>
            </a:pPr>
            <a:r>
              <a:rPr lang="en-US" sz="1000" dirty="0">
                <a:solidFill>
                  <a:srgbClr val="9FB8B2"/>
                </a:solidFill>
                <a:latin typeface="Calibri" pitchFamily="34" charset="0"/>
                <a:ea typeface="Calibri" pitchFamily="34" charset="-122"/>
                <a:cs typeface="Calibri" pitchFamily="34" charset="-120"/>
              </a:rPr>
              <a:t>Fees</a:t>
            </a:r>
            <a:endParaRPr lang="en-US" sz="1000" dirty="0"/>
          </a:p>
        </p:txBody>
      </p:sp>
      <p:sp>
        <p:nvSpPr>
          <p:cNvPr id="23" name="Text 21"/>
          <p:cNvSpPr txBox="1"/>
          <p:nvPr/>
        </p:nvSpPr>
        <p:spPr>
          <a:xfrm>
            <a:off x="6903720" y="2450592"/>
            <a:ext cx="777240" cy="457200"/>
          </a:xfrm>
          <a:prstGeom prst="rect">
            <a:avLst/>
          </a:prstGeom>
          <a:noFill/>
          <a:ln/>
        </p:spPr>
        <p:txBody>
          <a:bodyPr wrap="square" lIns="0" tIns="0" rIns="0" bIns="0" rtlCol="0" anchor="t"/>
          <a:lstStyle/>
          <a:p>
            <a:pPr algn="l" indent="0" marL="0">
              <a:lnSpc>
                <a:spcPct val="105000"/>
              </a:lnSpc>
              <a:buNone/>
            </a:pPr>
            <a:r>
              <a:rPr lang="en-US" sz="1000" dirty="0">
                <a:solidFill>
                  <a:srgbClr val="E58A7A"/>
                </a:solidFill>
                <a:latin typeface="Calibri" pitchFamily="34" charset="0"/>
                <a:ea typeface="Calibri" pitchFamily="34" charset="-122"/>
                <a:cs typeface="Calibri" pitchFamily="34" charset="-120"/>
              </a:rPr>
              <a:t>Off Ann’s money</a:t>
            </a:r>
            <a:endParaRPr lang="en-US" sz="1000" dirty="0"/>
          </a:p>
        </p:txBody>
      </p:sp>
      <p:sp>
        <p:nvSpPr>
          <p:cNvPr id="24" name="Text 22"/>
          <p:cNvSpPr txBox="1"/>
          <p:nvPr/>
        </p:nvSpPr>
        <p:spPr>
          <a:xfrm>
            <a:off x="7680960" y="2450592"/>
            <a:ext cx="914400" cy="457200"/>
          </a:xfrm>
          <a:prstGeom prst="rect">
            <a:avLst/>
          </a:prstGeom>
          <a:noFill/>
          <a:ln/>
        </p:spPr>
        <p:txBody>
          <a:bodyPr wrap="square" lIns="0" tIns="0" rIns="0" bIns="0" rtlCol="0" anchor="t"/>
          <a:lstStyle/>
          <a:p>
            <a:pPr algn="l" indent="0" marL="0">
              <a:lnSpc>
                <a:spcPct val="105000"/>
              </a:lnSpc>
              <a:buNone/>
            </a:pPr>
            <a:r>
              <a:rPr lang="en-US" sz="1000" b="1" dirty="0">
                <a:solidFill>
                  <a:srgbClr val="3ECFA0"/>
                </a:solidFill>
                <a:latin typeface="Calibri" pitchFamily="34" charset="0"/>
                <a:ea typeface="Calibri" pitchFamily="34" charset="-122"/>
                <a:cs typeface="Calibri" pitchFamily="34" charset="-120"/>
              </a:rPr>
              <a:t>Paid by buyer</a:t>
            </a:r>
            <a:endParaRPr lang="en-US" sz="1000" dirty="0"/>
          </a:p>
        </p:txBody>
      </p:sp>
      <p:sp>
        <p:nvSpPr>
          <p:cNvPr id="25" name="Text 23"/>
          <p:cNvSpPr txBox="1"/>
          <p:nvPr/>
        </p:nvSpPr>
        <p:spPr>
          <a:xfrm>
            <a:off x="5943600" y="2980944"/>
            <a:ext cx="960120" cy="457200"/>
          </a:xfrm>
          <a:prstGeom prst="rect">
            <a:avLst/>
          </a:prstGeom>
          <a:noFill/>
          <a:ln/>
        </p:spPr>
        <p:txBody>
          <a:bodyPr wrap="square" lIns="0" tIns="0" rIns="0" bIns="0" rtlCol="0" anchor="t"/>
          <a:lstStyle/>
          <a:p>
            <a:pPr algn="l" indent="0" marL="0">
              <a:lnSpc>
                <a:spcPct val="105000"/>
              </a:lnSpc>
              <a:buNone/>
            </a:pPr>
            <a:r>
              <a:rPr lang="en-US" sz="1000" dirty="0">
                <a:solidFill>
                  <a:srgbClr val="9FB8B2"/>
                </a:solidFill>
                <a:latin typeface="Calibri" pitchFamily="34" charset="0"/>
                <a:ea typeface="Calibri" pitchFamily="34" charset="-122"/>
                <a:cs typeface="Calibri" pitchFamily="34" charset="-120"/>
              </a:rPr>
              <a:t>Buyer pays by</a:t>
            </a:r>
            <a:endParaRPr lang="en-US" sz="1000" dirty="0"/>
          </a:p>
        </p:txBody>
      </p:sp>
      <p:sp>
        <p:nvSpPr>
          <p:cNvPr id="26" name="Text 24"/>
          <p:cNvSpPr txBox="1"/>
          <p:nvPr/>
        </p:nvSpPr>
        <p:spPr>
          <a:xfrm>
            <a:off x="6903720" y="2980944"/>
            <a:ext cx="777240" cy="457200"/>
          </a:xfrm>
          <a:prstGeom prst="rect">
            <a:avLst/>
          </a:prstGeom>
          <a:noFill/>
          <a:ln/>
        </p:spPr>
        <p:txBody>
          <a:bodyPr wrap="square" lIns="0" tIns="0" rIns="0" bIns="0" rtlCol="0" anchor="t"/>
          <a:lstStyle/>
          <a:p>
            <a:pPr algn="l" indent="0" marL="0">
              <a:lnSpc>
                <a:spcPct val="105000"/>
              </a:lnSpc>
              <a:buNone/>
            </a:pPr>
            <a:r>
              <a:rPr lang="en-US" sz="1000" dirty="0">
                <a:solidFill>
                  <a:srgbClr val="E58A7A"/>
                </a:solidFill>
                <a:latin typeface="Calibri" pitchFamily="34" charset="0"/>
                <a:ea typeface="Calibri" pitchFamily="34" charset="-122"/>
                <a:cs typeface="Calibri" pitchFamily="34" charset="-120"/>
              </a:rPr>
              <a:t>Bank wire</a:t>
            </a:r>
            <a:endParaRPr lang="en-US" sz="1000" dirty="0"/>
          </a:p>
        </p:txBody>
      </p:sp>
      <p:sp>
        <p:nvSpPr>
          <p:cNvPr id="27" name="Text 25"/>
          <p:cNvSpPr txBox="1"/>
          <p:nvPr/>
        </p:nvSpPr>
        <p:spPr>
          <a:xfrm>
            <a:off x="7680960" y="2980944"/>
            <a:ext cx="914400" cy="457200"/>
          </a:xfrm>
          <a:prstGeom prst="rect">
            <a:avLst/>
          </a:prstGeom>
          <a:noFill/>
          <a:ln/>
        </p:spPr>
        <p:txBody>
          <a:bodyPr wrap="square" lIns="0" tIns="0" rIns="0" bIns="0" rtlCol="0" anchor="t"/>
          <a:lstStyle/>
          <a:p>
            <a:pPr algn="l" indent="0" marL="0">
              <a:lnSpc>
                <a:spcPct val="105000"/>
              </a:lnSpc>
              <a:buNone/>
            </a:pPr>
            <a:r>
              <a:rPr lang="en-US" sz="1000" b="1" dirty="0">
                <a:solidFill>
                  <a:srgbClr val="3ECFA0"/>
                </a:solidFill>
                <a:latin typeface="Calibri" pitchFamily="34" charset="0"/>
                <a:ea typeface="Calibri" pitchFamily="34" charset="-122"/>
                <a:cs typeface="Calibri" pitchFamily="34" charset="-120"/>
              </a:rPr>
              <a:t>M-Pesa, MoMo, card</a:t>
            </a:r>
            <a:endParaRPr lang="en-US" sz="1000" dirty="0"/>
          </a:p>
        </p:txBody>
      </p:sp>
      <p:sp>
        <p:nvSpPr>
          <p:cNvPr id="28" name="Text 26"/>
          <p:cNvSpPr txBox="1"/>
          <p:nvPr/>
        </p:nvSpPr>
        <p:spPr>
          <a:xfrm>
            <a:off x="5943600" y="3511296"/>
            <a:ext cx="960120" cy="457200"/>
          </a:xfrm>
          <a:prstGeom prst="rect">
            <a:avLst/>
          </a:prstGeom>
          <a:noFill/>
          <a:ln/>
        </p:spPr>
        <p:txBody>
          <a:bodyPr wrap="square" lIns="0" tIns="0" rIns="0" bIns="0" rtlCol="0" anchor="t"/>
          <a:lstStyle/>
          <a:p>
            <a:pPr algn="l" indent="0" marL="0">
              <a:lnSpc>
                <a:spcPct val="105000"/>
              </a:lnSpc>
              <a:buNone/>
            </a:pPr>
            <a:r>
              <a:rPr lang="en-US" sz="1000" dirty="0">
                <a:solidFill>
                  <a:srgbClr val="9FB8B2"/>
                </a:solidFill>
                <a:latin typeface="Calibri" pitchFamily="34" charset="0"/>
                <a:ea typeface="Calibri" pitchFamily="34" charset="-122"/>
                <a:cs typeface="Calibri" pitchFamily="34" charset="-120"/>
              </a:rPr>
              <a:t>Tracking</a:t>
            </a:r>
            <a:endParaRPr lang="en-US" sz="1000" dirty="0"/>
          </a:p>
        </p:txBody>
      </p:sp>
      <p:sp>
        <p:nvSpPr>
          <p:cNvPr id="29" name="Text 27"/>
          <p:cNvSpPr txBox="1"/>
          <p:nvPr/>
        </p:nvSpPr>
        <p:spPr>
          <a:xfrm>
            <a:off x="6903720" y="3511296"/>
            <a:ext cx="777240" cy="457200"/>
          </a:xfrm>
          <a:prstGeom prst="rect">
            <a:avLst/>
          </a:prstGeom>
          <a:noFill/>
          <a:ln/>
        </p:spPr>
        <p:txBody>
          <a:bodyPr wrap="square" lIns="0" tIns="0" rIns="0" bIns="0" rtlCol="0" anchor="t"/>
          <a:lstStyle/>
          <a:p>
            <a:pPr algn="l" indent="0" marL="0">
              <a:lnSpc>
                <a:spcPct val="105000"/>
              </a:lnSpc>
              <a:buNone/>
            </a:pPr>
            <a:r>
              <a:rPr lang="en-US" sz="1000" dirty="0">
                <a:solidFill>
                  <a:srgbClr val="E58A7A"/>
                </a:solidFill>
                <a:latin typeface="Calibri" pitchFamily="34" charset="0"/>
                <a:ea typeface="Calibri" pitchFamily="34" charset="-122"/>
                <a:cs typeface="Calibri" pitchFamily="34" charset="-120"/>
              </a:rPr>
              <a:t>Call the bank</a:t>
            </a:r>
            <a:endParaRPr lang="en-US" sz="1000" dirty="0"/>
          </a:p>
        </p:txBody>
      </p:sp>
      <p:sp>
        <p:nvSpPr>
          <p:cNvPr id="30" name="Text 28"/>
          <p:cNvSpPr txBox="1"/>
          <p:nvPr/>
        </p:nvSpPr>
        <p:spPr>
          <a:xfrm>
            <a:off x="7680960" y="3511296"/>
            <a:ext cx="914400" cy="457200"/>
          </a:xfrm>
          <a:prstGeom prst="rect">
            <a:avLst/>
          </a:prstGeom>
          <a:noFill/>
          <a:ln/>
        </p:spPr>
        <p:txBody>
          <a:bodyPr wrap="square" lIns="0" tIns="0" rIns="0" bIns="0" rtlCol="0" anchor="t"/>
          <a:lstStyle/>
          <a:p>
            <a:pPr algn="l" indent="0" marL="0">
              <a:lnSpc>
                <a:spcPct val="105000"/>
              </a:lnSpc>
              <a:buNone/>
            </a:pPr>
            <a:r>
              <a:rPr lang="en-US" sz="1000" b="1" dirty="0">
                <a:solidFill>
                  <a:srgbClr val="3ECFA0"/>
                </a:solidFill>
                <a:latin typeface="Calibri" pitchFamily="34" charset="0"/>
                <a:ea typeface="Calibri" pitchFamily="34" charset="-122"/>
                <a:cs typeface="Calibri" pitchFamily="34" charset="-120"/>
              </a:rPr>
              <a:t>Live timeline</a:t>
            </a:r>
            <a:endParaRPr lang="en-US" sz="1000" dirty="0"/>
          </a:p>
        </p:txBody>
      </p:sp>
      <p:sp>
        <p:nvSpPr>
          <p:cNvPr id="31" name="Text 29"/>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32" name="Text 30"/>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Ready to pilot</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Real users are waiting. The collection flow is built.</a:t>
            </a:r>
            <a:endParaRPr lang="en-US" sz="1400" dirty="0"/>
          </a:p>
        </p:txBody>
      </p:sp>
      <p:sp>
        <p:nvSpPr>
          <p:cNvPr id="4" name="Shape 2"/>
          <p:cNvSpPr/>
          <p:nvPr/>
        </p:nvSpPr>
        <p:spPr>
          <a:xfrm>
            <a:off x="457200" y="1417320"/>
            <a:ext cx="2606040" cy="2926080"/>
          </a:xfrm>
          <a:prstGeom prst="roundRect">
            <a:avLst>
              <a:gd name="adj" fmla="val 2807"/>
            </a:avLst>
          </a:prstGeom>
          <a:solidFill>
            <a:srgbClr val="173432"/>
          </a:solidFill>
          <a:ln w="12700">
            <a:solidFill>
              <a:srgbClr val="173432"/>
            </a:solidFill>
            <a:prstDash val="solid"/>
          </a:ln>
        </p:spPr>
      </p:sp>
      <p:sp>
        <p:nvSpPr>
          <p:cNvPr id="5" name="Shape 3"/>
          <p:cNvSpPr/>
          <p:nvPr/>
        </p:nvSpPr>
        <p:spPr>
          <a:xfrm>
            <a:off x="640080" y="1572768"/>
            <a:ext cx="411480" cy="411480"/>
          </a:xfrm>
          <a:prstGeom prst="ellipse">
            <a:avLst/>
          </a:prstGeom>
          <a:solidFill>
            <a:srgbClr val="3ECFA0"/>
          </a:solidFill>
          <a:ln w="12700">
            <a:solidFill>
              <a:srgbClr val="3ECFA0"/>
            </a:solidFill>
            <a:prstDash val="solid"/>
          </a:ln>
        </p:spPr>
      </p:sp>
      <p:pic>
        <p:nvPicPr>
          <p:cNvPr id="6" name="Image 0" descr="preencoded.png">    </p:cNvPr>
          <p:cNvPicPr>
            <a:picLocks noChangeAspect="1"/>
          </p:cNvPicPr>
          <p:nvPr/>
        </p:nvPicPr>
        <p:blipFill>
          <a:blip r:embed="rId1"/>
          <a:stretch>
            <a:fillRect/>
          </a:stretch>
        </p:blipFill>
        <p:spPr>
          <a:xfrm>
            <a:off x="738835" y="1671523"/>
            <a:ext cx="213970" cy="213970"/>
          </a:xfrm>
          <a:prstGeom prst="rect">
            <a:avLst/>
          </a:prstGeom>
        </p:spPr>
      </p:pic>
      <p:sp>
        <p:nvSpPr>
          <p:cNvPr id="7" name="Text 4"/>
          <p:cNvSpPr txBox="1"/>
          <p:nvPr/>
        </p:nvSpPr>
        <p:spPr>
          <a:xfrm>
            <a:off x="1170432" y="1572768"/>
            <a:ext cx="1783080" cy="411480"/>
          </a:xfrm>
          <a:prstGeom prst="rect">
            <a:avLst/>
          </a:prstGeom>
          <a:noFill/>
          <a:ln/>
        </p:spPr>
        <p:txBody>
          <a:bodyPr wrap="square" lIns="0" tIns="0" rIns="0" bIns="0" rtlCol="0" anchor="ctr"/>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First users lined up</a:t>
            </a:r>
            <a:endParaRPr lang="en-US" sz="1300" dirty="0"/>
          </a:p>
        </p:txBody>
      </p:sp>
      <p:sp>
        <p:nvSpPr>
          <p:cNvPr id="8" name="Text 5"/>
          <p:cNvSpPr txBox="1"/>
          <p:nvPr/>
        </p:nvSpPr>
        <p:spPr>
          <a:xfrm>
            <a:off x="640080" y="2148840"/>
            <a:ext cx="2240280" cy="2103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Chris, avocado exporter</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Ann, flower exporter</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A second flower exporter via a referral</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SMEs Chamber of Kenya members, via Chris</a:t>
            </a:r>
            <a:endParaRPr lang="en-US" sz="1150" dirty="0"/>
          </a:p>
        </p:txBody>
      </p:sp>
      <p:sp>
        <p:nvSpPr>
          <p:cNvPr id="9" name="Shape 6"/>
          <p:cNvSpPr/>
          <p:nvPr/>
        </p:nvSpPr>
        <p:spPr>
          <a:xfrm>
            <a:off x="3268980" y="1417320"/>
            <a:ext cx="2606040" cy="2926080"/>
          </a:xfrm>
          <a:prstGeom prst="roundRect">
            <a:avLst>
              <a:gd name="adj" fmla="val 2807"/>
            </a:avLst>
          </a:prstGeom>
          <a:solidFill>
            <a:srgbClr val="173432"/>
          </a:solidFill>
          <a:ln w="12700">
            <a:solidFill>
              <a:srgbClr val="173432"/>
            </a:solidFill>
            <a:prstDash val="solid"/>
          </a:ln>
        </p:spPr>
      </p:sp>
      <p:sp>
        <p:nvSpPr>
          <p:cNvPr id="10" name="Shape 7"/>
          <p:cNvSpPr/>
          <p:nvPr/>
        </p:nvSpPr>
        <p:spPr>
          <a:xfrm>
            <a:off x="3451860" y="1572768"/>
            <a:ext cx="411480" cy="411480"/>
          </a:xfrm>
          <a:prstGeom prst="ellipse">
            <a:avLst/>
          </a:prstGeom>
          <a:solidFill>
            <a:srgbClr val="3ECFA0"/>
          </a:solidFill>
          <a:ln w="12700">
            <a:solidFill>
              <a:srgbClr val="3ECFA0"/>
            </a:solidFill>
            <a:prstDash val="solid"/>
          </a:ln>
        </p:spPr>
      </p:sp>
      <p:pic>
        <p:nvPicPr>
          <p:cNvPr id="11" name="Image 1" descr="preencoded.png">    </p:cNvPr>
          <p:cNvPicPr>
            <a:picLocks noChangeAspect="1"/>
          </p:cNvPicPr>
          <p:nvPr/>
        </p:nvPicPr>
        <p:blipFill>
          <a:blip r:embed="rId2"/>
          <a:stretch>
            <a:fillRect/>
          </a:stretch>
        </p:blipFill>
        <p:spPr>
          <a:xfrm>
            <a:off x="3550615" y="1671523"/>
            <a:ext cx="213970" cy="213970"/>
          </a:xfrm>
          <a:prstGeom prst="rect">
            <a:avLst/>
          </a:prstGeom>
        </p:spPr>
      </p:pic>
      <p:sp>
        <p:nvSpPr>
          <p:cNvPr id="12" name="Text 8"/>
          <p:cNvSpPr txBox="1"/>
          <p:nvPr/>
        </p:nvSpPr>
        <p:spPr>
          <a:xfrm>
            <a:off x="3982212" y="1572768"/>
            <a:ext cx="1783080" cy="411480"/>
          </a:xfrm>
          <a:prstGeom prst="rect">
            <a:avLst/>
          </a:prstGeom>
          <a:noFill/>
          <a:ln/>
        </p:spPr>
        <p:txBody>
          <a:bodyPr wrap="square" lIns="0" tIns="0" rIns="0" bIns="0" rtlCol="0" anchor="ctr"/>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Built in the hackathon</a:t>
            </a:r>
            <a:endParaRPr lang="en-US" sz="1300" dirty="0"/>
          </a:p>
        </p:txBody>
      </p:sp>
      <p:sp>
        <p:nvSpPr>
          <p:cNvPr id="13" name="Text 9"/>
          <p:cNvSpPr txBox="1"/>
          <p:nvPr/>
        </p:nvSpPr>
        <p:spPr>
          <a:xfrm>
            <a:off x="3451860" y="2148840"/>
            <a:ext cx="2240280" cy="2103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Business sign-up and payout accounts, name-checked</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Payment requests with invoice numbers</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M-Pesa, bank transfer and card via Payaza</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Same-day payouts, timeline, receipts, admin</a:t>
            </a:r>
            <a:endParaRPr lang="en-US" sz="1150" dirty="0"/>
          </a:p>
        </p:txBody>
      </p:sp>
      <p:sp>
        <p:nvSpPr>
          <p:cNvPr id="14" name="Shape 10"/>
          <p:cNvSpPr/>
          <p:nvPr/>
        </p:nvSpPr>
        <p:spPr>
          <a:xfrm>
            <a:off x="6080760" y="1417320"/>
            <a:ext cx="2606040" cy="2926080"/>
          </a:xfrm>
          <a:prstGeom prst="roundRect">
            <a:avLst>
              <a:gd name="adj" fmla="val 2807"/>
            </a:avLst>
          </a:prstGeom>
          <a:solidFill>
            <a:srgbClr val="173432"/>
          </a:solidFill>
          <a:ln w="12700">
            <a:solidFill>
              <a:srgbClr val="173432"/>
            </a:solidFill>
            <a:prstDash val="solid"/>
          </a:ln>
        </p:spPr>
      </p:sp>
      <p:sp>
        <p:nvSpPr>
          <p:cNvPr id="15" name="Shape 11"/>
          <p:cNvSpPr/>
          <p:nvPr/>
        </p:nvSpPr>
        <p:spPr>
          <a:xfrm>
            <a:off x="6263640" y="1572768"/>
            <a:ext cx="411480" cy="411480"/>
          </a:xfrm>
          <a:prstGeom prst="ellipse">
            <a:avLst/>
          </a:prstGeom>
          <a:solidFill>
            <a:srgbClr val="3ECFA0"/>
          </a:solidFill>
          <a:ln w="12700">
            <a:solidFill>
              <a:srgbClr val="3ECFA0"/>
            </a:solidFill>
            <a:prstDash val="solid"/>
          </a:ln>
        </p:spPr>
      </p:sp>
      <p:pic>
        <p:nvPicPr>
          <p:cNvPr id="16" name="Image 2" descr="preencoded.png">    </p:cNvPr>
          <p:cNvPicPr>
            <a:picLocks noChangeAspect="1"/>
          </p:cNvPicPr>
          <p:nvPr/>
        </p:nvPicPr>
        <p:blipFill>
          <a:blip r:embed="rId3"/>
          <a:stretch>
            <a:fillRect/>
          </a:stretch>
        </p:blipFill>
        <p:spPr>
          <a:xfrm>
            <a:off x="6362395" y="1671523"/>
            <a:ext cx="213970" cy="213970"/>
          </a:xfrm>
          <a:prstGeom prst="rect">
            <a:avLst/>
          </a:prstGeom>
        </p:spPr>
      </p:pic>
      <p:sp>
        <p:nvSpPr>
          <p:cNvPr id="17" name="Text 12"/>
          <p:cNvSpPr txBox="1"/>
          <p:nvPr/>
        </p:nvSpPr>
        <p:spPr>
          <a:xfrm>
            <a:off x="6793992" y="1572768"/>
            <a:ext cx="1783080" cy="411480"/>
          </a:xfrm>
          <a:prstGeom prst="rect">
            <a:avLst/>
          </a:prstGeom>
          <a:noFill/>
          <a:ln/>
        </p:spPr>
        <p:txBody>
          <a:bodyPr wrap="square" lIns="0" tIns="0" rIns="0" bIns="0" rtlCol="0" anchor="ctr"/>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The business</a:t>
            </a:r>
            <a:endParaRPr lang="en-US" sz="1300" dirty="0"/>
          </a:p>
        </p:txBody>
      </p:sp>
      <p:sp>
        <p:nvSpPr>
          <p:cNvPr id="18" name="Text 13"/>
          <p:cNvSpPr txBox="1"/>
          <p:nvPr/>
        </p:nvSpPr>
        <p:spPr>
          <a:xfrm>
            <a:off x="6263640" y="2148840"/>
            <a:ext cx="2240280" cy="2103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Flat 1% per collection, paid by the buyer</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Chris alone moves about USD 150k a month</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Next: pay suppliers abroad from the same account</a:t>
            </a:r>
            <a:endParaRPr lang="en-US" sz="1150" dirty="0"/>
          </a:p>
        </p:txBody>
      </p:sp>
      <p:sp>
        <p:nvSpPr>
          <p:cNvPr id="19" name="Text 14"/>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20" name="Text 15"/>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What unlocks the rest</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Two Payaza features turn this into true cross-border collection.</a:t>
            </a:r>
            <a:endParaRPr lang="en-US" sz="1400" dirty="0"/>
          </a:p>
        </p:txBody>
      </p:sp>
      <p:sp>
        <p:nvSpPr>
          <p:cNvPr id="4" name="Shape 2"/>
          <p:cNvSpPr/>
          <p:nvPr/>
        </p:nvSpPr>
        <p:spPr>
          <a:xfrm>
            <a:off x="457200" y="1417320"/>
            <a:ext cx="4023360" cy="1920240"/>
          </a:xfrm>
          <a:prstGeom prst="roundRect">
            <a:avLst>
              <a:gd name="adj" fmla="val 3810"/>
            </a:avLst>
          </a:prstGeom>
          <a:solidFill>
            <a:srgbClr val="173432"/>
          </a:solidFill>
          <a:ln w="12700">
            <a:solidFill>
              <a:srgbClr val="173432"/>
            </a:solidFill>
            <a:prstDash val="solid"/>
          </a:ln>
        </p:spPr>
      </p:sp>
      <p:sp>
        <p:nvSpPr>
          <p:cNvPr id="5" name="Shape 3"/>
          <p:cNvSpPr/>
          <p:nvPr/>
        </p:nvSpPr>
        <p:spPr>
          <a:xfrm>
            <a:off x="685800" y="1600200"/>
            <a:ext cx="457200" cy="457200"/>
          </a:xfrm>
          <a:prstGeom prst="ellipse">
            <a:avLst/>
          </a:prstGeom>
          <a:solidFill>
            <a:srgbClr val="E5C158"/>
          </a:solidFill>
          <a:ln w="12700">
            <a:solidFill>
              <a:srgbClr val="E5C158"/>
            </a:solidFill>
            <a:prstDash val="solid"/>
          </a:ln>
        </p:spPr>
      </p:sp>
      <p:pic>
        <p:nvPicPr>
          <p:cNvPr id="6" name="Image 0" descr="preencoded.png">    </p:cNvPr>
          <p:cNvPicPr>
            <a:picLocks noChangeAspect="1"/>
          </p:cNvPicPr>
          <p:nvPr/>
        </p:nvPicPr>
        <p:blipFill>
          <a:blip r:embed="rId1"/>
          <a:stretch>
            <a:fillRect/>
          </a:stretch>
        </p:blipFill>
        <p:spPr>
          <a:xfrm>
            <a:off x="795528" y="1709928"/>
            <a:ext cx="237744" cy="237744"/>
          </a:xfrm>
          <a:prstGeom prst="rect">
            <a:avLst/>
          </a:prstGeom>
        </p:spPr>
      </p:pic>
      <p:sp>
        <p:nvSpPr>
          <p:cNvPr id="7" name="Text 4"/>
          <p:cNvSpPr txBox="1"/>
          <p:nvPr/>
        </p:nvSpPr>
        <p:spPr>
          <a:xfrm>
            <a:off x="1280160" y="1600200"/>
            <a:ext cx="3017520" cy="457200"/>
          </a:xfrm>
          <a:prstGeom prst="rect">
            <a:avLst/>
          </a:prstGeom>
          <a:noFill/>
          <a:ln/>
        </p:spPr>
        <p:txBody>
          <a:bodyPr wrap="square" lIns="0" tIns="0" rIns="0" bIns="0" rtlCol="0" anchor="ctr"/>
          <a:lstStyle/>
          <a:p>
            <a:pPr algn="l" indent="0" marL="0">
              <a:lnSpc>
                <a:spcPct val="105000"/>
              </a:lnSpc>
              <a:buNone/>
            </a:pPr>
            <a:r>
              <a:rPr lang="en-US" sz="1500" b="1" dirty="0">
                <a:solidFill>
                  <a:srgbClr val="F2F7F4"/>
                </a:solidFill>
                <a:latin typeface="Calibri" pitchFamily="34" charset="0"/>
                <a:ea typeface="Calibri" pitchFamily="34" charset="-122"/>
                <a:cs typeface="Calibri" pitchFamily="34" charset="-120"/>
              </a:rPr>
              <a:t>Currency conversion</a:t>
            </a:r>
            <a:endParaRPr lang="en-US" sz="1500" dirty="0"/>
          </a:p>
        </p:txBody>
      </p:sp>
      <p:sp>
        <p:nvSpPr>
          <p:cNvPr id="8" name="Text 5"/>
          <p:cNvSpPr txBox="1"/>
          <p:nvPr/>
        </p:nvSpPr>
        <p:spPr>
          <a:xfrm>
            <a:off x="685800" y="2240280"/>
            <a:ext cx="3566160" cy="1005840"/>
          </a:xfrm>
          <a:prstGeom prst="rect">
            <a:avLst/>
          </a:prstGeom>
          <a:noFill/>
          <a:ln/>
        </p:spPr>
        <p:txBody>
          <a:bodyPr wrap="square" lIns="0" tIns="0" rIns="0" bIns="0" rtlCol="0" anchor="t"/>
          <a:lstStyle/>
          <a:p>
            <a:pPr algn="l" indent="0" marL="0">
              <a:lnSpc>
                <a:spcPct val="105000"/>
              </a:lnSpc>
              <a:buNone/>
            </a:pPr>
            <a:r>
              <a:rPr lang="en-US" sz="1150" dirty="0">
                <a:solidFill>
                  <a:srgbClr val="9FB8B2"/>
                </a:solidFill>
                <a:latin typeface="Calibri" pitchFamily="34" charset="0"/>
                <a:ea typeface="Calibri" pitchFamily="34" charset="-122"/>
                <a:cs typeface="Calibri" pitchFamily="34" charset="-120"/>
              </a:rPr>
              <a:t>Today a payment pays out only in the currency it was paid in. With conversion, Ann’s buyer in Accra pays in cedis and Ann still receives shillings.</a:t>
            </a:r>
            <a:endParaRPr lang="en-US" sz="1150" dirty="0"/>
          </a:p>
        </p:txBody>
      </p:sp>
      <p:sp>
        <p:nvSpPr>
          <p:cNvPr id="9" name="Shape 6"/>
          <p:cNvSpPr/>
          <p:nvPr/>
        </p:nvSpPr>
        <p:spPr>
          <a:xfrm>
            <a:off x="4663440" y="1417320"/>
            <a:ext cx="4023360" cy="1920240"/>
          </a:xfrm>
          <a:prstGeom prst="roundRect">
            <a:avLst>
              <a:gd name="adj" fmla="val 3810"/>
            </a:avLst>
          </a:prstGeom>
          <a:solidFill>
            <a:srgbClr val="173432"/>
          </a:solidFill>
          <a:ln w="12700">
            <a:solidFill>
              <a:srgbClr val="173432"/>
            </a:solidFill>
            <a:prstDash val="solid"/>
          </a:ln>
        </p:spPr>
      </p:sp>
      <p:sp>
        <p:nvSpPr>
          <p:cNvPr id="10" name="Shape 7"/>
          <p:cNvSpPr/>
          <p:nvPr/>
        </p:nvSpPr>
        <p:spPr>
          <a:xfrm>
            <a:off x="4892040" y="1600200"/>
            <a:ext cx="457200" cy="457200"/>
          </a:xfrm>
          <a:prstGeom prst="ellipse">
            <a:avLst/>
          </a:prstGeom>
          <a:solidFill>
            <a:srgbClr val="E5C158"/>
          </a:solidFill>
          <a:ln w="12700">
            <a:solidFill>
              <a:srgbClr val="E5C158"/>
            </a:solidFill>
            <a:prstDash val="solid"/>
          </a:ln>
        </p:spPr>
      </p:sp>
      <p:pic>
        <p:nvPicPr>
          <p:cNvPr id="11" name="Image 1" descr="preencoded.png">    </p:cNvPr>
          <p:cNvPicPr>
            <a:picLocks noChangeAspect="1"/>
          </p:cNvPicPr>
          <p:nvPr/>
        </p:nvPicPr>
        <p:blipFill>
          <a:blip r:embed="rId2"/>
          <a:stretch>
            <a:fillRect/>
          </a:stretch>
        </p:blipFill>
        <p:spPr>
          <a:xfrm>
            <a:off x="5001768" y="1709928"/>
            <a:ext cx="237744" cy="237744"/>
          </a:xfrm>
          <a:prstGeom prst="rect">
            <a:avLst/>
          </a:prstGeom>
        </p:spPr>
      </p:pic>
      <p:sp>
        <p:nvSpPr>
          <p:cNvPr id="12" name="Text 8"/>
          <p:cNvSpPr txBox="1"/>
          <p:nvPr/>
        </p:nvSpPr>
        <p:spPr>
          <a:xfrm>
            <a:off x="5486400" y="1600200"/>
            <a:ext cx="3017520" cy="457200"/>
          </a:xfrm>
          <a:prstGeom prst="rect">
            <a:avLst/>
          </a:prstGeom>
          <a:noFill/>
          <a:ln/>
        </p:spPr>
        <p:txBody>
          <a:bodyPr wrap="square" lIns="0" tIns="0" rIns="0" bIns="0" rtlCol="0" anchor="ctr"/>
          <a:lstStyle/>
          <a:p>
            <a:pPr algn="l" indent="0" marL="0">
              <a:lnSpc>
                <a:spcPct val="105000"/>
              </a:lnSpc>
              <a:buNone/>
            </a:pPr>
            <a:r>
              <a:rPr lang="en-US" sz="1500" b="1" dirty="0">
                <a:solidFill>
                  <a:srgbClr val="F2F7F4"/>
                </a:solidFill>
                <a:latin typeface="Calibri" pitchFamily="34" charset="0"/>
                <a:ea typeface="Calibri" pitchFamily="34" charset="-122"/>
                <a:cs typeface="Calibri" pitchFamily="34" charset="-120"/>
              </a:rPr>
              <a:t>USD payouts</a:t>
            </a:r>
            <a:endParaRPr lang="en-US" sz="1500" dirty="0"/>
          </a:p>
        </p:txBody>
      </p:sp>
      <p:sp>
        <p:nvSpPr>
          <p:cNvPr id="13" name="Text 9"/>
          <p:cNvSpPr txBox="1"/>
          <p:nvPr/>
        </p:nvSpPr>
        <p:spPr>
          <a:xfrm>
            <a:off x="4892040" y="2240280"/>
            <a:ext cx="3566160" cy="1005840"/>
          </a:xfrm>
          <a:prstGeom prst="rect">
            <a:avLst/>
          </a:prstGeom>
          <a:noFill/>
          <a:ln/>
        </p:spPr>
        <p:txBody>
          <a:bodyPr wrap="square" lIns="0" tIns="0" rIns="0" bIns="0" rtlCol="0" anchor="t"/>
          <a:lstStyle/>
          <a:p>
            <a:pPr algn="l" indent="0" marL="0">
              <a:lnSpc>
                <a:spcPct val="105000"/>
              </a:lnSpc>
              <a:buNone/>
            </a:pPr>
            <a:r>
              <a:rPr lang="en-US" sz="1150" dirty="0">
                <a:solidFill>
                  <a:srgbClr val="9FB8B2"/>
                </a:solidFill>
                <a:latin typeface="Calibri" pitchFamily="34" charset="0"/>
                <a:ea typeface="Calibri" pitchFamily="34" charset="-122"/>
                <a:cs typeface="Calibri" pitchFamily="34" charset="-120"/>
              </a:rPr>
              <a:t>Payaza takes cards in USD but can’t pay USD out. With USD payouts, Chris’s European buyers and AfricaHackon’s students in South Sudan can pay by card.</a:t>
            </a:r>
            <a:endParaRPr lang="en-US" sz="1150" dirty="0"/>
          </a:p>
        </p:txBody>
      </p:sp>
      <p:sp>
        <p:nvSpPr>
          <p:cNvPr id="14" name="Shape 10"/>
          <p:cNvSpPr/>
          <p:nvPr/>
        </p:nvSpPr>
        <p:spPr>
          <a:xfrm>
            <a:off x="457200" y="3520440"/>
            <a:ext cx="8229600" cy="868680"/>
          </a:xfrm>
          <a:prstGeom prst="roundRect">
            <a:avLst>
              <a:gd name="adj" fmla="val 8421"/>
            </a:avLst>
          </a:prstGeom>
          <a:solidFill>
            <a:srgbClr val="1E403D"/>
          </a:solidFill>
          <a:ln w="12700">
            <a:solidFill>
              <a:srgbClr val="1E403D"/>
            </a:solidFill>
            <a:prstDash val="solid"/>
          </a:ln>
        </p:spPr>
      </p:sp>
      <p:sp>
        <p:nvSpPr>
          <p:cNvPr id="15" name="Text 11"/>
          <p:cNvSpPr txBox="1"/>
          <p:nvPr/>
        </p:nvSpPr>
        <p:spPr>
          <a:xfrm>
            <a:off x="685800" y="3630168"/>
            <a:ext cx="2743200" cy="228600"/>
          </a:xfrm>
          <a:prstGeom prst="rect">
            <a:avLst/>
          </a:prstGeom>
          <a:noFill/>
          <a:ln/>
        </p:spPr>
        <p:txBody>
          <a:bodyPr wrap="square" lIns="0" tIns="0" rIns="0" bIns="0" rtlCol="0" anchor="t"/>
          <a:lstStyle/>
          <a:p>
            <a:pPr algn="l" indent="0" marL="0">
              <a:lnSpc>
                <a:spcPct val="105000"/>
              </a:lnSpc>
              <a:buNone/>
            </a:pPr>
            <a:r>
              <a:rPr lang="en-US" sz="800" b="1" dirty="0">
                <a:solidFill>
                  <a:srgbClr val="3ECFA0"/>
                </a:solidFill>
                <a:latin typeface="Calibri" pitchFamily="34" charset="0"/>
                <a:ea typeface="Calibri" pitchFamily="34" charset="-122"/>
                <a:cs typeface="Calibri" pitchFamily="34" charset="-120"/>
              </a:rPr>
              <a:t>WHAT WORKS TODAY</a:t>
            </a:r>
            <a:endParaRPr lang="en-US" sz="800" dirty="0"/>
          </a:p>
        </p:txBody>
      </p:sp>
      <p:sp>
        <p:nvSpPr>
          <p:cNvPr id="16" name="Text 12"/>
          <p:cNvSpPr txBox="1"/>
          <p:nvPr/>
        </p:nvSpPr>
        <p:spPr>
          <a:xfrm>
            <a:off x="685800" y="3858768"/>
            <a:ext cx="7772400" cy="502920"/>
          </a:xfrm>
          <a:prstGeom prst="rect">
            <a:avLst/>
          </a:prstGeom>
          <a:noFill/>
          <a:ln/>
        </p:spPr>
        <p:txBody>
          <a:bodyPr wrap="square" lIns="0" tIns="0" rIns="0" bIns="0" rtlCol="0" anchor="t"/>
          <a:lstStyle/>
          <a:p>
            <a:pPr algn="l" indent="0" marL="0">
              <a:lnSpc>
                <a:spcPct val="105000"/>
              </a:lnSpc>
              <a:buNone/>
            </a:pPr>
            <a:r>
              <a:rPr lang="en-US" sz="1150" dirty="0">
                <a:solidFill>
                  <a:srgbClr val="F2F7F4"/>
                </a:solidFill>
                <a:latin typeface="Calibri" pitchFamily="34" charset="0"/>
                <a:ea typeface="Calibri" pitchFamily="34" charset="-122"/>
                <a:cs typeface="Calibri" pitchFamily="34" charset="-120"/>
              </a:rPr>
              <a:t>Any business paid in the currency its buyer pays in: KES, UGX, TZS, NGN, GHS and more. Exact amount, fees on top, same day. We’ve shared our sandbox findings with Payaza’s team.</a:t>
            </a:r>
            <a:endParaRPr lang="en-US" sz="1150" dirty="0"/>
          </a:p>
        </p:txBody>
      </p:sp>
      <p:sp>
        <p:nvSpPr>
          <p:cNvPr id="17" name="Text 13"/>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18" name="Text 14"/>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Collect — Payaza Borderless Kenya Hackathon</dc:title>
  <dc:subject>PptxGenJS Presentation</dc:subject>
  <dc:creator>Appify Softwares Limited</dc:creator>
  <cp:lastModifiedBy>Appify Softwares Limited</cp:lastModifiedBy>
  <cp:revision>1</cp:revision>
  <dcterms:created xsi:type="dcterms:W3CDTF">2026-09-29T09:16:55Z</dcterms:created>
  <dcterms:modified xsi:type="dcterms:W3CDTF">2026-09-29T09:16:55Z</dcterms:modified>
</cp:coreProperties>
</file>