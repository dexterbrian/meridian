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9FB8B2"/>
                </a:solidFill>
                <a:latin typeface="Calibri"/>
              </a:defRPr>
            </a:pPr>
            <a:r>
              <a:rPr sz="1000" b="0" i="0" u="none" strike="noStrike">
                <a:solidFill>
                  <a:srgbClr val="9FB8B2"/>
                </a:solidFill>
                <a:latin typeface="Calibri"/>
              </a:rPr>
              <a:t>Indicative all-in cost, % of amount sent</a:t>
            </a:r>
          </a:p>
        </c:rich>
      </c:tx>
      <c:layout/>
      <c:overlay val="0"/>
    </c:title>
    <c:autoTitleDeleted val="0"/>
    <c:plotArea>
      <c:layout/>
      <c:barChart>
        <c:barDir val="bar"/>
        <c:grouping val="clustered"/>
        <c:varyColors val="0"/>
        <c:ser>
          <c:idx val="0"/>
          <c:order val="0"/>
          <c:tx>
            <c:strRef>
              <c:f>Sheet1!$B$1</c:f>
              <c:strCache>
                <c:ptCount val="1"/>
                <c:pt idx="0">
                  <c:v>All-in cost of a KES to CNY supplier payment</c:v>
                </c:pt>
              </c:strCache>
            </c:strRef>
          </c:tx>
          <c:spPr>
            <a:solidFill>
              <a:srgbClr val="9FB8B2"/>
            </a:solidFill>
            <a:effectLst/>
          </c:spPr>
          <c:invertIfNegative val="0"/>
          <c:dLbls>
            <c:numFmt formatCode="0.0&quot;%&quot;" sourceLinked="0"/>
            <c:txPr>
              <a:bodyPr/>
              <a:lstStyle/>
              <a:p>
                <a:pPr>
                  <a:defRPr b="0" i="0" strike="noStrike" sz="1100" u="none">
                    <a:solidFill>
                      <a:srgbClr val="F2F7F4"/>
                    </a:solidFill>
                    <a:latin typeface="Calibri"/>
                  </a:defRPr>
                </a:pPr>
              </a:p>
            </c:txPr>
            <c:showLegendKey val="0"/>
            <c:showVal val="1"/>
            <c:showCatName val="0"/>
            <c:showSerName val="0"/>
            <c:showPercent val="0"/>
            <c:showBubbleSize val="0"/>
            <c:showLeaderLines val="0"/>
          </c:dLbls>
          <c:dPt>
            <c:idx val="0"/>
            <c:invertIfNegative val="0"/>
            <c:bubble3D val="0"/>
            <c:spPr>
              <a:solidFill>
                <a:srgbClr val="9FB8B2"/>
              </a:solidFill>
              <a:effectLst/>
            </c:spPr>
          </c:dPt>
          <c:dPt>
            <c:idx val="1"/>
            <c:invertIfNegative val="0"/>
            <c:bubble3D val="0"/>
            <c:spPr>
              <a:solidFill>
                <a:srgbClr val="E5C158"/>
              </a:solidFill>
              <a:effectLst/>
            </c:spPr>
          </c:dPt>
          <c:dPt>
            <c:idx val="2"/>
            <c:invertIfNegative val="0"/>
            <c:bubble3D val="0"/>
            <c:spPr>
              <a:solidFill>
                <a:srgbClr val="3ECFA0"/>
              </a:solidFill>
              <a:effectLst/>
            </c:spPr>
          </c:dPt>
          <c:cat>
            <c:multiLvlStrRef>
              <c:f>Sheet1!$A$2:$A$4</c:f>
              <c:multiLvlStrCache>
                <c:ptCount val="3"/>
                <c:lvl>
                  <c:pt idx="0">
                    <c:v>Bank route today</c:v>
                  </c:pt>
                  <c:pt idx="1">
                    <c:v>Forex agent + bank</c:v>
                  </c:pt>
                  <c:pt idx="2">
                    <c:v>Meridian</c:v>
                  </c:pt>
                </c:lvl>
              </c:multiLvlStrCache>
            </c:multiLvlStrRef>
          </c:cat>
          <c:val>
            <c:numRef>
              <c:f>Sheet1!$B$2:$B$4</c:f>
              <c:numCache>
                <c:formatCode>General</c:formatCode>
                <c:ptCount val="3"/>
                <c:pt idx="0">
                  <c:v>9</c:v>
                </c:pt>
                <c:pt idx="1">
                  <c:v>4.5</c:v>
                </c:pt>
                <c:pt idx="2">
                  <c:v>2.5</c:v>
                </c:pt>
              </c:numCache>
            </c:numRef>
          </c:val>
        </c:ser>
        <c:dLbls>
          <c:numFmt formatCode="0.0&quot;%&quot;" sourceLinked="0"/>
          <c:txPr>
            <a:bodyPr/>
            <a:lstStyle/>
            <a:p>
              <a:pPr>
                <a:defRPr b="0" i="0" strike="noStrike" sz="1100" u="none">
                  <a:solidFill>
                    <a:srgbClr val="F2F7F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F2F7F4"/>
                </a:solidFill>
                <a:latin typeface="Calibri"/>
              </a:defRPr>
            </a:pPr>
            <a:endParaRPr lang="en-US"/>
          </a:p>
        </c:txPr>
        <c:crossAx val="2094734552"/>
        <c:crosses val="autoZero"/>
        <c:auto val="1"/>
        <c:lblAlgn val="ctr"/>
        <c:noMultiLvlLbl val="1"/>
      </c:catAx>
      <c:valAx>
        <c:axId val="2094734552"/>
        <c:scaling>
          <c:orientation val="minMax"/>
          <c:max val="12"/>
        </c:scaling>
        <c:delete val="0"/>
        <c:axPos val="b"/>
        <c:majorGridlines>
          <c:spPr>
            <a:ln w="6350" cap="flat">
              <a:solidFill>
                <a:srgbClr val="1E403D"/>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9FB8B2"/>
                </a:solidFill>
                <a:latin typeface="Calibri"/>
              </a:defRPr>
            </a:pPr>
            <a:endParaRPr lang="en-US"/>
          </a:p>
        </c:txPr>
        <c:crossAx val="2094734554"/>
        <c:crosses val="autoZero"/>
        <c:crossBetween val="between"/>
      </c:valAx>
      <c:spPr>
        <a:solidFill>
          <a:srgbClr val="0F2624"/>
        </a:solidFill>
        <a:ln>
          <a:noFill/>
        </a:ln>
        <a:effectLst/>
      </c:spPr>
    </c:plotArea>
    <c:plotVisOnly val="1"/>
    <c:dispBlanksAs val="span"/>
  </c:chart>
  <c:spPr>
    <a:solidFill>
      <a:srgbClr val="0F262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9FB8B2"/>
                </a:solidFill>
                <a:latin typeface="Calibri"/>
              </a:defRPr>
            </a:pPr>
            <a:r>
              <a:rPr sz="1000" b="0" i="0" u="none" strike="noStrike">
                <a:solidFill>
                  <a:srgbClr val="9FB8B2"/>
                </a:solidFill>
                <a:latin typeface="Calibri"/>
              </a:rPr>
              <a:t>Use of funds</a:t>
            </a:r>
          </a:p>
        </c:rich>
      </c:tx>
      <c:layout/>
      <c:overlay val="0"/>
    </c:title>
    <c:autoTitleDeleted val="0"/>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3ECFA0"/>
              </a:solidFill>
              <a:ln w="19050" cap="flat">
                <a:solidFill>
                  <a:srgbClr val="0F2624"/>
                </a:solidFill>
                <a:prstDash val="solid"/>
                <a:round/>
              </a:ln>
              <a:effectLst/>
            </c:spPr>
          </c:dPt>
          <c:dPt>
            <c:idx val="1"/>
            <c:bubble3D val="0"/>
            <c:spPr>
              <a:solidFill>
                <a:srgbClr val="E5C158"/>
              </a:solidFill>
              <a:ln w="19050" cap="flat">
                <a:solidFill>
                  <a:srgbClr val="0F2624"/>
                </a:solidFill>
                <a:prstDash val="solid"/>
                <a:round/>
              </a:ln>
              <a:effectLst/>
            </c:spPr>
          </c:dPt>
          <c:dPt>
            <c:idx val="2"/>
            <c:bubble3D val="0"/>
            <c:spPr>
              <a:solidFill>
                <a:srgbClr val="6FB8A8"/>
              </a:solidFill>
              <a:ln w="19050" cap="flat">
                <a:solidFill>
                  <a:srgbClr val="0F2624"/>
                </a:solidFill>
                <a:prstDash val="solid"/>
                <a:round/>
              </a:ln>
              <a:effectLst/>
            </c:spPr>
          </c:dPt>
          <c:dPt>
            <c:idx val="3"/>
            <c:bubble3D val="0"/>
            <c:spPr>
              <a:solidFill>
                <a:srgbClr val="B9D9CF"/>
              </a:solidFill>
              <a:ln w="19050" cap="flat">
                <a:solidFill>
                  <a:srgbClr val="0F2624"/>
                </a:solidFill>
                <a:prstDash val="solid"/>
                <a:round/>
              </a:ln>
              <a:effectLst/>
            </c:spPr>
          </c:dPt>
          <c:dPt>
            <c:idx val="4"/>
            <c:bubble3D val="0"/>
            <c:spPr>
              <a:solidFill>
                <a:srgbClr val="E8EFEC"/>
              </a:solidFill>
              <a:ln w="19050" cap="flat">
                <a:solidFill>
                  <a:srgbClr val="0F2624"/>
                </a:solidFill>
                <a:prstDash val="solid"/>
                <a:round/>
              </a:ln>
              <a:effectLst/>
            </c:spPr>
          </c:dPt>
          <c:dLbls>
            <c:dLbl>
              <c:idx val="0"/>
              <c:numFmt formatCode="0%" sourceLinked="0"/>
              <c:spPr/>
              <c:txPr>
                <a:bodyPr/>
                <a:lstStyle/>
                <a:p>
                  <a:pPr>
                    <a:defRPr sz="1000" b="0" i="0" u="none" strike="noStrike">
                      <a:solidFill>
                        <a:srgbClr val="0B1A19"/>
                      </a:solidFill>
                      <a:latin typeface="Calibri"/>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0B1A19"/>
                      </a:solidFill>
                      <a:latin typeface="Calibri"/>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0B1A19"/>
                      </a:solidFill>
                      <a:latin typeface="Calibri"/>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0B1A19"/>
                      </a:solidFill>
                      <a:latin typeface="Calibri"/>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0B1A19"/>
                      </a:solidFill>
                      <a:latin typeface="Calibri"/>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Build and team</c:v>
                </c:pt>
                <c:pt idx="1">
                  <c:v>Compliance and legal</c:v>
                </c:pt>
                <c:pt idx="2">
                  <c:v>Partner float and fees</c:v>
                </c:pt>
                <c:pt idx="3">
                  <c:v>Go to market</c:v>
                </c:pt>
                <c:pt idx="4">
                  <c:v>Runway buffer</c:v>
                </c:pt>
              </c:strCache>
            </c:strRef>
          </c:cat>
          <c:val>
            <c:numRef>
              <c:f>Sheet1!$B$2:$B$6</c:f>
              <c:numCache>
                <c:ptCount val="5"/>
                <c:pt idx="0">
                  <c:v>45</c:v>
                </c:pt>
                <c:pt idx="1">
                  <c:v>15</c:v>
                </c:pt>
                <c:pt idx="2">
                  <c:v>15</c:v>
                </c:pt>
                <c:pt idx="3">
                  <c:v>10</c:v>
                </c:pt>
                <c:pt idx="4">
                  <c:v>15</c:v>
                </c:pt>
              </c:numCache>
            </c:numRef>
          </c:val>
        </c:ser>
        <c:firstSliceAng val="0"/>
        <c:holeSize val="55"/>
      </c:doughnutChart>
      <c:spPr>
        <a:noFill/>
        <a:ln>
          <a:noFill/>
        </a:ln>
        <a:effectLst/>
      </c:spPr>
    </c:plotArea>
    <c:legend>
      <c:legendPos val="b"/>
      <c:overlay val="0"/>
      <c:txPr>
        <a:bodyPr/>
        <a:lstStyle/>
        <a:p>
          <a:pPr>
            <a:defRPr sz="950">
              <a:solidFill>
                <a:srgbClr val="F2F7F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Meridian lets African businesses pay suppliers anywhere and collect from buyers anywhere, in minutes, for a flat 1% on top of a licensed partner's fee. We do not touch the exchange rate. Built by Appify in Nairobi.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pain is time, not just fees. Late payment cascades: production does not start, stock runs out, cold storage bills grow, farmers must still be paid at harvest. Quotes are from our interviews; see docs/customer-interviews.md.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findings changed the product. First, most interviewees pay suppliers outside Africa, so corridors are Africa to Africa and Africa to the world from day one. Second, pain depends on the bank. Mid-tier bank customers are the first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surfaces, one primitive underneath: a payment request with a hosted page. Send is the inverse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wallet and no stored balance in the MVP. Every transaction is funded and settled end to end. This keeps us outside e-money rules and removes a ledger to reconcile.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charge only for what we control. The partner's fee is theirs and is shown separately. If partner fees fall, our customers see it immediately. Unit economics: 1% gross take rate with near-zero variable cost per transaction beyond partner API calls and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the top-down import and export figures against the latest KNBS Economic Survey before sharing externally. The bottom-up numbers are the ones we stand behind: they come directly from interview ticket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edge is not a rail. Rails are commodity and we rent them. Our edge is the B2B workflow: tiered KYB so a business starts today, trade documents on the transfer, transparent pricing, and an embeddable way for foreign buyers to pay African 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 is a technology platform. We do not hold client funds; licensed partners do. We still run a written AML policy, a named compliance officer, and 7-year retention. Tier limits sit inside what our partners allow us. Legal review before live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pre-revenue and pre-build on the real product. What we have is a validated problem, named early customers, a demo site, and a complete spec. The ask funds the build and the first pilots.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task breakdown with exit tests per phase is in docs/phases.md. Partner production onboarding starts in week 1 because it runs longest.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paid acquisition in year one. Referral, community, and the built-in distribution of payment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this is a solo founder today with an advisor. The round funds the first two hires.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round size before sending. Use-of-funds percentages are a proposal: build and team 45%, compliance and legal 15%, partner float 15%, go to market 10%, buffer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milestone: first live cross-border payment within 90 days of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624"/>
        </a:solidFill>
      </p:bgPr>
    </p:bg>
    <p:spTree>
      <p:nvGrpSpPr>
        <p:cNvPr id="1" name=""/>
        <p:cNvGrpSpPr/>
        <p:nvPr/>
      </p:nvGrpSpPr>
      <p:grpSpPr>
        <a:xfrm>
          <a:off x="0" y="0"/>
          <a:ext cx="0" cy="0"/>
          <a:chOff x="0" y="0"/>
          <a:chExt cx="0" cy="0"/>
        </a:xfrm>
      </p:grpSpPr>
      <p:sp>
        <p:nvSpPr>
          <p:cNvPr id="2" name="Shape 0"/>
          <p:cNvSpPr/>
          <p:nvPr/>
        </p:nvSpPr>
        <p:spPr>
          <a:xfrm>
            <a:off x="457200" y="548640"/>
            <a:ext cx="502920" cy="502920"/>
          </a:xfrm>
          <a:prstGeom prst="roundRect">
            <a:avLst>
              <a:gd name="adj" fmla="val 21818"/>
            </a:avLst>
          </a:prstGeom>
          <a:solidFill>
            <a:srgbClr val="3ECFA0"/>
          </a:solidFill>
          <a:ln w="12700">
            <a:solidFill>
              <a:srgbClr val="3ECFA0"/>
            </a:solidFill>
            <a:prstDash val="solid"/>
          </a:ln>
        </p:spPr>
      </p:sp>
      <p:sp>
        <p:nvSpPr>
          <p:cNvPr id="3" name="Shape 1"/>
          <p:cNvSpPr/>
          <p:nvPr/>
        </p:nvSpPr>
        <p:spPr>
          <a:xfrm>
            <a:off x="598932" y="690372"/>
            <a:ext cx="219456" cy="219456"/>
          </a:xfrm>
          <a:prstGeom prst="ellipse">
            <a:avLst/>
          </a:prstGeom>
          <a:solidFill>
            <a:srgbClr val="3ECFA0"/>
          </a:solidFill>
          <a:ln w="25400">
            <a:solidFill>
              <a:srgbClr val="0B1A19"/>
            </a:solidFill>
            <a:prstDash val="solid"/>
          </a:ln>
        </p:spPr>
      </p:sp>
      <p:sp>
        <p:nvSpPr>
          <p:cNvPr id="4" name="Text 2"/>
          <p:cNvSpPr txBox="1"/>
          <p:nvPr/>
        </p:nvSpPr>
        <p:spPr>
          <a:xfrm>
            <a:off x="1097280" y="566928"/>
            <a:ext cx="2743200" cy="457200"/>
          </a:xfrm>
          <a:prstGeom prst="rect">
            <a:avLst/>
          </a:prstGeom>
          <a:noFill/>
          <a:ln/>
        </p:spPr>
        <p:txBody>
          <a:bodyPr wrap="square" lIns="0" tIns="0" rIns="0" bIns="0" rtlCol="0" anchor="t"/>
          <a:lstStyle/>
          <a:p>
            <a:pPr algn="l" indent="0" marL="0">
              <a:lnSpc>
                <a:spcPct val="105000"/>
              </a:lnSpc>
              <a:buNone/>
            </a:pPr>
            <a:r>
              <a:rPr lang="en-US" sz="2200" b="1" dirty="0">
                <a:solidFill>
                  <a:srgbClr val="F2F7F4"/>
                </a:solidFill>
                <a:latin typeface="Calibri" pitchFamily="34" charset="0"/>
                <a:ea typeface="Calibri" pitchFamily="34" charset="-122"/>
                <a:cs typeface="Calibri" pitchFamily="34" charset="-120"/>
              </a:rPr>
              <a:t>Meridian</a:t>
            </a:r>
            <a:endParaRPr lang="en-US" sz="2200" dirty="0"/>
          </a:p>
        </p:txBody>
      </p:sp>
      <p:sp>
        <p:nvSpPr>
          <p:cNvPr id="5" name="Text 3"/>
          <p:cNvSpPr txBox="1"/>
          <p:nvPr/>
        </p:nvSpPr>
        <p:spPr>
          <a:xfrm>
            <a:off x="457200" y="1600200"/>
            <a:ext cx="5623560" cy="1143000"/>
          </a:xfrm>
          <a:prstGeom prst="rect">
            <a:avLst/>
          </a:prstGeom>
          <a:noFill/>
          <a:ln/>
        </p:spPr>
        <p:txBody>
          <a:bodyPr wrap="square" lIns="0" tIns="0" rIns="0" bIns="0" rtlCol="0" anchor="t"/>
          <a:lstStyle/>
          <a:p>
            <a:pPr algn="l" indent="0" marL="0">
              <a:lnSpc>
                <a:spcPct val="100000"/>
              </a:lnSpc>
              <a:buNone/>
            </a:pPr>
            <a:r>
              <a:rPr lang="en-US" sz="3000" b="1" dirty="0">
                <a:solidFill>
                  <a:srgbClr val="F2F7F4"/>
                </a:solidFill>
                <a:latin typeface="Calibri" pitchFamily="34" charset="0"/>
                <a:ea typeface="Calibri" pitchFamily="34" charset="-122"/>
                <a:cs typeface="Calibri" pitchFamily="34" charset="-120"/>
              </a:rPr>
              <a:t>Pay suppliers and get paid</a:t>
            </a:r>
            <a:endParaRPr lang="en-US" sz="3000" dirty="0"/>
          </a:p>
          <a:p>
            <a:pPr algn="l" indent="0" marL="0">
              <a:lnSpc>
                <a:spcPct val="100000"/>
              </a:lnSpc>
              <a:buNone/>
            </a:pPr>
            <a:r>
              <a:rPr lang="en-US" sz="3000" b="1" dirty="0">
                <a:solidFill>
                  <a:srgbClr val="F2F7F4"/>
                </a:solidFill>
                <a:latin typeface="Calibri" pitchFamily="34" charset="0"/>
                <a:ea typeface="Calibri" pitchFamily="34" charset="-122"/>
                <a:cs typeface="Calibri" pitchFamily="34" charset="-120"/>
              </a:rPr>
              <a:t>across borders. In minutes.</a:t>
            </a:r>
            <a:endParaRPr lang="en-US" sz="3000" dirty="0"/>
          </a:p>
        </p:txBody>
      </p:sp>
      <p:sp>
        <p:nvSpPr>
          <p:cNvPr id="6" name="Text 4"/>
          <p:cNvSpPr txBox="1"/>
          <p:nvPr/>
        </p:nvSpPr>
        <p:spPr>
          <a:xfrm>
            <a:off x="457200" y="3154680"/>
            <a:ext cx="5120640" cy="8229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B2B payments for African importers and exporters. Flat 1% on top of the partner fee. No FX markup. Money lands the same day.</a:t>
            </a:r>
            <a:endParaRPr lang="en-US" sz="1400" dirty="0"/>
          </a:p>
        </p:txBody>
      </p:sp>
      <p:sp>
        <p:nvSpPr>
          <p:cNvPr id="7" name="Text 5"/>
          <p:cNvSpPr txBox="1"/>
          <p:nvPr/>
        </p:nvSpPr>
        <p:spPr>
          <a:xfrm>
            <a:off x="457200" y="4343400"/>
            <a:ext cx="6400800" cy="274320"/>
          </a:xfrm>
          <a:prstGeom prst="rect">
            <a:avLst/>
          </a:prstGeom>
          <a:noFill/>
          <a:ln/>
        </p:spPr>
        <p:txBody>
          <a:bodyPr wrap="square" lIns="0" tIns="0" rIns="0" bIns="0" rtlCol="0" anchor="t"/>
          <a:lstStyle/>
          <a:p>
            <a:pPr algn="l" indent="0" marL="0">
              <a:lnSpc>
                <a:spcPct val="105000"/>
              </a:lnSpc>
              <a:buNone/>
            </a:pPr>
            <a:r>
              <a:rPr lang="en-US" sz="1100" dirty="0">
                <a:solidFill>
                  <a:srgbClr val="9FB8B2"/>
                </a:solidFill>
                <a:latin typeface="Calibri" pitchFamily="34" charset="0"/>
                <a:ea typeface="Calibri" pitchFamily="34" charset="-122"/>
                <a:cs typeface="Calibri" pitchFamily="34" charset="-120"/>
              </a:rPr>
              <a:t>Pre-seed  ·  Appify Softwares Limited, Nairobi  ·  September 2026</a:t>
            </a:r>
            <a:endParaRPr lang="en-US" sz="1100" dirty="0"/>
          </a:p>
        </p:txBody>
      </p:sp>
      <p:sp>
        <p:nvSpPr>
          <p:cNvPr id="8" name="Shape 6"/>
          <p:cNvSpPr/>
          <p:nvPr/>
        </p:nvSpPr>
        <p:spPr>
          <a:xfrm>
            <a:off x="6126480" y="1371600"/>
            <a:ext cx="2560320" cy="2743200"/>
          </a:xfrm>
          <a:prstGeom prst="roundRect">
            <a:avLst>
              <a:gd name="adj" fmla="val 2857"/>
            </a:avLst>
          </a:prstGeom>
          <a:solidFill>
            <a:srgbClr val="173432"/>
          </a:solidFill>
          <a:ln w="12700">
            <a:solidFill>
              <a:srgbClr val="173432"/>
            </a:solidFill>
            <a:prstDash val="solid"/>
          </a:ln>
        </p:spPr>
      </p:sp>
      <p:sp>
        <p:nvSpPr>
          <p:cNvPr id="9" name="Text 7"/>
          <p:cNvSpPr txBox="1"/>
          <p:nvPr/>
        </p:nvSpPr>
        <p:spPr>
          <a:xfrm>
            <a:off x="6217920" y="1554480"/>
            <a:ext cx="2286000" cy="228600"/>
          </a:xfrm>
          <a:prstGeom prst="rect">
            <a:avLst/>
          </a:prstGeom>
          <a:noFill/>
          <a:ln/>
        </p:spPr>
        <p:txBody>
          <a:bodyPr wrap="square" lIns="0" tIns="0" rIns="0" bIns="0" rtlCol="0" anchor="t"/>
          <a:lstStyle/>
          <a:p>
            <a:pPr algn="l" indent="0" marL="0">
              <a:lnSpc>
                <a:spcPct val="105000"/>
              </a:lnSpc>
              <a:buNone/>
            </a:pPr>
            <a:r>
              <a:rPr lang="en-US" sz="800" b="1" dirty="0">
                <a:solidFill>
                  <a:srgbClr val="9FB8B2"/>
                </a:solidFill>
                <a:latin typeface="Calibri" pitchFamily="34" charset="0"/>
                <a:ea typeface="Calibri" pitchFamily="34" charset="-122"/>
                <a:cs typeface="Calibri" pitchFamily="34" charset="-120"/>
              </a:rPr>
              <a:t>SAMPLE TRANSFER</a:t>
            </a:r>
            <a:endParaRPr lang="en-US" sz="800" dirty="0"/>
          </a:p>
        </p:txBody>
      </p:sp>
      <p:sp>
        <p:nvSpPr>
          <p:cNvPr id="10" name="Text 8"/>
          <p:cNvSpPr txBox="1"/>
          <p:nvPr/>
        </p:nvSpPr>
        <p:spPr>
          <a:xfrm>
            <a:off x="6217920" y="1828800"/>
            <a:ext cx="2286000" cy="228600"/>
          </a:xfrm>
          <a:prstGeom prst="rect">
            <a:avLst/>
          </a:prstGeom>
          <a:noFill/>
          <a:ln/>
        </p:spPr>
        <p:txBody>
          <a:bodyPr wrap="square" lIns="0" tIns="0" rIns="0" bIns="0" rtlCol="0" anchor="t"/>
          <a:lstStyle/>
          <a:p>
            <a:pPr algn="l" indent="0" marL="0">
              <a:lnSpc>
                <a:spcPct val="105000"/>
              </a:lnSpc>
              <a:buNone/>
            </a:pPr>
            <a:r>
              <a:rPr lang="en-US" sz="900" dirty="0">
                <a:solidFill>
                  <a:srgbClr val="9FB8B2"/>
                </a:solidFill>
                <a:latin typeface="Calibri" pitchFamily="34" charset="0"/>
                <a:ea typeface="Calibri" pitchFamily="34" charset="-122"/>
                <a:cs typeface="Calibri" pitchFamily="34" charset="-120"/>
              </a:rPr>
              <a:t>Nairobi — you send</a:t>
            </a:r>
            <a:endParaRPr lang="en-US" sz="900" dirty="0"/>
          </a:p>
        </p:txBody>
      </p:sp>
      <p:sp>
        <p:nvSpPr>
          <p:cNvPr id="11" name="Text 9"/>
          <p:cNvSpPr txBox="1"/>
          <p:nvPr/>
        </p:nvSpPr>
        <p:spPr>
          <a:xfrm>
            <a:off x="6217920" y="2029968"/>
            <a:ext cx="2286000" cy="365760"/>
          </a:xfrm>
          <a:prstGeom prst="rect">
            <a:avLst/>
          </a:prstGeom>
          <a:noFill/>
          <a:ln/>
        </p:spPr>
        <p:txBody>
          <a:bodyPr wrap="square" lIns="0" tIns="0" rIns="0" bIns="0" rtlCol="0" anchor="t"/>
          <a:lstStyle/>
          <a:p>
            <a:pPr algn="l" indent="0" marL="0">
              <a:lnSpc>
                <a:spcPct val="105000"/>
              </a:lnSpc>
              <a:buNone/>
            </a:pPr>
            <a:r>
              <a:rPr lang="en-US" sz="2000" b="1" dirty="0">
                <a:solidFill>
                  <a:srgbClr val="F2F7F4"/>
                </a:solidFill>
                <a:latin typeface="Calibri" pitchFamily="34" charset="0"/>
                <a:ea typeface="Calibri" pitchFamily="34" charset="-122"/>
                <a:cs typeface="Calibri" pitchFamily="34" charset="-120"/>
              </a:rPr>
              <a:t>KSh 1,500,000</a:t>
            </a:r>
            <a:endParaRPr lang="en-US" sz="2000" dirty="0"/>
          </a:p>
        </p:txBody>
      </p:sp>
      <p:sp>
        <p:nvSpPr>
          <p:cNvPr id="12" name="Shape 10"/>
          <p:cNvSpPr/>
          <p:nvPr/>
        </p:nvSpPr>
        <p:spPr>
          <a:xfrm>
            <a:off x="6309360" y="2514600"/>
            <a:ext cx="0" cy="685800"/>
          </a:xfrm>
          <a:prstGeom prst="line">
            <a:avLst/>
          </a:prstGeom>
          <a:noFill/>
          <a:ln w="19050">
            <a:solidFill>
              <a:srgbClr val="3ECFA0"/>
            </a:solidFill>
            <a:prstDash val="solid"/>
          </a:ln>
        </p:spPr>
      </p:sp>
      <p:sp>
        <p:nvSpPr>
          <p:cNvPr id="13" name="Text 11"/>
          <p:cNvSpPr txBox="1"/>
          <p:nvPr/>
        </p:nvSpPr>
        <p:spPr>
          <a:xfrm>
            <a:off x="6446520" y="2487168"/>
            <a:ext cx="2103120" cy="731520"/>
          </a:xfrm>
          <a:prstGeom prst="rect">
            <a:avLst/>
          </a:prstGeom>
          <a:noFill/>
          <a:ln/>
        </p:spPr>
        <p:txBody>
          <a:bodyPr wrap="square" lIns="0" tIns="0" rIns="0" bIns="0" rtlCol="0" anchor="t"/>
          <a:lstStyle/>
          <a:p>
            <a:pPr algn="l" indent="0" marL="0">
              <a:lnSpc>
                <a:spcPct val="120000"/>
              </a:lnSpc>
              <a:buNone/>
            </a:pPr>
            <a:r>
              <a:rPr lang="en-US" sz="900" dirty="0">
                <a:solidFill>
                  <a:srgbClr val="9FB8B2"/>
                </a:solidFill>
                <a:latin typeface="Calibri" pitchFamily="34" charset="0"/>
                <a:ea typeface="Calibri" pitchFamily="34" charset="-122"/>
                <a:cs typeface="Calibri" pitchFamily="34" charset="-120"/>
              </a:rPr>
              <a:t>Compliance cleared</a:t>
            </a:r>
            <a:endParaRPr lang="en-US" sz="900" dirty="0"/>
          </a:p>
          <a:p>
            <a:pPr algn="l" indent="0" marL="0">
              <a:lnSpc>
                <a:spcPct val="120000"/>
              </a:lnSpc>
              <a:buNone/>
            </a:pPr>
            <a:r>
              <a:rPr lang="en-US" sz="900" dirty="0">
                <a:solidFill>
                  <a:srgbClr val="9FB8B2"/>
                </a:solidFill>
                <a:latin typeface="Calibri" pitchFamily="34" charset="0"/>
                <a:ea typeface="Calibri" pitchFamily="34" charset="-122"/>
                <a:cs typeface="Calibri" pitchFamily="34" charset="-120"/>
              </a:rPr>
              <a:t>Converted by partner</a:t>
            </a:r>
            <a:endParaRPr lang="en-US" sz="900" dirty="0"/>
          </a:p>
          <a:p>
            <a:pPr algn="l" indent="0" marL="0">
              <a:lnSpc>
                <a:spcPct val="120000"/>
              </a:lnSpc>
              <a:buNone/>
            </a:pPr>
            <a:r>
              <a:rPr lang="en-US" sz="900" dirty="0">
                <a:solidFill>
                  <a:srgbClr val="9FB8B2"/>
                </a:solidFill>
                <a:latin typeface="Calibri" pitchFamily="34" charset="0"/>
                <a:ea typeface="Calibri" pitchFamily="34" charset="-122"/>
                <a:cs typeface="Calibri" pitchFamily="34" charset="-120"/>
              </a:rPr>
              <a:t>Payout sent</a:t>
            </a:r>
            <a:endParaRPr lang="en-US" sz="900" dirty="0"/>
          </a:p>
        </p:txBody>
      </p:sp>
      <p:sp>
        <p:nvSpPr>
          <p:cNvPr id="14" name="Shape 12"/>
          <p:cNvSpPr/>
          <p:nvPr/>
        </p:nvSpPr>
        <p:spPr>
          <a:xfrm>
            <a:off x="6217920" y="3291840"/>
            <a:ext cx="2240280" cy="658368"/>
          </a:xfrm>
          <a:prstGeom prst="roundRect">
            <a:avLst>
              <a:gd name="adj" fmla="val 8333"/>
            </a:avLst>
          </a:prstGeom>
          <a:solidFill>
            <a:srgbClr val="1E403D"/>
          </a:solidFill>
          <a:ln w="9525">
            <a:solidFill>
              <a:srgbClr val="3ECFA0"/>
            </a:solidFill>
            <a:prstDash val="solid"/>
          </a:ln>
        </p:spPr>
      </p:sp>
      <p:sp>
        <p:nvSpPr>
          <p:cNvPr id="15" name="Text 13"/>
          <p:cNvSpPr txBox="1"/>
          <p:nvPr/>
        </p:nvSpPr>
        <p:spPr>
          <a:xfrm>
            <a:off x="6327648" y="3346704"/>
            <a:ext cx="2103120" cy="201168"/>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Shenzhen — supplier receives</a:t>
            </a:r>
            <a:endParaRPr lang="en-US" sz="800" dirty="0"/>
          </a:p>
        </p:txBody>
      </p:sp>
      <p:sp>
        <p:nvSpPr>
          <p:cNvPr id="16" name="Text 14"/>
          <p:cNvSpPr txBox="1"/>
          <p:nvPr/>
        </p:nvSpPr>
        <p:spPr>
          <a:xfrm>
            <a:off x="6327648" y="3529584"/>
            <a:ext cx="2103120" cy="365760"/>
          </a:xfrm>
          <a:prstGeom prst="rect">
            <a:avLst/>
          </a:prstGeom>
          <a:noFill/>
          <a:ln/>
        </p:spPr>
        <p:txBody>
          <a:bodyPr wrap="square" lIns="0" tIns="0" rIns="0" bIns="0" rtlCol="0" anchor="t"/>
          <a:lstStyle/>
          <a:p>
            <a:pPr algn="l" indent="0" marL="0">
              <a:lnSpc>
                <a:spcPct val="105000"/>
              </a:lnSpc>
              <a:buNone/>
            </a:pPr>
            <a:r>
              <a:rPr lang="en-US" sz="1800" b="1" dirty="0">
                <a:solidFill>
                  <a:srgbClr val="3ECFA0"/>
                </a:solidFill>
                <a:latin typeface="Calibri" pitchFamily="34" charset="0"/>
                <a:ea typeface="Calibri" pitchFamily="34" charset="-122"/>
                <a:cs typeface="Calibri" pitchFamily="34" charset="-120"/>
              </a:rPr>
              <a:t>¥ 82,400</a:t>
            </a:r>
            <a:endParaRPr lang="en-US" sz="1800" dirty="0"/>
          </a:p>
        </p:txBody>
      </p:sp>
      <p:sp>
        <p:nvSpPr>
          <p:cNvPr id="17" name="Text 15"/>
          <p:cNvSpPr txBox="1"/>
          <p:nvPr/>
        </p:nvSpPr>
        <p:spPr>
          <a:xfrm>
            <a:off x="6217920" y="3986784"/>
            <a:ext cx="2377440" cy="201168"/>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Total cost 2%. A bank takes 8 to 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A week for money to land. The factory waits.</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What Kenyan importers and exporters told us in discovery interviews, September 2026.</a:t>
            </a:r>
            <a:endParaRPr lang="en-US" sz="1400" dirty="0"/>
          </a:p>
        </p:txBody>
      </p:sp>
      <p:sp>
        <p:nvSpPr>
          <p:cNvPr id="4" name="Shape 2"/>
          <p:cNvSpPr/>
          <p:nvPr/>
        </p:nvSpPr>
        <p:spPr>
          <a:xfrm>
            <a:off x="457200" y="1508760"/>
            <a:ext cx="2606040" cy="1965960"/>
          </a:xfrm>
          <a:prstGeom prst="roundRect">
            <a:avLst>
              <a:gd name="adj" fmla="val 3721"/>
            </a:avLst>
          </a:prstGeom>
          <a:solidFill>
            <a:srgbClr val="173432"/>
          </a:solidFill>
          <a:ln w="12700">
            <a:solidFill>
              <a:srgbClr val="173432"/>
            </a:solidFill>
            <a:prstDash val="solid"/>
          </a:ln>
        </p:spPr>
      </p:sp>
      <p:sp>
        <p:nvSpPr>
          <p:cNvPr id="5" name="Shape 3"/>
          <p:cNvSpPr/>
          <p:nvPr/>
        </p:nvSpPr>
        <p:spPr>
          <a:xfrm>
            <a:off x="685800" y="1737360"/>
            <a:ext cx="457200" cy="457200"/>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95528" y="1847088"/>
            <a:ext cx="237744" cy="237744"/>
          </a:xfrm>
          <a:prstGeom prst="rect">
            <a:avLst/>
          </a:prstGeom>
        </p:spPr>
      </p:pic>
      <p:sp>
        <p:nvSpPr>
          <p:cNvPr id="7" name="Text 4"/>
          <p:cNvSpPr txBox="1"/>
          <p:nvPr/>
        </p:nvSpPr>
        <p:spPr>
          <a:xfrm>
            <a:off x="685800" y="2286000"/>
            <a:ext cx="2148840" cy="502920"/>
          </a:xfrm>
          <a:prstGeom prst="rect">
            <a:avLst/>
          </a:prstGeom>
          <a:noFill/>
          <a:ln/>
        </p:spPr>
        <p:txBody>
          <a:bodyPr wrap="square" lIns="0" tIns="0" rIns="0" bIns="0" rtlCol="0" anchor="t"/>
          <a:lstStyle/>
          <a:p>
            <a:pPr algn="l" indent="0" marL="0">
              <a:lnSpc>
                <a:spcPct val="105000"/>
              </a:lnSpc>
              <a:buNone/>
            </a:pPr>
            <a:r>
              <a:rPr lang="en-US" sz="2600" b="1" dirty="0">
                <a:solidFill>
                  <a:srgbClr val="3ECFA0"/>
                </a:solidFill>
                <a:latin typeface="Calibri" pitchFamily="34" charset="0"/>
                <a:ea typeface="Calibri" pitchFamily="34" charset="-122"/>
                <a:cs typeface="Calibri" pitchFamily="34" charset="-120"/>
              </a:rPr>
              <a:t>4 to 5 days</a:t>
            </a:r>
            <a:endParaRPr lang="en-US" sz="2600" dirty="0"/>
          </a:p>
        </p:txBody>
      </p:sp>
      <p:sp>
        <p:nvSpPr>
          <p:cNvPr id="8" name="Text 5"/>
          <p:cNvSpPr txBox="1"/>
          <p:nvPr/>
        </p:nvSpPr>
        <p:spPr>
          <a:xfrm>
            <a:off x="685800" y="2788920"/>
            <a:ext cx="2148840" cy="640080"/>
          </a:xfrm>
          <a:prstGeom prst="rect">
            <a:avLst/>
          </a:prstGeom>
          <a:noFill/>
          <a:ln/>
        </p:spPr>
        <p:txBody>
          <a:bodyPr wrap="square" lIns="0" tIns="0" rIns="0" bIns="0" rtlCol="0" anchor="t"/>
          <a:lstStyle/>
          <a:p>
            <a:pPr algn="l" indent="0" marL="0">
              <a:lnSpc>
                <a:spcPct val="105000"/>
              </a:lnSpc>
              <a:buNone/>
            </a:pPr>
            <a:r>
              <a:rPr lang="en-US" sz="1100" dirty="0">
                <a:solidFill>
                  <a:srgbClr val="9FB8B2"/>
                </a:solidFill>
                <a:latin typeface="Calibri" pitchFamily="34" charset="0"/>
                <a:ea typeface="Calibri" pitchFamily="34" charset="-122"/>
                <a:cs typeface="Calibri" pitchFamily="34" charset="-120"/>
              </a:rPr>
              <a:t>for a supplier payment to confirm through Equity or Co-operative Bank</a:t>
            </a:r>
            <a:endParaRPr lang="en-US" sz="1100" dirty="0"/>
          </a:p>
        </p:txBody>
      </p:sp>
      <p:sp>
        <p:nvSpPr>
          <p:cNvPr id="9" name="Shape 6"/>
          <p:cNvSpPr/>
          <p:nvPr/>
        </p:nvSpPr>
        <p:spPr>
          <a:xfrm>
            <a:off x="3268980" y="1508760"/>
            <a:ext cx="2606040" cy="1965960"/>
          </a:xfrm>
          <a:prstGeom prst="roundRect">
            <a:avLst>
              <a:gd name="adj" fmla="val 3721"/>
            </a:avLst>
          </a:prstGeom>
          <a:solidFill>
            <a:srgbClr val="173432"/>
          </a:solidFill>
          <a:ln w="12700">
            <a:solidFill>
              <a:srgbClr val="173432"/>
            </a:solidFill>
            <a:prstDash val="solid"/>
          </a:ln>
        </p:spPr>
      </p:sp>
      <p:sp>
        <p:nvSpPr>
          <p:cNvPr id="10" name="Shape 7"/>
          <p:cNvSpPr/>
          <p:nvPr/>
        </p:nvSpPr>
        <p:spPr>
          <a:xfrm>
            <a:off x="3497580" y="1737360"/>
            <a:ext cx="457200" cy="457200"/>
          </a:xfrm>
          <a:prstGeom prst="ellipse">
            <a:avLst/>
          </a:prstGeom>
          <a:solidFill>
            <a:srgbClr val="3ECFA0"/>
          </a:solidFill>
          <a:ln w="12700">
            <a:solidFill>
              <a:srgbClr val="3ECFA0"/>
            </a:solidFill>
            <a:prstDash val="solid"/>
          </a:ln>
        </p:spPr>
      </p:sp>
      <p:pic>
        <p:nvPicPr>
          <p:cNvPr id="11" name="Image 1" descr="preencoded.png">    </p:cNvPr>
          <p:cNvPicPr>
            <a:picLocks noChangeAspect="1"/>
          </p:cNvPicPr>
          <p:nvPr/>
        </p:nvPicPr>
        <p:blipFill>
          <a:blip r:embed="rId2"/>
          <a:stretch>
            <a:fillRect/>
          </a:stretch>
        </p:blipFill>
        <p:spPr>
          <a:xfrm>
            <a:off x="3607308" y="1847088"/>
            <a:ext cx="237744" cy="237744"/>
          </a:xfrm>
          <a:prstGeom prst="rect">
            <a:avLst/>
          </a:prstGeom>
        </p:spPr>
      </p:pic>
      <p:sp>
        <p:nvSpPr>
          <p:cNvPr id="12" name="Text 8"/>
          <p:cNvSpPr txBox="1"/>
          <p:nvPr/>
        </p:nvSpPr>
        <p:spPr>
          <a:xfrm>
            <a:off x="3497580" y="2286000"/>
            <a:ext cx="2148840" cy="502920"/>
          </a:xfrm>
          <a:prstGeom prst="rect">
            <a:avLst/>
          </a:prstGeom>
          <a:noFill/>
          <a:ln/>
        </p:spPr>
        <p:txBody>
          <a:bodyPr wrap="square" lIns="0" tIns="0" rIns="0" bIns="0" rtlCol="0" anchor="t"/>
          <a:lstStyle/>
          <a:p>
            <a:pPr algn="l" indent="0" marL="0">
              <a:lnSpc>
                <a:spcPct val="105000"/>
              </a:lnSpc>
              <a:buNone/>
            </a:pPr>
            <a:r>
              <a:rPr lang="en-US" sz="2600" b="1" dirty="0">
                <a:solidFill>
                  <a:srgbClr val="3ECFA0"/>
                </a:solidFill>
                <a:latin typeface="Calibri" pitchFamily="34" charset="0"/>
                <a:ea typeface="Calibri" pitchFamily="34" charset="-122"/>
                <a:cs typeface="Calibri" pitchFamily="34" charset="-120"/>
              </a:rPr>
              <a:t>8 to 10%</a:t>
            </a:r>
            <a:endParaRPr lang="en-US" sz="2600" dirty="0"/>
          </a:p>
        </p:txBody>
      </p:sp>
      <p:sp>
        <p:nvSpPr>
          <p:cNvPr id="13" name="Text 9"/>
          <p:cNvSpPr txBox="1"/>
          <p:nvPr/>
        </p:nvSpPr>
        <p:spPr>
          <a:xfrm>
            <a:off x="3497580" y="2788920"/>
            <a:ext cx="2148840" cy="640080"/>
          </a:xfrm>
          <a:prstGeom prst="rect">
            <a:avLst/>
          </a:prstGeom>
          <a:noFill/>
          <a:ln/>
        </p:spPr>
        <p:txBody>
          <a:bodyPr wrap="square" lIns="0" tIns="0" rIns="0" bIns="0" rtlCol="0" anchor="t"/>
          <a:lstStyle/>
          <a:p>
            <a:pPr algn="l" indent="0" marL="0">
              <a:lnSpc>
                <a:spcPct val="105000"/>
              </a:lnSpc>
              <a:buNone/>
            </a:pPr>
            <a:r>
              <a:rPr lang="en-US" sz="1100" dirty="0">
                <a:solidFill>
                  <a:srgbClr val="9FB8B2"/>
                </a:solidFill>
                <a:latin typeface="Calibri" pitchFamily="34" charset="0"/>
                <a:ea typeface="Calibri" pitchFamily="34" charset="-122"/>
                <a:cs typeface="Calibri" pitchFamily="34" charset="-120"/>
              </a:rPr>
              <a:t>lost to fees and a poor exchange rate on a shilling account</a:t>
            </a:r>
            <a:endParaRPr lang="en-US" sz="1100" dirty="0"/>
          </a:p>
        </p:txBody>
      </p:sp>
      <p:sp>
        <p:nvSpPr>
          <p:cNvPr id="14" name="Shape 10"/>
          <p:cNvSpPr/>
          <p:nvPr/>
        </p:nvSpPr>
        <p:spPr>
          <a:xfrm>
            <a:off x="6080760" y="1508760"/>
            <a:ext cx="2606040" cy="1965960"/>
          </a:xfrm>
          <a:prstGeom prst="roundRect">
            <a:avLst>
              <a:gd name="adj" fmla="val 3721"/>
            </a:avLst>
          </a:prstGeom>
          <a:solidFill>
            <a:srgbClr val="173432"/>
          </a:solidFill>
          <a:ln w="12700">
            <a:solidFill>
              <a:srgbClr val="173432"/>
            </a:solidFill>
            <a:prstDash val="solid"/>
          </a:ln>
        </p:spPr>
      </p:sp>
      <p:sp>
        <p:nvSpPr>
          <p:cNvPr id="15" name="Shape 11"/>
          <p:cNvSpPr/>
          <p:nvPr/>
        </p:nvSpPr>
        <p:spPr>
          <a:xfrm>
            <a:off x="6309360" y="1737360"/>
            <a:ext cx="457200" cy="457200"/>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6419088" y="1847088"/>
            <a:ext cx="237744" cy="237744"/>
          </a:xfrm>
          <a:prstGeom prst="rect">
            <a:avLst/>
          </a:prstGeom>
        </p:spPr>
      </p:pic>
      <p:sp>
        <p:nvSpPr>
          <p:cNvPr id="17" name="Text 12"/>
          <p:cNvSpPr txBox="1"/>
          <p:nvPr/>
        </p:nvSpPr>
        <p:spPr>
          <a:xfrm>
            <a:off x="6309360" y="2286000"/>
            <a:ext cx="2148840" cy="502920"/>
          </a:xfrm>
          <a:prstGeom prst="rect">
            <a:avLst/>
          </a:prstGeom>
          <a:noFill/>
          <a:ln/>
        </p:spPr>
        <p:txBody>
          <a:bodyPr wrap="square" lIns="0" tIns="0" rIns="0" bIns="0" rtlCol="0" anchor="t"/>
          <a:lstStyle/>
          <a:p>
            <a:pPr algn="l" indent="0" marL="0">
              <a:lnSpc>
                <a:spcPct val="105000"/>
              </a:lnSpc>
              <a:buNone/>
            </a:pPr>
            <a:r>
              <a:rPr lang="en-US" sz="2600" b="1" dirty="0">
                <a:solidFill>
                  <a:srgbClr val="3ECFA0"/>
                </a:solidFill>
                <a:latin typeface="Calibri" pitchFamily="34" charset="0"/>
                <a:ea typeface="Calibri" pitchFamily="34" charset="-122"/>
                <a:cs typeface="Calibri" pitchFamily="34" charset="-120"/>
              </a:rPr>
              <a:t>1 flight</a:t>
            </a:r>
            <a:endParaRPr lang="en-US" sz="2600" dirty="0"/>
          </a:p>
        </p:txBody>
      </p:sp>
      <p:sp>
        <p:nvSpPr>
          <p:cNvPr id="18" name="Text 13"/>
          <p:cNvSpPr txBox="1"/>
          <p:nvPr/>
        </p:nvSpPr>
        <p:spPr>
          <a:xfrm>
            <a:off x="6309360" y="2788920"/>
            <a:ext cx="2148840" cy="640080"/>
          </a:xfrm>
          <a:prstGeom prst="rect">
            <a:avLst/>
          </a:prstGeom>
          <a:noFill/>
          <a:ln/>
        </p:spPr>
        <p:txBody>
          <a:bodyPr wrap="square" lIns="0" tIns="0" rIns="0" bIns="0" rtlCol="0" anchor="t"/>
          <a:lstStyle/>
          <a:p>
            <a:pPr algn="l" indent="0" marL="0">
              <a:lnSpc>
                <a:spcPct val="105000"/>
              </a:lnSpc>
              <a:buNone/>
            </a:pPr>
            <a:r>
              <a:rPr lang="en-US" sz="1100" dirty="0">
                <a:solidFill>
                  <a:srgbClr val="9FB8B2"/>
                </a:solidFill>
                <a:latin typeface="Calibri" pitchFamily="34" charset="0"/>
                <a:ea typeface="Calibri" pitchFamily="34" charset="-122"/>
                <a:cs typeface="Calibri" pitchFamily="34" charset="-120"/>
              </a:rPr>
              <a:t>a South Sudan buyer took to Nairobi to pay a Kenyan supplier in person</a:t>
            </a:r>
            <a:endParaRPr lang="en-US" sz="1100" dirty="0"/>
          </a:p>
        </p:txBody>
      </p:sp>
      <p:sp>
        <p:nvSpPr>
          <p:cNvPr id="19" name="Shape 14"/>
          <p:cNvSpPr/>
          <p:nvPr/>
        </p:nvSpPr>
        <p:spPr>
          <a:xfrm>
            <a:off x="457200" y="3657600"/>
            <a:ext cx="8229600" cy="868680"/>
          </a:xfrm>
          <a:prstGeom prst="roundRect">
            <a:avLst>
              <a:gd name="adj" fmla="val 8421"/>
            </a:avLst>
          </a:prstGeom>
          <a:solidFill>
            <a:srgbClr val="1E403D"/>
          </a:solidFill>
          <a:ln w="12700">
            <a:solidFill>
              <a:srgbClr val="1E403D"/>
            </a:solidFill>
            <a:prstDash val="solid"/>
          </a:ln>
        </p:spPr>
      </p:sp>
      <p:sp>
        <p:nvSpPr>
          <p:cNvPr id="20" name="Text 15"/>
          <p:cNvSpPr txBox="1"/>
          <p:nvPr/>
        </p:nvSpPr>
        <p:spPr>
          <a:xfrm>
            <a:off x="731520" y="3767328"/>
            <a:ext cx="7680960" cy="457200"/>
          </a:xfrm>
          <a:prstGeom prst="rect">
            <a:avLst/>
          </a:prstGeom>
          <a:noFill/>
          <a:ln/>
        </p:spPr>
        <p:txBody>
          <a:bodyPr wrap="square" lIns="0" tIns="0" rIns="0" bIns="0" rtlCol="0" anchor="t"/>
          <a:lstStyle/>
          <a:p>
            <a:pPr algn="l" indent="0" marL="0">
              <a:lnSpc>
                <a:spcPct val="105000"/>
              </a:lnSpc>
              <a:buNone/>
            </a:pPr>
            <a:r>
              <a:rPr lang="en-US" sz="1300" i="1" dirty="0">
                <a:solidFill>
                  <a:srgbClr val="F2F7F4"/>
                </a:solidFill>
                <a:latin typeface="Calibri" pitchFamily="34" charset="0"/>
                <a:ea typeface="Calibri" pitchFamily="34" charset="-122"/>
                <a:cs typeface="Calibri" pitchFamily="34" charset="-120"/>
              </a:rPr>
              <a:t>“Manufacturing does not start until payment lands. With a 14-day lead time, a five-day bank delay means stockouts.”</a:t>
            </a:r>
            <a:endParaRPr lang="en-US" sz="1300" dirty="0"/>
          </a:p>
        </p:txBody>
      </p:sp>
      <p:sp>
        <p:nvSpPr>
          <p:cNvPr id="21" name="Text 16"/>
          <p:cNvSpPr txBox="1"/>
          <p:nvPr/>
        </p:nvSpPr>
        <p:spPr>
          <a:xfrm>
            <a:off x="731520" y="4206240"/>
            <a:ext cx="7315200" cy="22860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Hardware importer, Nairobi. About 80% of imports from China.</a:t>
            </a:r>
            <a:endParaRPr lang="en-US" sz="1000" dirty="0"/>
          </a:p>
        </p:txBody>
      </p:sp>
      <p:sp>
        <p:nvSpPr>
          <p:cNvPr id="22" name="Text 17"/>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23" name="Text 18"/>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Five interviews. One pattern.</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Kenyan business owners moving money to China, Japan, the US, Europe and across Africa.</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417320"/>
                <a:gridCol w="1600200"/>
                <a:gridCol w="1554480"/>
                <a:gridCol w="2377440"/>
                <a:gridCol w="1280160"/>
              </a:tblGrid>
              <a:tr h="292608">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Business</a:t>
                      </a:r>
                      <a:endParaRPr lang="en-US" sz="100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Corridors</a:t>
                      </a:r>
                      <a:endParaRPr lang="en-US" sz="100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Ticket size</a:t>
                      </a:r>
                      <a:endParaRPr lang="en-US" sz="100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Pain today</a:t>
                      </a:r>
                      <a:endParaRPr lang="en-US" sz="100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Switch?</a:t>
                      </a:r>
                      <a:endParaRPr lang="en-US" sz="100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r>
              <a:tr h="457200">
                <a:tc>
                  <a:txBody>
                    <a:bodyPr/>
                    <a:lstStyle/>
                    <a:p>
                      <a:pPr indent="0" marL="0">
                        <a:buNone/>
                      </a:pPr>
                      <a:r>
                        <a:rPr lang="en-US" sz="950" b="1" dirty="0">
                          <a:solidFill>
                            <a:srgbClr val="F2F7F4"/>
                          </a:solidFill>
                          <a:latin typeface="Calibri" pitchFamily="34" charset="0"/>
                          <a:ea typeface="Calibri" pitchFamily="34" charset="-122"/>
                          <a:cs typeface="Calibri" pitchFamily="34" charset="-120"/>
                        </a:rPr>
                        <a:t>Hardware importer</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China 80%, UK, Dubai</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KES 300k to 2M+ per order</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4 to 5 days. 8 to 10% fees. Carries cash to a forex agent.</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Would switch “without thinking”</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r>
              <a:tr h="384048">
                <a:tc>
                  <a:txBody>
                    <a:bodyPr/>
                    <a:lstStyle/>
                    <a:p>
                      <a:pPr indent="0" marL="0">
                        <a:buNone/>
                      </a:pPr>
                      <a:r>
                        <a:rPr lang="en-US" sz="950" b="1" dirty="0">
                          <a:solidFill>
                            <a:srgbClr val="F2F7F4"/>
                          </a:solidFill>
                          <a:latin typeface="Calibri" pitchFamily="34" charset="0"/>
                          <a:ea typeface="Calibri" pitchFamily="34" charset="-122"/>
                          <a:cs typeface="Calibri" pitchFamily="34" charset="-120"/>
                        </a:rPr>
                        <a:t>Car importer</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Japan</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KES 0.9M to 1.2M, 5 per year</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12 to 24 hours. Cost unknown.</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Yes. Will refer a bigger importer</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r>
              <a:tr h="457200">
                <a:tc>
                  <a:txBody>
                    <a:bodyPr/>
                    <a:lstStyle/>
                    <a:p>
                      <a:pPr indent="0" marL="0">
                        <a:buNone/>
                      </a:pPr>
                      <a:r>
                        <a:rPr lang="en-US" sz="950" b="1" dirty="0">
                          <a:solidFill>
                            <a:srgbClr val="F2F7F4"/>
                          </a:solidFill>
                          <a:latin typeface="Calibri" pitchFamily="34" charset="0"/>
                          <a:ea typeface="Calibri" pitchFamily="34" charset="-122"/>
                          <a:cs typeface="Calibri" pitchFamily="34" charset="-120"/>
                        </a:rPr>
                        <a:t>Avocado exporter</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Europe, Middle East, Egypt</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USD 35k to 40k per shipment</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2 to 3 days in. AML paperwork delays. FX timing.</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Time is the main cost</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r>
              <a:tr h="457200">
                <a:tc>
                  <a:txBody>
                    <a:bodyPr/>
                    <a:lstStyle/>
                    <a:p>
                      <a:pPr indent="0" marL="0">
                        <a:buNone/>
                      </a:pPr>
                      <a:r>
                        <a:rPr lang="en-US" sz="950" b="1" dirty="0">
                          <a:solidFill>
                            <a:srgbClr val="F2F7F4"/>
                          </a:solidFill>
                          <a:latin typeface="Calibri" pitchFamily="34" charset="0"/>
                          <a:ea typeface="Calibri" pitchFamily="34" charset="-122"/>
                          <a:cs typeface="Calibri" pitchFamily="34" charset="-120"/>
                        </a:rPr>
                        <a:t>Electronics importer</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US 99%</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Weekly containers</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Solved with a StanChart USD account. Pain is on his customers' side.</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Yes, if better exists</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r>
              <a:tr h="384048">
                <a:tc>
                  <a:txBody>
                    <a:bodyPr/>
                    <a:lstStyle/>
                    <a:p>
                      <a:pPr indent="0" marL="0">
                        <a:buNone/>
                      </a:pPr>
                      <a:r>
                        <a:rPr lang="en-US" sz="950" b="1" dirty="0">
                          <a:solidFill>
                            <a:srgbClr val="F2F7F4"/>
                          </a:solidFill>
                          <a:latin typeface="Calibri" pitchFamily="34" charset="0"/>
                          <a:ea typeface="Calibri" pitchFamily="34" charset="-122"/>
                          <a:cs typeface="Calibri" pitchFamily="34" charset="-120"/>
                        </a:rPr>
                        <a:t>Cyber training (advisor)</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South Sudan, Nigeria, Sierra Leone</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Course fees</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Foreign buyers cannot pay Kenyan businesses.</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950" dirty="0">
                          <a:solidFill>
                            <a:srgbClr val="9FB8B2"/>
                          </a:solidFill>
                          <a:latin typeface="Calibri" pitchFamily="34" charset="0"/>
                          <a:ea typeface="Calibri" pitchFamily="34" charset="-122"/>
                          <a:cs typeface="Calibri" pitchFamily="34" charset="-120"/>
                        </a:rPr>
                        <a:t>Sees inbound demand</a:t>
                      </a:r>
                      <a:endParaRPr lang="en-US" sz="950" dirty="0">
                        <a:latin typeface="Calibri" charset="0"/>
                        <a:ea typeface="Calibri" charset="0"/>
                        <a:cs typeface="Calibri" charset="0"/>
                      </a:endParaRPr>
                    </a:p>
                  </a:txBody>
                  <a:tcPr marL="73152" marR="73152"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r>
            </a:tbl>
          </a:graphicData>
        </a:graphic>
      </p:graphicFrame>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6" name="Text 3"/>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One account. Pay out. Get paid.</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Meridian sits between the business's bank or mobile money and the rest of the world.</a:t>
            </a:r>
            <a:endParaRPr lang="en-US" sz="1400" dirty="0"/>
          </a:p>
        </p:txBody>
      </p:sp>
      <p:sp>
        <p:nvSpPr>
          <p:cNvPr id="4" name="Shape 2"/>
          <p:cNvSpPr/>
          <p:nvPr/>
        </p:nvSpPr>
        <p:spPr>
          <a:xfrm>
            <a:off x="457200" y="1508760"/>
            <a:ext cx="2606040" cy="2331720"/>
          </a:xfrm>
          <a:prstGeom prst="roundRect">
            <a:avLst>
              <a:gd name="adj" fmla="val 3137"/>
            </a:avLst>
          </a:prstGeom>
          <a:solidFill>
            <a:srgbClr val="173432"/>
          </a:solidFill>
          <a:ln w="12700">
            <a:solidFill>
              <a:srgbClr val="173432"/>
            </a:solidFill>
            <a:prstDash val="solid"/>
          </a:ln>
        </p:spPr>
      </p:sp>
      <p:sp>
        <p:nvSpPr>
          <p:cNvPr id="5" name="Shape 3"/>
          <p:cNvSpPr/>
          <p:nvPr/>
        </p:nvSpPr>
        <p:spPr>
          <a:xfrm>
            <a:off x="685800" y="1737360"/>
            <a:ext cx="457200" cy="457200"/>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95528" y="1847088"/>
            <a:ext cx="237744" cy="237744"/>
          </a:xfrm>
          <a:prstGeom prst="rect">
            <a:avLst/>
          </a:prstGeom>
        </p:spPr>
      </p:pic>
      <p:sp>
        <p:nvSpPr>
          <p:cNvPr id="7" name="Text 4"/>
          <p:cNvSpPr txBox="1"/>
          <p:nvPr/>
        </p:nvSpPr>
        <p:spPr>
          <a:xfrm>
            <a:off x="685800" y="2331720"/>
            <a:ext cx="2148840" cy="365760"/>
          </a:xfrm>
          <a:prstGeom prst="rect">
            <a:avLst/>
          </a:prstGeom>
          <a:noFill/>
          <a:ln/>
        </p:spPr>
        <p:txBody>
          <a:bodyPr wrap="square" lIns="0" tIns="0" rIns="0" bIns="0" rtlCol="0" anchor="t"/>
          <a:lstStyle/>
          <a:p>
            <a:pPr algn="l" indent="0" marL="0">
              <a:lnSpc>
                <a:spcPct val="105000"/>
              </a:lnSpc>
              <a:buNone/>
            </a:pPr>
            <a:r>
              <a:rPr lang="en-US" sz="1500" b="1" dirty="0">
                <a:solidFill>
                  <a:srgbClr val="F2F7F4"/>
                </a:solidFill>
                <a:latin typeface="Calibri" pitchFamily="34" charset="0"/>
                <a:ea typeface="Calibri" pitchFamily="34" charset="-122"/>
                <a:cs typeface="Calibri" pitchFamily="34" charset="-120"/>
              </a:rPr>
              <a:t>Pay a supplier abroad</a:t>
            </a:r>
            <a:endParaRPr lang="en-US" sz="1500" dirty="0"/>
          </a:p>
        </p:txBody>
      </p:sp>
      <p:sp>
        <p:nvSpPr>
          <p:cNvPr id="8" name="Text 5"/>
          <p:cNvSpPr txBox="1"/>
          <p:nvPr/>
        </p:nvSpPr>
        <p:spPr>
          <a:xfrm>
            <a:off x="685800" y="2724912"/>
            <a:ext cx="2148840" cy="1051560"/>
          </a:xfrm>
          <a:prstGeom prst="rect">
            <a:avLst/>
          </a:prstGeom>
          <a:noFill/>
          <a:ln/>
        </p:spPr>
        <p:txBody>
          <a:bodyPr wrap="square" lIns="0" tIns="0" rIns="0" bIns="0" rtlCol="0" anchor="t"/>
          <a:lstStyle/>
          <a:p>
            <a:pPr algn="l" indent="0" marL="0">
              <a:lnSpc>
                <a:spcPct val="115000"/>
              </a:lnSpc>
              <a:buNone/>
            </a:pPr>
            <a:r>
              <a:rPr lang="en-US" sz="1100" dirty="0">
                <a:solidFill>
                  <a:srgbClr val="9FB8B2"/>
                </a:solidFill>
                <a:latin typeface="Calibri" pitchFamily="34" charset="0"/>
                <a:ea typeface="Calibri" pitchFamily="34" charset="-122"/>
                <a:cs typeface="Calibri" pitchFamily="34" charset="-120"/>
              </a:rPr>
              <a:t>Pick the supplier. Enter the amount. See the partner fee, our 1% and exactly what they receive. Pay from M-Pesa or bank. Lands in minutes.</a:t>
            </a:r>
            <a:endParaRPr lang="en-US" sz="1100" dirty="0"/>
          </a:p>
        </p:txBody>
      </p:sp>
      <p:sp>
        <p:nvSpPr>
          <p:cNvPr id="9" name="Shape 6"/>
          <p:cNvSpPr/>
          <p:nvPr/>
        </p:nvSpPr>
        <p:spPr>
          <a:xfrm>
            <a:off x="3268980" y="1508760"/>
            <a:ext cx="2606040" cy="2331720"/>
          </a:xfrm>
          <a:prstGeom prst="roundRect">
            <a:avLst>
              <a:gd name="adj" fmla="val 3137"/>
            </a:avLst>
          </a:prstGeom>
          <a:solidFill>
            <a:srgbClr val="173432"/>
          </a:solidFill>
          <a:ln w="12700">
            <a:solidFill>
              <a:srgbClr val="173432"/>
            </a:solidFill>
            <a:prstDash val="solid"/>
          </a:ln>
        </p:spPr>
      </p:sp>
      <p:sp>
        <p:nvSpPr>
          <p:cNvPr id="10" name="Shape 7"/>
          <p:cNvSpPr/>
          <p:nvPr/>
        </p:nvSpPr>
        <p:spPr>
          <a:xfrm>
            <a:off x="3497580" y="1737360"/>
            <a:ext cx="457200" cy="457200"/>
          </a:xfrm>
          <a:prstGeom prst="ellipse">
            <a:avLst/>
          </a:prstGeom>
          <a:solidFill>
            <a:srgbClr val="E5C158"/>
          </a:solidFill>
          <a:ln w="12700">
            <a:solidFill>
              <a:srgbClr val="E5C158"/>
            </a:solidFill>
            <a:prstDash val="solid"/>
          </a:ln>
        </p:spPr>
      </p:sp>
      <p:pic>
        <p:nvPicPr>
          <p:cNvPr id="11" name="Image 1" descr="preencoded.png">    </p:cNvPr>
          <p:cNvPicPr>
            <a:picLocks noChangeAspect="1"/>
          </p:cNvPicPr>
          <p:nvPr/>
        </p:nvPicPr>
        <p:blipFill>
          <a:blip r:embed="rId2"/>
          <a:stretch>
            <a:fillRect/>
          </a:stretch>
        </p:blipFill>
        <p:spPr>
          <a:xfrm>
            <a:off x="3607308" y="1847088"/>
            <a:ext cx="237744" cy="237744"/>
          </a:xfrm>
          <a:prstGeom prst="rect">
            <a:avLst/>
          </a:prstGeom>
        </p:spPr>
      </p:pic>
      <p:sp>
        <p:nvSpPr>
          <p:cNvPr id="12" name="Text 8"/>
          <p:cNvSpPr txBox="1"/>
          <p:nvPr/>
        </p:nvSpPr>
        <p:spPr>
          <a:xfrm>
            <a:off x="3497580" y="2331720"/>
            <a:ext cx="2148840" cy="365760"/>
          </a:xfrm>
          <a:prstGeom prst="rect">
            <a:avLst/>
          </a:prstGeom>
          <a:noFill/>
          <a:ln/>
        </p:spPr>
        <p:txBody>
          <a:bodyPr wrap="square" lIns="0" tIns="0" rIns="0" bIns="0" rtlCol="0" anchor="t"/>
          <a:lstStyle/>
          <a:p>
            <a:pPr algn="l" indent="0" marL="0">
              <a:lnSpc>
                <a:spcPct val="105000"/>
              </a:lnSpc>
              <a:buNone/>
            </a:pPr>
            <a:r>
              <a:rPr lang="en-US" sz="1500" b="1" dirty="0">
                <a:solidFill>
                  <a:srgbClr val="F2F7F4"/>
                </a:solidFill>
                <a:latin typeface="Calibri" pitchFamily="34" charset="0"/>
                <a:ea typeface="Calibri" pitchFamily="34" charset="-122"/>
                <a:cs typeface="Calibri" pitchFamily="34" charset="-120"/>
              </a:rPr>
              <a:t>Get paid with a link</a:t>
            </a:r>
            <a:endParaRPr lang="en-US" sz="1500" dirty="0"/>
          </a:p>
        </p:txBody>
      </p:sp>
      <p:sp>
        <p:nvSpPr>
          <p:cNvPr id="13" name="Text 9"/>
          <p:cNvSpPr txBox="1"/>
          <p:nvPr/>
        </p:nvSpPr>
        <p:spPr>
          <a:xfrm>
            <a:off x="3497580" y="2724912"/>
            <a:ext cx="2148840" cy="1051560"/>
          </a:xfrm>
          <a:prstGeom prst="rect">
            <a:avLst/>
          </a:prstGeom>
          <a:noFill/>
          <a:ln/>
        </p:spPr>
        <p:txBody>
          <a:bodyPr wrap="square" lIns="0" tIns="0" rIns="0" bIns="0" rtlCol="0" anchor="t"/>
          <a:lstStyle/>
          <a:p>
            <a:pPr algn="l" indent="0" marL="0">
              <a:lnSpc>
                <a:spcPct val="115000"/>
              </a:lnSpc>
              <a:buNone/>
            </a:pPr>
            <a:r>
              <a:rPr lang="en-US" sz="1100" dirty="0">
                <a:solidFill>
                  <a:srgbClr val="9FB8B2"/>
                </a:solidFill>
                <a:latin typeface="Calibri" pitchFamily="34" charset="0"/>
                <a:ea typeface="Calibri" pitchFamily="34" charset="-122"/>
                <a:cs typeface="Calibri" pitchFamily="34" charset="-120"/>
              </a:rPr>
              <a:t>Create a payment link. The buyer in Germany or Juba pays by card, bank or mobile money. The business receives local currency.</a:t>
            </a:r>
            <a:endParaRPr lang="en-US" sz="1100" dirty="0"/>
          </a:p>
        </p:txBody>
      </p:sp>
      <p:sp>
        <p:nvSpPr>
          <p:cNvPr id="14" name="Shape 10"/>
          <p:cNvSpPr/>
          <p:nvPr/>
        </p:nvSpPr>
        <p:spPr>
          <a:xfrm>
            <a:off x="6080760" y="1508760"/>
            <a:ext cx="2606040" cy="2331720"/>
          </a:xfrm>
          <a:prstGeom prst="roundRect">
            <a:avLst>
              <a:gd name="adj" fmla="val 3137"/>
            </a:avLst>
          </a:prstGeom>
          <a:solidFill>
            <a:srgbClr val="173432"/>
          </a:solidFill>
          <a:ln w="12700">
            <a:solidFill>
              <a:srgbClr val="173432"/>
            </a:solidFill>
            <a:prstDash val="solid"/>
          </a:ln>
        </p:spPr>
      </p:sp>
      <p:sp>
        <p:nvSpPr>
          <p:cNvPr id="15" name="Shape 11"/>
          <p:cNvSpPr/>
          <p:nvPr/>
        </p:nvSpPr>
        <p:spPr>
          <a:xfrm>
            <a:off x="6309360" y="1737360"/>
            <a:ext cx="457200" cy="457200"/>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6419088" y="1847088"/>
            <a:ext cx="237744" cy="237744"/>
          </a:xfrm>
          <a:prstGeom prst="rect">
            <a:avLst/>
          </a:prstGeom>
        </p:spPr>
      </p:pic>
      <p:sp>
        <p:nvSpPr>
          <p:cNvPr id="17" name="Text 12"/>
          <p:cNvSpPr txBox="1"/>
          <p:nvPr/>
        </p:nvSpPr>
        <p:spPr>
          <a:xfrm>
            <a:off x="6309360" y="2331720"/>
            <a:ext cx="2148840" cy="365760"/>
          </a:xfrm>
          <a:prstGeom prst="rect">
            <a:avLst/>
          </a:prstGeom>
          <a:noFill/>
          <a:ln/>
        </p:spPr>
        <p:txBody>
          <a:bodyPr wrap="square" lIns="0" tIns="0" rIns="0" bIns="0" rtlCol="0" anchor="t"/>
          <a:lstStyle/>
          <a:p>
            <a:pPr algn="l" indent="0" marL="0">
              <a:lnSpc>
                <a:spcPct val="105000"/>
              </a:lnSpc>
              <a:buNone/>
            </a:pPr>
            <a:r>
              <a:rPr lang="en-US" sz="1500" b="1" dirty="0">
                <a:solidFill>
                  <a:srgbClr val="F2F7F4"/>
                </a:solidFill>
                <a:latin typeface="Calibri" pitchFamily="34" charset="0"/>
                <a:ea typeface="Calibri" pitchFamily="34" charset="-122"/>
                <a:cs typeface="Calibri" pitchFamily="34" charset="-120"/>
              </a:rPr>
              <a:t>Checkout on your site</a:t>
            </a:r>
            <a:endParaRPr lang="en-US" sz="1500" dirty="0"/>
          </a:p>
        </p:txBody>
      </p:sp>
      <p:sp>
        <p:nvSpPr>
          <p:cNvPr id="18" name="Text 13"/>
          <p:cNvSpPr txBox="1"/>
          <p:nvPr/>
        </p:nvSpPr>
        <p:spPr>
          <a:xfrm>
            <a:off x="6309360" y="2724912"/>
            <a:ext cx="2148840" cy="1051560"/>
          </a:xfrm>
          <a:prstGeom prst="rect">
            <a:avLst/>
          </a:prstGeom>
          <a:noFill/>
          <a:ln/>
        </p:spPr>
        <p:txBody>
          <a:bodyPr wrap="square" lIns="0" tIns="0" rIns="0" bIns="0" rtlCol="0" anchor="t"/>
          <a:lstStyle/>
          <a:p>
            <a:pPr algn="l" indent="0" marL="0">
              <a:lnSpc>
                <a:spcPct val="115000"/>
              </a:lnSpc>
              <a:buNone/>
            </a:pPr>
            <a:r>
              <a:rPr lang="en-US" sz="1100" dirty="0">
                <a:solidFill>
                  <a:srgbClr val="9FB8B2"/>
                </a:solidFill>
                <a:latin typeface="Calibri" pitchFamily="34" charset="0"/>
                <a:ea typeface="Calibri" pitchFamily="34" charset="-122"/>
                <a:cs typeface="Calibri" pitchFamily="34" charset="-120"/>
              </a:rPr>
              <a:t>One script tag. A Pay with Meridian button opens the same hosted page. No plugin, no SDK.</a:t>
            </a:r>
            <a:endParaRPr lang="en-US" sz="1100" dirty="0"/>
          </a:p>
        </p:txBody>
      </p:sp>
      <p:sp>
        <p:nvSpPr>
          <p:cNvPr id="19" name="Text 14"/>
          <p:cNvSpPr txBox="1"/>
          <p:nvPr/>
        </p:nvSpPr>
        <p:spPr>
          <a:xfrm>
            <a:off x="457200" y="4023360"/>
            <a:ext cx="8229600" cy="457200"/>
          </a:xfrm>
          <a:prstGeom prst="rect">
            <a:avLst/>
          </a:prstGeom>
          <a:noFill/>
          <a:ln/>
        </p:spPr>
        <p:txBody>
          <a:bodyPr wrap="square" lIns="0" tIns="0" rIns="0" bIns="0" rtlCol="0" anchor="t"/>
          <a:lstStyle/>
          <a:p>
            <a:pPr algn="l" indent="0" marL="0">
              <a:lnSpc>
                <a:spcPct val="105000"/>
              </a:lnSpc>
              <a:buNone/>
            </a:pPr>
            <a:r>
              <a:rPr lang="en-US" sz="1200" i="1" dirty="0">
                <a:solidFill>
                  <a:srgbClr val="9FB8B2"/>
                </a:solidFill>
                <a:latin typeface="Calibri" pitchFamily="34" charset="0"/>
                <a:ea typeface="Calibri" pitchFamily="34" charset="-122"/>
                <a:cs typeface="Calibri" pitchFamily="34" charset="-120"/>
              </a:rPr>
              <a:t>Meridian never holds funds. Licensed, regulated partners collect, convert and pay out. We build the software and check every transaction.</a:t>
            </a:r>
            <a:endParaRPr lang="en-US" sz="1200" dirty="0"/>
          </a:p>
        </p:txBody>
      </p:sp>
      <p:sp>
        <p:nvSpPr>
          <p:cNvPr id="20" name="Text 15"/>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21" name="Text 16"/>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How it works</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Software and compliance are ours. Money movement belongs to licensed partners.</a:t>
            </a:r>
            <a:endParaRPr lang="en-US" sz="1400" dirty="0"/>
          </a:p>
        </p:txBody>
      </p:sp>
      <p:sp>
        <p:nvSpPr>
          <p:cNvPr id="4" name="Shape 2"/>
          <p:cNvSpPr/>
          <p:nvPr/>
        </p:nvSpPr>
        <p:spPr>
          <a:xfrm>
            <a:off x="457200" y="1554480"/>
            <a:ext cx="5120640" cy="640080"/>
          </a:xfrm>
          <a:prstGeom prst="roundRect">
            <a:avLst>
              <a:gd name="adj" fmla="val 8571"/>
            </a:avLst>
          </a:prstGeom>
          <a:solidFill>
            <a:srgbClr val="1E403D"/>
          </a:solidFill>
          <a:ln w="12700">
            <a:solidFill>
              <a:srgbClr val="1E403D"/>
            </a:solidFill>
            <a:prstDash val="solid"/>
          </a:ln>
        </p:spPr>
      </p:sp>
      <p:sp>
        <p:nvSpPr>
          <p:cNvPr id="5" name="Text 3"/>
          <p:cNvSpPr txBox="1"/>
          <p:nvPr/>
        </p:nvSpPr>
        <p:spPr>
          <a:xfrm>
            <a:off x="640080" y="1645920"/>
            <a:ext cx="1463040" cy="457200"/>
          </a:xfrm>
          <a:prstGeom prst="rect">
            <a:avLst/>
          </a:prstGeom>
          <a:noFill/>
          <a:ln/>
        </p:spPr>
        <p:txBody>
          <a:bodyPr wrap="square" lIns="0" tIns="0" rIns="0" bIns="0" rtlCol="0" anchor="ctr"/>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BUSINESS</a:t>
            </a:r>
            <a:endParaRPr lang="en-US" sz="1000" dirty="0"/>
          </a:p>
        </p:txBody>
      </p:sp>
      <p:sp>
        <p:nvSpPr>
          <p:cNvPr id="6" name="Text 4"/>
          <p:cNvSpPr txBox="1"/>
          <p:nvPr/>
        </p:nvSpPr>
        <p:spPr>
          <a:xfrm>
            <a:off x="2103120" y="1645920"/>
            <a:ext cx="3383280" cy="457200"/>
          </a:xfrm>
          <a:prstGeom prst="rect">
            <a:avLst/>
          </a:prstGeom>
          <a:noFill/>
          <a:ln/>
        </p:spPr>
        <p:txBody>
          <a:bodyPr wrap="square" lIns="0" tIns="0" rIns="0" bIns="0" rtlCol="0" anchor="ctr"/>
          <a:lstStyle/>
          <a:p>
            <a:pPr algn="l" indent="0" marL="0">
              <a:lnSpc>
                <a:spcPct val="105000"/>
              </a:lnSpc>
              <a:buNone/>
            </a:pPr>
            <a:r>
              <a:rPr lang="en-US" sz="950" dirty="0">
                <a:solidFill>
                  <a:srgbClr val="F2F7F4"/>
                </a:solidFill>
                <a:latin typeface="Calibri" pitchFamily="34" charset="0"/>
                <a:ea typeface="Calibri" pitchFamily="34" charset="-122"/>
                <a:cs typeface="Calibri" pitchFamily="34" charset="-120"/>
              </a:rPr>
              <a:t>Kenyan importer or exporter   ·   M-Pesa or bank account</a:t>
            </a:r>
            <a:endParaRPr lang="en-US" sz="950" dirty="0"/>
          </a:p>
        </p:txBody>
      </p:sp>
      <p:sp>
        <p:nvSpPr>
          <p:cNvPr id="7" name="Shape 5"/>
          <p:cNvSpPr/>
          <p:nvPr/>
        </p:nvSpPr>
        <p:spPr>
          <a:xfrm>
            <a:off x="457200" y="2331720"/>
            <a:ext cx="5120640" cy="640080"/>
          </a:xfrm>
          <a:prstGeom prst="roundRect">
            <a:avLst>
              <a:gd name="adj" fmla="val 8571"/>
            </a:avLst>
          </a:prstGeom>
          <a:solidFill>
            <a:srgbClr val="3ECFA0"/>
          </a:solidFill>
          <a:ln w="12700">
            <a:solidFill>
              <a:srgbClr val="3ECFA0"/>
            </a:solidFill>
            <a:prstDash val="solid"/>
          </a:ln>
        </p:spPr>
      </p:sp>
      <p:sp>
        <p:nvSpPr>
          <p:cNvPr id="8" name="Text 6"/>
          <p:cNvSpPr txBox="1"/>
          <p:nvPr/>
        </p:nvSpPr>
        <p:spPr>
          <a:xfrm>
            <a:off x="640080" y="2423160"/>
            <a:ext cx="1463040" cy="457200"/>
          </a:xfrm>
          <a:prstGeom prst="rect">
            <a:avLst/>
          </a:prstGeom>
          <a:noFill/>
          <a:ln/>
        </p:spPr>
        <p:txBody>
          <a:bodyPr wrap="square" lIns="0" tIns="0" rIns="0" bIns="0" rtlCol="0" anchor="ctr"/>
          <a:lstStyle/>
          <a:p>
            <a:pPr algn="l" indent="0" marL="0">
              <a:lnSpc>
                <a:spcPct val="105000"/>
              </a:lnSpc>
              <a:buNone/>
            </a:pPr>
            <a:r>
              <a:rPr lang="en-US" sz="1000" b="1" dirty="0">
                <a:solidFill>
                  <a:srgbClr val="0B1A19"/>
                </a:solidFill>
                <a:latin typeface="Calibri" pitchFamily="34" charset="0"/>
                <a:ea typeface="Calibri" pitchFamily="34" charset="-122"/>
                <a:cs typeface="Calibri" pitchFamily="34" charset="-120"/>
              </a:rPr>
              <a:t>MERIDIAN</a:t>
            </a:r>
            <a:endParaRPr lang="en-US" sz="1000" dirty="0"/>
          </a:p>
        </p:txBody>
      </p:sp>
      <p:sp>
        <p:nvSpPr>
          <p:cNvPr id="9" name="Text 7"/>
          <p:cNvSpPr txBox="1"/>
          <p:nvPr/>
        </p:nvSpPr>
        <p:spPr>
          <a:xfrm>
            <a:off x="2103120" y="2423160"/>
            <a:ext cx="3383280" cy="457200"/>
          </a:xfrm>
          <a:prstGeom prst="rect">
            <a:avLst/>
          </a:prstGeom>
          <a:noFill/>
          <a:ln/>
        </p:spPr>
        <p:txBody>
          <a:bodyPr wrap="square" lIns="0" tIns="0" rIns="0" bIns="0" rtlCol="0" anchor="ctr"/>
          <a:lstStyle/>
          <a:p>
            <a:pPr algn="l" indent="0" marL="0">
              <a:lnSpc>
                <a:spcPct val="105000"/>
              </a:lnSpc>
              <a:buNone/>
            </a:pPr>
            <a:r>
              <a:rPr lang="en-US" sz="950" dirty="0">
                <a:solidFill>
                  <a:srgbClr val="0B1A19"/>
                </a:solidFill>
                <a:latin typeface="Calibri" pitchFamily="34" charset="0"/>
                <a:ea typeface="Calibri" pitchFamily="34" charset="-122"/>
                <a:cs typeface="Calibri" pitchFamily="34" charset="-120"/>
              </a:rPr>
              <a:t>Onboarding and tiered KYB   ·   AML rules on every transaction   ·   Quotes, links, checkout, receipts</a:t>
            </a:r>
            <a:endParaRPr lang="en-US" sz="950" dirty="0"/>
          </a:p>
        </p:txBody>
      </p:sp>
      <p:sp>
        <p:nvSpPr>
          <p:cNvPr id="10" name="Shape 8"/>
          <p:cNvSpPr/>
          <p:nvPr/>
        </p:nvSpPr>
        <p:spPr>
          <a:xfrm>
            <a:off x="457200" y="3108960"/>
            <a:ext cx="5120640" cy="640080"/>
          </a:xfrm>
          <a:prstGeom prst="roundRect">
            <a:avLst>
              <a:gd name="adj" fmla="val 8571"/>
            </a:avLst>
          </a:prstGeom>
          <a:solidFill>
            <a:srgbClr val="1E403D"/>
          </a:solidFill>
          <a:ln w="12700">
            <a:solidFill>
              <a:srgbClr val="1E403D"/>
            </a:solidFill>
            <a:prstDash val="solid"/>
          </a:ln>
        </p:spPr>
      </p:sp>
      <p:sp>
        <p:nvSpPr>
          <p:cNvPr id="11" name="Text 9"/>
          <p:cNvSpPr txBox="1"/>
          <p:nvPr/>
        </p:nvSpPr>
        <p:spPr>
          <a:xfrm>
            <a:off x="640080" y="3200400"/>
            <a:ext cx="1463040" cy="457200"/>
          </a:xfrm>
          <a:prstGeom prst="rect">
            <a:avLst/>
          </a:prstGeom>
          <a:noFill/>
          <a:ln/>
        </p:spPr>
        <p:txBody>
          <a:bodyPr wrap="square" lIns="0" tIns="0" rIns="0" bIns="0" rtlCol="0" anchor="ctr"/>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LICENSED PARTNERS</a:t>
            </a:r>
            <a:endParaRPr lang="en-US" sz="1000" dirty="0"/>
          </a:p>
        </p:txBody>
      </p:sp>
      <p:sp>
        <p:nvSpPr>
          <p:cNvPr id="12" name="Text 10"/>
          <p:cNvSpPr txBox="1"/>
          <p:nvPr/>
        </p:nvSpPr>
        <p:spPr>
          <a:xfrm>
            <a:off x="2103120" y="3200400"/>
            <a:ext cx="3383280" cy="457200"/>
          </a:xfrm>
          <a:prstGeom prst="rect">
            <a:avLst/>
          </a:prstGeom>
          <a:noFill/>
          <a:ln/>
        </p:spPr>
        <p:txBody>
          <a:bodyPr wrap="square" lIns="0" tIns="0" rIns="0" bIns="0" rtlCol="0" anchor="ctr"/>
          <a:lstStyle/>
          <a:p>
            <a:pPr algn="l" indent="0" marL="0">
              <a:lnSpc>
                <a:spcPct val="105000"/>
              </a:lnSpc>
              <a:buNone/>
            </a:pPr>
            <a:r>
              <a:rPr lang="en-US" sz="950" dirty="0">
                <a:solidFill>
                  <a:srgbClr val="F2F7F4"/>
                </a:solidFill>
                <a:latin typeface="Calibri" pitchFamily="34" charset="0"/>
                <a:ea typeface="Calibri" pitchFamily="34" charset="-122"/>
                <a:cs typeface="Calibri" pitchFamily="34" charset="-120"/>
              </a:rPr>
              <a:t>Kotani Pay: Africa collections and payouts, EUR   ·   Klasha: China (Alipay, UnionPay, bank), global wires</a:t>
            </a:r>
            <a:endParaRPr lang="en-US" sz="950" dirty="0"/>
          </a:p>
        </p:txBody>
      </p:sp>
      <p:sp>
        <p:nvSpPr>
          <p:cNvPr id="13" name="Shape 11"/>
          <p:cNvSpPr/>
          <p:nvPr/>
        </p:nvSpPr>
        <p:spPr>
          <a:xfrm>
            <a:off x="457200" y="3886200"/>
            <a:ext cx="5120640" cy="640080"/>
          </a:xfrm>
          <a:prstGeom prst="roundRect">
            <a:avLst>
              <a:gd name="adj" fmla="val 8571"/>
            </a:avLst>
          </a:prstGeom>
          <a:solidFill>
            <a:srgbClr val="173432"/>
          </a:solidFill>
          <a:ln w="12700">
            <a:solidFill>
              <a:srgbClr val="173432"/>
            </a:solidFill>
            <a:prstDash val="solid"/>
          </a:ln>
        </p:spPr>
      </p:sp>
      <p:sp>
        <p:nvSpPr>
          <p:cNvPr id="14" name="Text 12"/>
          <p:cNvSpPr txBox="1"/>
          <p:nvPr/>
        </p:nvSpPr>
        <p:spPr>
          <a:xfrm>
            <a:off x="640080" y="3977640"/>
            <a:ext cx="1463040" cy="457200"/>
          </a:xfrm>
          <a:prstGeom prst="rect">
            <a:avLst/>
          </a:prstGeom>
          <a:noFill/>
          <a:ln/>
        </p:spPr>
        <p:txBody>
          <a:bodyPr wrap="square" lIns="0" tIns="0" rIns="0" bIns="0" rtlCol="0" anchor="ctr"/>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RECIPIENT</a:t>
            </a:r>
            <a:endParaRPr lang="en-US" sz="1000" dirty="0"/>
          </a:p>
        </p:txBody>
      </p:sp>
      <p:sp>
        <p:nvSpPr>
          <p:cNvPr id="15" name="Text 13"/>
          <p:cNvSpPr txBox="1"/>
          <p:nvPr/>
        </p:nvSpPr>
        <p:spPr>
          <a:xfrm>
            <a:off x="2103120" y="3977640"/>
            <a:ext cx="3383280" cy="457200"/>
          </a:xfrm>
          <a:prstGeom prst="rect">
            <a:avLst/>
          </a:prstGeom>
          <a:noFill/>
          <a:ln/>
        </p:spPr>
        <p:txBody>
          <a:bodyPr wrap="square" lIns="0" tIns="0" rIns="0" bIns="0" rtlCol="0" anchor="ctr"/>
          <a:lstStyle/>
          <a:p>
            <a:pPr algn="l" indent="0" marL="0">
              <a:lnSpc>
                <a:spcPct val="105000"/>
              </a:lnSpc>
              <a:buNone/>
            </a:pPr>
            <a:r>
              <a:rPr lang="en-US" sz="950" dirty="0">
                <a:solidFill>
                  <a:srgbClr val="F2F7F4"/>
                </a:solidFill>
                <a:latin typeface="Calibri" pitchFamily="34" charset="0"/>
                <a:ea typeface="Calibri" pitchFamily="34" charset="-122"/>
                <a:cs typeface="Calibri" pitchFamily="34" charset="-120"/>
              </a:rPr>
              <a:t>Supplier in Shenzhen, Accra, Dubai or Hamburg   ·   Local currency in their own account</a:t>
            </a:r>
            <a:endParaRPr lang="en-US" sz="950" dirty="0"/>
          </a:p>
        </p:txBody>
      </p:sp>
      <p:sp>
        <p:nvSpPr>
          <p:cNvPr id="16" name="Shape 14"/>
          <p:cNvSpPr/>
          <p:nvPr/>
        </p:nvSpPr>
        <p:spPr>
          <a:xfrm>
            <a:off x="2926080" y="2176272"/>
            <a:ext cx="182880" cy="173736"/>
          </a:xfrm>
          <a:prstGeom prst="downArrow">
            <a:avLst/>
          </a:prstGeom>
          <a:solidFill>
            <a:srgbClr val="9FB8B2"/>
          </a:solidFill>
          <a:ln w="12700">
            <a:solidFill>
              <a:srgbClr val="9FB8B2"/>
            </a:solidFill>
            <a:prstDash val="solid"/>
          </a:ln>
        </p:spPr>
      </p:sp>
      <p:sp>
        <p:nvSpPr>
          <p:cNvPr id="17" name="Shape 15"/>
          <p:cNvSpPr/>
          <p:nvPr/>
        </p:nvSpPr>
        <p:spPr>
          <a:xfrm>
            <a:off x="2926080" y="2953512"/>
            <a:ext cx="182880" cy="173736"/>
          </a:xfrm>
          <a:prstGeom prst="downArrow">
            <a:avLst/>
          </a:prstGeom>
          <a:solidFill>
            <a:srgbClr val="9FB8B2"/>
          </a:solidFill>
          <a:ln w="12700">
            <a:solidFill>
              <a:srgbClr val="9FB8B2"/>
            </a:solidFill>
            <a:prstDash val="solid"/>
          </a:ln>
        </p:spPr>
      </p:sp>
      <p:sp>
        <p:nvSpPr>
          <p:cNvPr id="18" name="Shape 16"/>
          <p:cNvSpPr/>
          <p:nvPr/>
        </p:nvSpPr>
        <p:spPr>
          <a:xfrm>
            <a:off x="2926080" y="3730752"/>
            <a:ext cx="182880" cy="173736"/>
          </a:xfrm>
          <a:prstGeom prst="downArrow">
            <a:avLst/>
          </a:prstGeom>
          <a:solidFill>
            <a:srgbClr val="9FB8B2"/>
          </a:solidFill>
          <a:ln w="12700">
            <a:solidFill>
              <a:srgbClr val="9FB8B2"/>
            </a:solidFill>
            <a:prstDash val="solid"/>
          </a:ln>
        </p:spPr>
      </p:sp>
      <p:sp>
        <p:nvSpPr>
          <p:cNvPr id="19" name="Shape 17"/>
          <p:cNvSpPr/>
          <p:nvPr/>
        </p:nvSpPr>
        <p:spPr>
          <a:xfrm>
            <a:off x="5943600" y="1554480"/>
            <a:ext cx="384048" cy="384048"/>
          </a:xfrm>
          <a:prstGeom prst="ellipse">
            <a:avLst/>
          </a:prstGeom>
          <a:solidFill>
            <a:srgbClr val="E5C158"/>
          </a:solidFill>
          <a:ln w="12700">
            <a:solidFill>
              <a:srgbClr val="E5C158"/>
            </a:solidFill>
            <a:prstDash val="solid"/>
          </a:ln>
        </p:spPr>
      </p:sp>
      <p:sp>
        <p:nvSpPr>
          <p:cNvPr id="20" name="Text 18"/>
          <p:cNvSpPr txBox="1"/>
          <p:nvPr/>
        </p:nvSpPr>
        <p:spPr>
          <a:xfrm>
            <a:off x="5943600" y="1554480"/>
            <a:ext cx="384048" cy="384048"/>
          </a:xfrm>
          <a:prstGeom prst="rect">
            <a:avLst/>
          </a:prstGeom>
          <a:noFill/>
          <a:ln/>
        </p:spPr>
        <p:txBody>
          <a:bodyPr wrap="square" lIns="0" tIns="0" rIns="0" bIns="0" rtlCol="0" anchor="ctr"/>
          <a:lstStyle/>
          <a:p>
            <a:pPr algn="ctr" indent="0" marL="0">
              <a:lnSpc>
                <a:spcPct val="105000"/>
              </a:lnSpc>
              <a:buNone/>
            </a:pPr>
            <a:r>
              <a:rPr lang="en-US" sz="1400" b="1" dirty="0">
                <a:solidFill>
                  <a:srgbClr val="0B1A19"/>
                </a:solidFill>
                <a:latin typeface="Calibri" pitchFamily="34" charset="0"/>
                <a:ea typeface="Calibri" pitchFamily="34" charset="-122"/>
                <a:cs typeface="Calibri" pitchFamily="34" charset="-120"/>
              </a:rPr>
              <a:t>1</a:t>
            </a:r>
            <a:endParaRPr lang="en-US" sz="1400" dirty="0"/>
          </a:p>
        </p:txBody>
      </p:sp>
      <p:sp>
        <p:nvSpPr>
          <p:cNvPr id="21" name="Text 19"/>
          <p:cNvSpPr txBox="1"/>
          <p:nvPr/>
        </p:nvSpPr>
        <p:spPr>
          <a:xfrm>
            <a:off x="6446520" y="1536192"/>
            <a:ext cx="2240280" cy="274320"/>
          </a:xfrm>
          <a:prstGeom prst="rect">
            <a:avLst/>
          </a:prstGeom>
          <a:noFill/>
          <a:ln/>
        </p:spPr>
        <p:txBody>
          <a:bodyPr wrap="square" lIns="0" tIns="0" rIns="0" bIns="0" rtlCol="0" anchor="t"/>
          <a:lstStyle/>
          <a:p>
            <a:pPr algn="l" indent="0" marL="0">
              <a:lnSpc>
                <a:spcPct val="105000"/>
              </a:lnSpc>
              <a:buNone/>
            </a:pPr>
            <a:r>
              <a:rPr lang="en-US" sz="1400" b="1" dirty="0">
                <a:solidFill>
                  <a:srgbClr val="F2F7F4"/>
                </a:solidFill>
                <a:latin typeface="Calibri" pitchFamily="34" charset="0"/>
                <a:ea typeface="Calibri" pitchFamily="34" charset="-122"/>
                <a:cs typeface="Calibri" pitchFamily="34" charset="-120"/>
              </a:rPr>
              <a:t>Register</a:t>
            </a:r>
            <a:endParaRPr lang="en-US" sz="1400" dirty="0"/>
          </a:p>
        </p:txBody>
      </p:sp>
      <p:sp>
        <p:nvSpPr>
          <p:cNvPr id="22" name="Text 20"/>
          <p:cNvSpPr txBox="1"/>
          <p:nvPr/>
        </p:nvSpPr>
        <p:spPr>
          <a:xfrm>
            <a:off x="6446520" y="1828800"/>
            <a:ext cx="2240280" cy="594360"/>
          </a:xfrm>
          <a:prstGeom prst="rect">
            <a:avLst/>
          </a:prstGeom>
          <a:noFill/>
          <a:ln/>
        </p:spPr>
        <p:txBody>
          <a:bodyPr wrap="square" lIns="0" tIns="0" rIns="0" bIns="0" rtlCol="0" anchor="t"/>
          <a:lstStyle/>
          <a:p>
            <a:pPr algn="l" indent="0" marL="0">
              <a:lnSpc>
                <a:spcPct val="115000"/>
              </a:lnSpc>
              <a:buNone/>
            </a:pPr>
            <a:r>
              <a:rPr lang="en-US" sz="1050" dirty="0">
                <a:solidFill>
                  <a:srgbClr val="9FB8B2"/>
                </a:solidFill>
                <a:latin typeface="Calibri" pitchFamily="34" charset="0"/>
                <a:ea typeface="Calibri" pitchFamily="34" charset="-122"/>
                <a:cs typeface="Calibri" pitchFamily="34" charset="-120"/>
              </a:rPr>
              <a:t>Registration certificate and a director's ID. Small payments the same day.</a:t>
            </a:r>
            <a:endParaRPr lang="en-US" sz="1050" dirty="0"/>
          </a:p>
        </p:txBody>
      </p:sp>
      <p:sp>
        <p:nvSpPr>
          <p:cNvPr id="23" name="Shape 21"/>
          <p:cNvSpPr/>
          <p:nvPr/>
        </p:nvSpPr>
        <p:spPr>
          <a:xfrm>
            <a:off x="5943600" y="2542032"/>
            <a:ext cx="384048" cy="384048"/>
          </a:xfrm>
          <a:prstGeom prst="ellipse">
            <a:avLst/>
          </a:prstGeom>
          <a:solidFill>
            <a:srgbClr val="E5C158"/>
          </a:solidFill>
          <a:ln w="12700">
            <a:solidFill>
              <a:srgbClr val="E5C158"/>
            </a:solidFill>
            <a:prstDash val="solid"/>
          </a:ln>
        </p:spPr>
      </p:sp>
      <p:sp>
        <p:nvSpPr>
          <p:cNvPr id="24" name="Text 22"/>
          <p:cNvSpPr txBox="1"/>
          <p:nvPr/>
        </p:nvSpPr>
        <p:spPr>
          <a:xfrm>
            <a:off x="5943600" y="2542032"/>
            <a:ext cx="384048" cy="384048"/>
          </a:xfrm>
          <a:prstGeom prst="rect">
            <a:avLst/>
          </a:prstGeom>
          <a:noFill/>
          <a:ln/>
        </p:spPr>
        <p:txBody>
          <a:bodyPr wrap="square" lIns="0" tIns="0" rIns="0" bIns="0" rtlCol="0" anchor="ctr"/>
          <a:lstStyle/>
          <a:p>
            <a:pPr algn="ctr" indent="0" marL="0">
              <a:lnSpc>
                <a:spcPct val="105000"/>
              </a:lnSpc>
              <a:buNone/>
            </a:pPr>
            <a:r>
              <a:rPr lang="en-US" sz="1400" b="1" dirty="0">
                <a:solidFill>
                  <a:srgbClr val="0B1A19"/>
                </a:solidFill>
                <a:latin typeface="Calibri" pitchFamily="34" charset="0"/>
                <a:ea typeface="Calibri" pitchFamily="34" charset="-122"/>
                <a:cs typeface="Calibri" pitchFamily="34" charset="-120"/>
              </a:rPr>
              <a:t>2</a:t>
            </a:r>
            <a:endParaRPr lang="en-US" sz="1400" dirty="0"/>
          </a:p>
        </p:txBody>
      </p:sp>
      <p:sp>
        <p:nvSpPr>
          <p:cNvPr id="25" name="Text 23"/>
          <p:cNvSpPr txBox="1"/>
          <p:nvPr/>
        </p:nvSpPr>
        <p:spPr>
          <a:xfrm>
            <a:off x="6446520" y="2523744"/>
            <a:ext cx="2240280" cy="274320"/>
          </a:xfrm>
          <a:prstGeom prst="rect">
            <a:avLst/>
          </a:prstGeom>
          <a:noFill/>
          <a:ln/>
        </p:spPr>
        <p:txBody>
          <a:bodyPr wrap="square" lIns="0" tIns="0" rIns="0" bIns="0" rtlCol="0" anchor="t"/>
          <a:lstStyle/>
          <a:p>
            <a:pPr algn="l" indent="0" marL="0">
              <a:lnSpc>
                <a:spcPct val="105000"/>
              </a:lnSpc>
              <a:buNone/>
            </a:pPr>
            <a:r>
              <a:rPr lang="en-US" sz="1400" b="1" dirty="0">
                <a:solidFill>
                  <a:srgbClr val="F2F7F4"/>
                </a:solidFill>
                <a:latin typeface="Calibri" pitchFamily="34" charset="0"/>
                <a:ea typeface="Calibri" pitchFamily="34" charset="-122"/>
                <a:cs typeface="Calibri" pitchFamily="34" charset="-120"/>
              </a:rPr>
              <a:t>Pay or request</a:t>
            </a:r>
            <a:endParaRPr lang="en-US" sz="1400" dirty="0"/>
          </a:p>
        </p:txBody>
      </p:sp>
      <p:sp>
        <p:nvSpPr>
          <p:cNvPr id="26" name="Text 24"/>
          <p:cNvSpPr txBox="1"/>
          <p:nvPr/>
        </p:nvSpPr>
        <p:spPr>
          <a:xfrm>
            <a:off x="6446520" y="2816352"/>
            <a:ext cx="2240280" cy="594360"/>
          </a:xfrm>
          <a:prstGeom prst="rect">
            <a:avLst/>
          </a:prstGeom>
          <a:noFill/>
          <a:ln/>
        </p:spPr>
        <p:txBody>
          <a:bodyPr wrap="square" lIns="0" tIns="0" rIns="0" bIns="0" rtlCol="0" anchor="t"/>
          <a:lstStyle/>
          <a:p>
            <a:pPr algn="l" indent="0" marL="0">
              <a:lnSpc>
                <a:spcPct val="115000"/>
              </a:lnSpc>
              <a:buNone/>
            </a:pPr>
            <a:r>
              <a:rPr lang="en-US" sz="1050" dirty="0">
                <a:solidFill>
                  <a:srgbClr val="9FB8B2"/>
                </a:solidFill>
                <a:latin typeface="Calibri" pitchFamily="34" charset="0"/>
                <a:ea typeface="Calibri" pitchFamily="34" charset="-122"/>
                <a:cs typeface="Calibri" pitchFamily="34" charset="-120"/>
              </a:rPr>
              <a:t>See partner fee, Meridian 1%, and the amount received before confirming.</a:t>
            </a:r>
            <a:endParaRPr lang="en-US" sz="1050" dirty="0"/>
          </a:p>
        </p:txBody>
      </p:sp>
      <p:sp>
        <p:nvSpPr>
          <p:cNvPr id="27" name="Shape 25"/>
          <p:cNvSpPr/>
          <p:nvPr/>
        </p:nvSpPr>
        <p:spPr>
          <a:xfrm>
            <a:off x="5943600" y="3529584"/>
            <a:ext cx="384048" cy="384048"/>
          </a:xfrm>
          <a:prstGeom prst="ellipse">
            <a:avLst/>
          </a:prstGeom>
          <a:solidFill>
            <a:srgbClr val="E5C158"/>
          </a:solidFill>
          <a:ln w="12700">
            <a:solidFill>
              <a:srgbClr val="E5C158"/>
            </a:solidFill>
            <a:prstDash val="solid"/>
          </a:ln>
        </p:spPr>
      </p:sp>
      <p:sp>
        <p:nvSpPr>
          <p:cNvPr id="28" name="Text 26"/>
          <p:cNvSpPr txBox="1"/>
          <p:nvPr/>
        </p:nvSpPr>
        <p:spPr>
          <a:xfrm>
            <a:off x="5943600" y="3529584"/>
            <a:ext cx="384048" cy="384048"/>
          </a:xfrm>
          <a:prstGeom prst="rect">
            <a:avLst/>
          </a:prstGeom>
          <a:noFill/>
          <a:ln/>
        </p:spPr>
        <p:txBody>
          <a:bodyPr wrap="square" lIns="0" tIns="0" rIns="0" bIns="0" rtlCol="0" anchor="ctr"/>
          <a:lstStyle/>
          <a:p>
            <a:pPr algn="ctr" indent="0" marL="0">
              <a:lnSpc>
                <a:spcPct val="105000"/>
              </a:lnSpc>
              <a:buNone/>
            </a:pPr>
            <a:r>
              <a:rPr lang="en-US" sz="1400" b="1" dirty="0">
                <a:solidFill>
                  <a:srgbClr val="0B1A19"/>
                </a:solidFill>
                <a:latin typeface="Calibri" pitchFamily="34" charset="0"/>
                <a:ea typeface="Calibri" pitchFamily="34" charset="-122"/>
                <a:cs typeface="Calibri" pitchFamily="34" charset="-120"/>
              </a:rPr>
              <a:t>3</a:t>
            </a:r>
            <a:endParaRPr lang="en-US" sz="1400" dirty="0"/>
          </a:p>
        </p:txBody>
      </p:sp>
      <p:sp>
        <p:nvSpPr>
          <p:cNvPr id="29" name="Text 27"/>
          <p:cNvSpPr txBox="1"/>
          <p:nvPr/>
        </p:nvSpPr>
        <p:spPr>
          <a:xfrm>
            <a:off x="6446520" y="3511296"/>
            <a:ext cx="2240280" cy="274320"/>
          </a:xfrm>
          <a:prstGeom prst="rect">
            <a:avLst/>
          </a:prstGeom>
          <a:noFill/>
          <a:ln/>
        </p:spPr>
        <p:txBody>
          <a:bodyPr wrap="square" lIns="0" tIns="0" rIns="0" bIns="0" rtlCol="0" anchor="t"/>
          <a:lstStyle/>
          <a:p>
            <a:pPr algn="l" indent="0" marL="0">
              <a:lnSpc>
                <a:spcPct val="105000"/>
              </a:lnSpc>
              <a:buNone/>
            </a:pPr>
            <a:r>
              <a:rPr lang="en-US" sz="1400" b="1" dirty="0">
                <a:solidFill>
                  <a:srgbClr val="F2F7F4"/>
                </a:solidFill>
                <a:latin typeface="Calibri" pitchFamily="34" charset="0"/>
                <a:ea typeface="Calibri" pitchFamily="34" charset="-122"/>
                <a:cs typeface="Calibri" pitchFamily="34" charset="-120"/>
              </a:rPr>
              <a:t>Settled</a:t>
            </a:r>
            <a:endParaRPr lang="en-US" sz="1400" dirty="0"/>
          </a:p>
        </p:txBody>
      </p:sp>
      <p:sp>
        <p:nvSpPr>
          <p:cNvPr id="30" name="Text 28"/>
          <p:cNvSpPr txBox="1"/>
          <p:nvPr/>
        </p:nvSpPr>
        <p:spPr>
          <a:xfrm>
            <a:off x="6446520" y="3803904"/>
            <a:ext cx="2240280" cy="594360"/>
          </a:xfrm>
          <a:prstGeom prst="rect">
            <a:avLst/>
          </a:prstGeom>
          <a:noFill/>
          <a:ln/>
        </p:spPr>
        <p:txBody>
          <a:bodyPr wrap="square" lIns="0" tIns="0" rIns="0" bIns="0" rtlCol="0" anchor="t"/>
          <a:lstStyle/>
          <a:p>
            <a:pPr algn="l" indent="0" marL="0">
              <a:lnSpc>
                <a:spcPct val="115000"/>
              </a:lnSpc>
              <a:buNone/>
            </a:pPr>
            <a:r>
              <a:rPr lang="en-US" sz="1050" dirty="0">
                <a:solidFill>
                  <a:srgbClr val="9FB8B2"/>
                </a:solidFill>
                <a:latin typeface="Calibri" pitchFamily="34" charset="0"/>
                <a:ea typeface="Calibri" pitchFamily="34" charset="-122"/>
                <a:cs typeface="Calibri" pitchFamily="34" charset="-120"/>
              </a:rPr>
              <a:t>Partner collects, converts and pays out. Both sides get a receipt.</a:t>
            </a:r>
            <a:endParaRPr lang="en-US" sz="1050" dirty="0"/>
          </a:p>
        </p:txBody>
      </p:sp>
      <p:sp>
        <p:nvSpPr>
          <p:cNvPr id="31" name="Text 29"/>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32" name="Text 30"/>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Partner fee, plus 1%. Nothing else.</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Every line shown before the customer confirms. No markup on the exchange rate.</a:t>
            </a:r>
            <a:endParaRPr lang="en-US" sz="1400" dirty="0"/>
          </a:p>
        </p:txBody>
      </p:sp>
      <p:graphicFrame>
        <p:nvGraphicFramePr>
          <p:cNvPr id="4" name="Chart 0" descr=""/>
          <p:cNvGraphicFramePr/>
          <p:nvPr/>
        </p:nvGraphicFramePr>
        <p:xfrm>
          <a:off x="457200" y="1463040"/>
          <a:ext cx="4846320" cy="2834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315968"/>
            <a:ext cx="4846320" cy="365760"/>
          </a:xfrm>
          <a:prstGeom prst="rect">
            <a:avLst/>
          </a:prstGeom>
          <a:noFill/>
          <a:ln/>
        </p:spPr>
        <p:txBody>
          <a:bodyPr wrap="square" lIns="0" tIns="0" rIns="0" bIns="0" rtlCol="0" anchor="t"/>
          <a:lstStyle/>
          <a:p>
            <a:pPr algn="l" indent="0" marL="0">
              <a:lnSpc>
                <a:spcPct val="105000"/>
              </a:lnSpc>
              <a:buNone/>
            </a:pPr>
            <a:r>
              <a:rPr lang="en-US" sz="850" dirty="0">
                <a:solidFill>
                  <a:srgbClr val="9FB8B2"/>
                </a:solidFill>
                <a:latin typeface="Calibri" pitchFamily="34" charset="0"/>
                <a:ea typeface="Calibri" pitchFamily="34" charset="-122"/>
                <a:cs typeface="Calibri" pitchFamily="34" charset="-120"/>
              </a:rPr>
              <a:t>Bank figure from importer interviews. Meridian figure is 1% plus an indicative 1.5% partner fee. Real partner fees vary by country and method.</a:t>
            </a:r>
            <a:endParaRPr lang="en-US" sz="850" dirty="0"/>
          </a:p>
        </p:txBody>
      </p:sp>
      <p:sp>
        <p:nvSpPr>
          <p:cNvPr id="6" name="Shape 3"/>
          <p:cNvSpPr/>
          <p:nvPr/>
        </p:nvSpPr>
        <p:spPr>
          <a:xfrm>
            <a:off x="5669280" y="1463040"/>
            <a:ext cx="3017520" cy="3200400"/>
          </a:xfrm>
          <a:prstGeom prst="roundRect">
            <a:avLst>
              <a:gd name="adj" fmla="val 2424"/>
            </a:avLst>
          </a:prstGeom>
          <a:solidFill>
            <a:srgbClr val="173432"/>
          </a:solidFill>
          <a:ln w="12700">
            <a:solidFill>
              <a:srgbClr val="173432"/>
            </a:solidFill>
            <a:prstDash val="solid"/>
          </a:ln>
        </p:spPr>
      </p:sp>
      <p:sp>
        <p:nvSpPr>
          <p:cNvPr id="7" name="Text 4"/>
          <p:cNvSpPr txBox="1"/>
          <p:nvPr/>
        </p:nvSpPr>
        <p:spPr>
          <a:xfrm>
            <a:off x="5897880" y="1645920"/>
            <a:ext cx="2651760" cy="320040"/>
          </a:xfrm>
          <a:prstGeom prst="rect">
            <a:avLst/>
          </a:prstGeom>
          <a:noFill/>
          <a:ln/>
        </p:spPr>
        <p:txBody>
          <a:bodyPr wrap="square" lIns="0" tIns="0" rIns="0" bIns="0" rtlCol="0" anchor="t"/>
          <a:lstStyle/>
          <a:p>
            <a:pPr algn="l" indent="0" marL="0">
              <a:lnSpc>
                <a:spcPct val="105000"/>
              </a:lnSpc>
              <a:buNone/>
            </a:pPr>
            <a:r>
              <a:rPr lang="en-US" sz="1500" b="1" dirty="0">
                <a:solidFill>
                  <a:srgbClr val="F2F7F4"/>
                </a:solidFill>
                <a:latin typeface="Calibri" pitchFamily="34" charset="0"/>
                <a:ea typeface="Calibri" pitchFamily="34" charset="-122"/>
                <a:cs typeface="Calibri" pitchFamily="34" charset="-120"/>
              </a:rPr>
              <a:t>Revenue model</a:t>
            </a:r>
            <a:endParaRPr lang="en-US" sz="1500" dirty="0"/>
          </a:p>
        </p:txBody>
      </p:sp>
      <p:sp>
        <p:nvSpPr>
          <p:cNvPr id="8" name="Text 5"/>
          <p:cNvSpPr txBox="1"/>
          <p:nvPr/>
        </p:nvSpPr>
        <p:spPr>
          <a:xfrm>
            <a:off x="5897880" y="2103120"/>
            <a:ext cx="640080" cy="411480"/>
          </a:xfrm>
          <a:prstGeom prst="rect">
            <a:avLst/>
          </a:prstGeom>
          <a:noFill/>
          <a:ln/>
        </p:spPr>
        <p:txBody>
          <a:bodyPr wrap="square" lIns="0" tIns="0" rIns="0" bIns="0" rtlCol="0" anchor="t"/>
          <a:lstStyle/>
          <a:p>
            <a:pPr algn="l" indent="0" marL="0">
              <a:lnSpc>
                <a:spcPct val="105000"/>
              </a:lnSpc>
              <a:buNone/>
            </a:pPr>
            <a:r>
              <a:rPr lang="en-US" sz="2200" b="1" dirty="0">
                <a:solidFill>
                  <a:srgbClr val="3ECFA0"/>
                </a:solidFill>
                <a:latin typeface="Calibri" pitchFamily="34" charset="0"/>
                <a:ea typeface="Calibri" pitchFamily="34" charset="-122"/>
                <a:cs typeface="Calibri" pitchFamily="34" charset="-120"/>
              </a:rPr>
              <a:t>1%</a:t>
            </a:r>
            <a:endParaRPr lang="en-US" sz="2200" dirty="0"/>
          </a:p>
        </p:txBody>
      </p:sp>
      <p:sp>
        <p:nvSpPr>
          <p:cNvPr id="9" name="Text 6"/>
          <p:cNvSpPr txBox="1"/>
          <p:nvPr/>
        </p:nvSpPr>
        <p:spPr>
          <a:xfrm>
            <a:off x="6583680" y="2157984"/>
            <a:ext cx="1965960" cy="411480"/>
          </a:xfrm>
          <a:prstGeom prst="rect">
            <a:avLst/>
          </a:prstGeom>
          <a:noFill/>
          <a:ln/>
        </p:spPr>
        <p:txBody>
          <a:bodyPr wrap="square" lIns="0" tIns="0" rIns="0" bIns="0" rtlCol="0" anchor="t"/>
          <a:lstStyle/>
          <a:p>
            <a:pPr algn="l" indent="0" marL="0">
              <a:lnSpc>
                <a:spcPct val="110000"/>
              </a:lnSpc>
              <a:buNone/>
            </a:pPr>
            <a:r>
              <a:rPr lang="en-US" sz="1100" dirty="0">
                <a:solidFill>
                  <a:srgbClr val="9FB8B2"/>
                </a:solidFill>
                <a:latin typeface="Calibri" pitchFamily="34" charset="0"/>
                <a:ea typeface="Calibri" pitchFamily="34" charset="-122"/>
                <a:cs typeface="Calibri" pitchFamily="34" charset="-120"/>
              </a:rPr>
              <a:t>of every payment, in and out</a:t>
            </a:r>
            <a:endParaRPr lang="en-US" sz="1100" dirty="0"/>
          </a:p>
        </p:txBody>
      </p:sp>
      <p:sp>
        <p:nvSpPr>
          <p:cNvPr id="10" name="Text 7"/>
          <p:cNvSpPr txBox="1"/>
          <p:nvPr/>
        </p:nvSpPr>
        <p:spPr>
          <a:xfrm>
            <a:off x="5897880" y="2670048"/>
            <a:ext cx="640080" cy="411480"/>
          </a:xfrm>
          <a:prstGeom prst="rect">
            <a:avLst/>
          </a:prstGeom>
          <a:noFill/>
          <a:ln/>
        </p:spPr>
        <p:txBody>
          <a:bodyPr wrap="square" lIns="0" tIns="0" rIns="0" bIns="0" rtlCol="0" anchor="t"/>
          <a:lstStyle/>
          <a:p>
            <a:pPr algn="l" indent="0" marL="0">
              <a:lnSpc>
                <a:spcPct val="105000"/>
              </a:lnSpc>
              <a:buNone/>
            </a:pPr>
            <a:r>
              <a:rPr lang="en-US" sz="2200" b="1" dirty="0">
                <a:solidFill>
                  <a:srgbClr val="3ECFA0"/>
                </a:solidFill>
                <a:latin typeface="Calibri" pitchFamily="34" charset="0"/>
                <a:ea typeface="Calibri" pitchFamily="34" charset="-122"/>
                <a:cs typeface="Calibri" pitchFamily="34" charset="-120"/>
              </a:rPr>
              <a:t>0</a:t>
            </a:r>
            <a:endParaRPr lang="en-US" sz="2200" dirty="0"/>
          </a:p>
        </p:txBody>
      </p:sp>
      <p:sp>
        <p:nvSpPr>
          <p:cNvPr id="11" name="Text 8"/>
          <p:cNvSpPr txBox="1"/>
          <p:nvPr/>
        </p:nvSpPr>
        <p:spPr>
          <a:xfrm>
            <a:off x="6583680" y="2724912"/>
            <a:ext cx="1965960" cy="411480"/>
          </a:xfrm>
          <a:prstGeom prst="rect">
            <a:avLst/>
          </a:prstGeom>
          <a:noFill/>
          <a:ln/>
        </p:spPr>
        <p:txBody>
          <a:bodyPr wrap="square" lIns="0" tIns="0" rIns="0" bIns="0" rtlCol="0" anchor="t"/>
          <a:lstStyle/>
          <a:p>
            <a:pPr algn="l" indent="0" marL="0">
              <a:lnSpc>
                <a:spcPct val="110000"/>
              </a:lnSpc>
              <a:buNone/>
            </a:pPr>
            <a:r>
              <a:rPr lang="en-US" sz="1100" dirty="0">
                <a:solidFill>
                  <a:srgbClr val="9FB8B2"/>
                </a:solidFill>
                <a:latin typeface="Calibri" pitchFamily="34" charset="0"/>
                <a:ea typeface="Calibri" pitchFamily="34" charset="-122"/>
                <a:cs typeface="Calibri" pitchFamily="34" charset="-120"/>
              </a:rPr>
              <a:t>FX margin. Partner rate passed through.</a:t>
            </a:r>
            <a:endParaRPr lang="en-US" sz="1100" dirty="0"/>
          </a:p>
        </p:txBody>
      </p:sp>
      <p:sp>
        <p:nvSpPr>
          <p:cNvPr id="12" name="Text 9"/>
          <p:cNvSpPr txBox="1"/>
          <p:nvPr/>
        </p:nvSpPr>
        <p:spPr>
          <a:xfrm>
            <a:off x="5897880" y="3236976"/>
            <a:ext cx="640080" cy="411480"/>
          </a:xfrm>
          <a:prstGeom prst="rect">
            <a:avLst/>
          </a:prstGeom>
          <a:noFill/>
          <a:ln/>
        </p:spPr>
        <p:txBody>
          <a:bodyPr wrap="square" lIns="0" tIns="0" rIns="0" bIns="0" rtlCol="0" anchor="t"/>
          <a:lstStyle/>
          <a:p>
            <a:pPr algn="l" indent="0" marL="0">
              <a:lnSpc>
                <a:spcPct val="105000"/>
              </a:lnSpc>
              <a:buNone/>
            </a:pPr>
            <a:r>
              <a:rPr lang="en-US" sz="2200" b="1" dirty="0">
                <a:solidFill>
                  <a:srgbClr val="3ECFA0"/>
                </a:solidFill>
                <a:latin typeface="Calibri" pitchFamily="34" charset="0"/>
                <a:ea typeface="Calibri" pitchFamily="34" charset="-122"/>
                <a:cs typeface="Calibri" pitchFamily="34" charset="-120"/>
              </a:rPr>
              <a:t>0</a:t>
            </a:r>
            <a:endParaRPr lang="en-US" sz="2200" dirty="0"/>
          </a:p>
        </p:txBody>
      </p:sp>
      <p:sp>
        <p:nvSpPr>
          <p:cNvPr id="13" name="Text 10"/>
          <p:cNvSpPr txBox="1"/>
          <p:nvPr/>
        </p:nvSpPr>
        <p:spPr>
          <a:xfrm>
            <a:off x="6583680" y="3291840"/>
            <a:ext cx="1965960" cy="411480"/>
          </a:xfrm>
          <a:prstGeom prst="rect">
            <a:avLst/>
          </a:prstGeom>
          <a:noFill/>
          <a:ln/>
        </p:spPr>
        <p:txBody>
          <a:bodyPr wrap="square" lIns="0" tIns="0" rIns="0" bIns="0" rtlCol="0" anchor="t"/>
          <a:lstStyle/>
          <a:p>
            <a:pPr algn="l" indent="0" marL="0">
              <a:lnSpc>
                <a:spcPct val="110000"/>
              </a:lnSpc>
              <a:buNone/>
            </a:pPr>
            <a:r>
              <a:rPr lang="en-US" sz="1100" dirty="0">
                <a:solidFill>
                  <a:srgbClr val="9FB8B2"/>
                </a:solidFill>
                <a:latin typeface="Calibri" pitchFamily="34" charset="0"/>
                <a:ea typeface="Calibri" pitchFamily="34" charset="-122"/>
                <a:cs typeface="Calibri" pitchFamily="34" charset="-120"/>
              </a:rPr>
              <a:t>monthly fee. No minimums.</a:t>
            </a:r>
            <a:endParaRPr lang="en-US" sz="1100" dirty="0"/>
          </a:p>
        </p:txBody>
      </p:sp>
      <p:sp>
        <p:nvSpPr>
          <p:cNvPr id="14" name="Text 11"/>
          <p:cNvSpPr txBox="1"/>
          <p:nvPr/>
        </p:nvSpPr>
        <p:spPr>
          <a:xfrm>
            <a:off x="5897880" y="3794760"/>
            <a:ext cx="2651760" cy="804672"/>
          </a:xfrm>
          <a:prstGeom prst="rect">
            <a:avLst/>
          </a:prstGeom>
          <a:noFill/>
          <a:ln/>
        </p:spPr>
        <p:txBody>
          <a:bodyPr wrap="square" lIns="0" tIns="0" rIns="0" bIns="0" rtlCol="0" anchor="t"/>
          <a:lstStyle/>
          <a:p>
            <a:pPr algn="l" indent="0" marL="0">
              <a:lnSpc>
                <a:spcPct val="115000"/>
              </a:lnSpc>
              <a:buNone/>
            </a:pPr>
            <a:r>
              <a:rPr lang="en-US" sz="1000" dirty="0">
                <a:solidFill>
                  <a:srgbClr val="F2F7F4"/>
                </a:solidFill>
                <a:latin typeface="Calibri" pitchFamily="34" charset="0"/>
                <a:ea typeface="Calibri" pitchFamily="34" charset="-122"/>
                <a:cs typeface="Calibri" pitchFamily="34" charset="-120"/>
              </a:rPr>
              <a:t>Worked example: a hardware importer moving KES 2M a month pays Meridian KES 20,000 a month. Today that same business loses KES 160,000 to 200,000 on the bank route.</a:t>
            </a:r>
            <a:endParaRPr lang="en-US" sz="1000" dirty="0"/>
          </a:p>
        </p:txBody>
      </p:sp>
      <p:sp>
        <p:nvSpPr>
          <p:cNvPr id="15" name="Text 1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16" name="Text 13"/>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Kenya's importers first, then their corridors</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Top-down figures are approximate public trade statistics. Bottom-up is from our interviews.</a:t>
            </a:r>
            <a:endParaRPr lang="en-US" sz="1400" dirty="0"/>
          </a:p>
        </p:txBody>
      </p:sp>
      <p:sp>
        <p:nvSpPr>
          <p:cNvPr id="4" name="Shape 2"/>
          <p:cNvSpPr/>
          <p:nvPr/>
        </p:nvSpPr>
        <p:spPr>
          <a:xfrm>
            <a:off x="457200" y="1508760"/>
            <a:ext cx="2606040" cy="1508760"/>
          </a:xfrm>
          <a:prstGeom prst="roundRect">
            <a:avLst>
              <a:gd name="adj" fmla="val 4848"/>
            </a:avLst>
          </a:prstGeom>
          <a:solidFill>
            <a:srgbClr val="173432"/>
          </a:solidFill>
          <a:ln w="12700">
            <a:solidFill>
              <a:srgbClr val="173432"/>
            </a:solidFill>
            <a:prstDash val="solid"/>
          </a:ln>
        </p:spPr>
      </p:sp>
      <p:sp>
        <p:nvSpPr>
          <p:cNvPr id="5" name="Text 3"/>
          <p:cNvSpPr txBox="1"/>
          <p:nvPr/>
        </p:nvSpPr>
        <p:spPr>
          <a:xfrm>
            <a:off x="685800" y="1645920"/>
            <a:ext cx="2148840" cy="457200"/>
          </a:xfrm>
          <a:prstGeom prst="rect">
            <a:avLst/>
          </a:prstGeom>
          <a:noFill/>
          <a:ln/>
        </p:spPr>
        <p:txBody>
          <a:bodyPr wrap="square" lIns="0" tIns="0" rIns="0" bIns="0" rtlCol="0" anchor="t"/>
          <a:lstStyle/>
          <a:p>
            <a:pPr algn="l" indent="0" marL="0">
              <a:lnSpc>
                <a:spcPct val="105000"/>
              </a:lnSpc>
              <a:buNone/>
            </a:pPr>
            <a:r>
              <a:rPr lang="en-US" sz="2400" b="1" dirty="0">
                <a:solidFill>
                  <a:srgbClr val="3ECFA0"/>
                </a:solidFill>
                <a:latin typeface="Calibri" pitchFamily="34" charset="0"/>
                <a:ea typeface="Calibri" pitchFamily="34" charset="-122"/>
                <a:cs typeface="Calibri" pitchFamily="34" charset="-120"/>
              </a:rPr>
              <a:t>~USD 19B</a:t>
            </a:r>
            <a:endParaRPr lang="en-US" sz="2400" dirty="0"/>
          </a:p>
        </p:txBody>
      </p:sp>
      <p:sp>
        <p:nvSpPr>
          <p:cNvPr id="6" name="Text 4"/>
          <p:cNvSpPr txBox="1"/>
          <p:nvPr/>
        </p:nvSpPr>
        <p:spPr>
          <a:xfrm>
            <a:off x="685800" y="2121408"/>
            <a:ext cx="2148840" cy="594360"/>
          </a:xfrm>
          <a:prstGeom prst="rect">
            <a:avLst/>
          </a:prstGeom>
          <a:noFill/>
          <a:ln/>
        </p:spPr>
        <p:txBody>
          <a:bodyPr wrap="square" lIns="0" tIns="0" rIns="0" bIns="0" rtlCol="0" anchor="t"/>
          <a:lstStyle/>
          <a:p>
            <a:pPr algn="l" indent="0" marL="0">
              <a:lnSpc>
                <a:spcPct val="110000"/>
              </a:lnSpc>
              <a:buNone/>
            </a:pPr>
            <a:r>
              <a:rPr lang="en-US" sz="1050" dirty="0">
                <a:solidFill>
                  <a:srgbClr val="F2F7F4"/>
                </a:solidFill>
                <a:latin typeface="Calibri" pitchFamily="34" charset="0"/>
                <a:ea typeface="Calibri" pitchFamily="34" charset="-122"/>
                <a:cs typeface="Calibri" pitchFamily="34" charset="-120"/>
              </a:rPr>
              <a:t>Kenya goods imports per year. China is the largest source.</a:t>
            </a:r>
            <a:endParaRPr lang="en-US" sz="1050" dirty="0"/>
          </a:p>
        </p:txBody>
      </p:sp>
      <p:sp>
        <p:nvSpPr>
          <p:cNvPr id="7" name="Text 5"/>
          <p:cNvSpPr txBox="1"/>
          <p:nvPr/>
        </p:nvSpPr>
        <p:spPr>
          <a:xfrm>
            <a:off x="685800" y="2761488"/>
            <a:ext cx="2148840" cy="201168"/>
          </a:xfrm>
          <a:prstGeom prst="rect">
            <a:avLst/>
          </a:prstGeom>
          <a:noFill/>
          <a:ln/>
        </p:spPr>
        <p:txBody>
          <a:bodyPr wrap="square" lIns="0" tIns="0" rIns="0" bIns="0" rtlCol="0" anchor="t"/>
          <a:lstStyle/>
          <a:p>
            <a:pPr algn="l" indent="0" marL="0">
              <a:lnSpc>
                <a:spcPct val="105000"/>
              </a:lnSpc>
              <a:buNone/>
            </a:pPr>
            <a:r>
              <a:rPr lang="en-US" sz="800" i="1" dirty="0">
                <a:solidFill>
                  <a:srgbClr val="9FB8B2"/>
                </a:solidFill>
                <a:latin typeface="Calibri" pitchFamily="34" charset="0"/>
                <a:ea typeface="Calibri" pitchFamily="34" charset="-122"/>
                <a:cs typeface="Calibri" pitchFamily="34" charset="-120"/>
              </a:rPr>
              <a:t>KNBS, approx. 2023</a:t>
            </a:r>
            <a:endParaRPr lang="en-US" sz="800" dirty="0"/>
          </a:p>
        </p:txBody>
      </p:sp>
      <p:sp>
        <p:nvSpPr>
          <p:cNvPr id="8" name="Shape 6"/>
          <p:cNvSpPr/>
          <p:nvPr/>
        </p:nvSpPr>
        <p:spPr>
          <a:xfrm>
            <a:off x="3268980" y="1508760"/>
            <a:ext cx="2606040" cy="1508760"/>
          </a:xfrm>
          <a:prstGeom prst="roundRect">
            <a:avLst>
              <a:gd name="adj" fmla="val 4848"/>
            </a:avLst>
          </a:prstGeom>
          <a:solidFill>
            <a:srgbClr val="173432"/>
          </a:solidFill>
          <a:ln w="12700">
            <a:solidFill>
              <a:srgbClr val="173432"/>
            </a:solidFill>
            <a:prstDash val="solid"/>
          </a:ln>
        </p:spPr>
      </p:sp>
      <p:sp>
        <p:nvSpPr>
          <p:cNvPr id="9" name="Text 7"/>
          <p:cNvSpPr txBox="1"/>
          <p:nvPr/>
        </p:nvSpPr>
        <p:spPr>
          <a:xfrm>
            <a:off x="3497580" y="1645920"/>
            <a:ext cx="2148840" cy="457200"/>
          </a:xfrm>
          <a:prstGeom prst="rect">
            <a:avLst/>
          </a:prstGeom>
          <a:noFill/>
          <a:ln/>
        </p:spPr>
        <p:txBody>
          <a:bodyPr wrap="square" lIns="0" tIns="0" rIns="0" bIns="0" rtlCol="0" anchor="t"/>
          <a:lstStyle/>
          <a:p>
            <a:pPr algn="l" indent="0" marL="0">
              <a:lnSpc>
                <a:spcPct val="105000"/>
              </a:lnSpc>
              <a:buNone/>
            </a:pPr>
            <a:r>
              <a:rPr lang="en-US" sz="2400" b="1" dirty="0">
                <a:solidFill>
                  <a:srgbClr val="3ECFA0"/>
                </a:solidFill>
                <a:latin typeface="Calibri" pitchFamily="34" charset="0"/>
                <a:ea typeface="Calibri" pitchFamily="34" charset="-122"/>
                <a:cs typeface="Calibri" pitchFamily="34" charset="-120"/>
              </a:rPr>
              <a:t>~USD 7B</a:t>
            </a:r>
            <a:endParaRPr lang="en-US" sz="2400" dirty="0"/>
          </a:p>
        </p:txBody>
      </p:sp>
      <p:sp>
        <p:nvSpPr>
          <p:cNvPr id="10" name="Text 8"/>
          <p:cNvSpPr txBox="1"/>
          <p:nvPr/>
        </p:nvSpPr>
        <p:spPr>
          <a:xfrm>
            <a:off x="3497580" y="2121408"/>
            <a:ext cx="2148840" cy="594360"/>
          </a:xfrm>
          <a:prstGeom prst="rect">
            <a:avLst/>
          </a:prstGeom>
          <a:noFill/>
          <a:ln/>
        </p:spPr>
        <p:txBody>
          <a:bodyPr wrap="square" lIns="0" tIns="0" rIns="0" bIns="0" rtlCol="0" anchor="t"/>
          <a:lstStyle/>
          <a:p>
            <a:pPr algn="l" indent="0" marL="0">
              <a:lnSpc>
                <a:spcPct val="110000"/>
              </a:lnSpc>
              <a:buNone/>
            </a:pPr>
            <a:r>
              <a:rPr lang="en-US" sz="1050" dirty="0">
                <a:solidFill>
                  <a:srgbClr val="F2F7F4"/>
                </a:solidFill>
                <a:latin typeface="Calibri" pitchFamily="34" charset="0"/>
                <a:ea typeface="Calibri" pitchFamily="34" charset="-122"/>
                <a:cs typeface="Calibri" pitchFamily="34" charset="-120"/>
              </a:rPr>
              <a:t>Kenya goods exports per year. Europe and Middle East lead fresh produce.</a:t>
            </a:r>
            <a:endParaRPr lang="en-US" sz="1050" dirty="0"/>
          </a:p>
        </p:txBody>
      </p:sp>
      <p:sp>
        <p:nvSpPr>
          <p:cNvPr id="11" name="Text 9"/>
          <p:cNvSpPr txBox="1"/>
          <p:nvPr/>
        </p:nvSpPr>
        <p:spPr>
          <a:xfrm>
            <a:off x="3497580" y="2761488"/>
            <a:ext cx="2148840" cy="201168"/>
          </a:xfrm>
          <a:prstGeom prst="rect">
            <a:avLst/>
          </a:prstGeom>
          <a:noFill/>
          <a:ln/>
        </p:spPr>
        <p:txBody>
          <a:bodyPr wrap="square" lIns="0" tIns="0" rIns="0" bIns="0" rtlCol="0" anchor="t"/>
          <a:lstStyle/>
          <a:p>
            <a:pPr algn="l" indent="0" marL="0">
              <a:lnSpc>
                <a:spcPct val="105000"/>
              </a:lnSpc>
              <a:buNone/>
            </a:pPr>
            <a:r>
              <a:rPr lang="en-US" sz="800" i="1" dirty="0">
                <a:solidFill>
                  <a:srgbClr val="9FB8B2"/>
                </a:solidFill>
                <a:latin typeface="Calibri" pitchFamily="34" charset="0"/>
                <a:ea typeface="Calibri" pitchFamily="34" charset="-122"/>
                <a:cs typeface="Calibri" pitchFamily="34" charset="-120"/>
              </a:rPr>
              <a:t>KNBS, approx. 2023</a:t>
            </a:r>
            <a:endParaRPr lang="en-US" sz="800" dirty="0"/>
          </a:p>
        </p:txBody>
      </p:sp>
      <p:sp>
        <p:nvSpPr>
          <p:cNvPr id="12" name="Shape 10"/>
          <p:cNvSpPr/>
          <p:nvPr/>
        </p:nvSpPr>
        <p:spPr>
          <a:xfrm>
            <a:off x="6080760" y="1508760"/>
            <a:ext cx="2606040" cy="1508760"/>
          </a:xfrm>
          <a:prstGeom prst="roundRect">
            <a:avLst>
              <a:gd name="adj" fmla="val 4848"/>
            </a:avLst>
          </a:prstGeom>
          <a:solidFill>
            <a:srgbClr val="173432"/>
          </a:solidFill>
          <a:ln w="12700">
            <a:solidFill>
              <a:srgbClr val="173432"/>
            </a:solidFill>
            <a:prstDash val="solid"/>
          </a:ln>
        </p:spPr>
      </p:sp>
      <p:sp>
        <p:nvSpPr>
          <p:cNvPr id="13" name="Text 11"/>
          <p:cNvSpPr txBox="1"/>
          <p:nvPr/>
        </p:nvSpPr>
        <p:spPr>
          <a:xfrm>
            <a:off x="6309360" y="1645920"/>
            <a:ext cx="2148840" cy="457200"/>
          </a:xfrm>
          <a:prstGeom prst="rect">
            <a:avLst/>
          </a:prstGeom>
          <a:noFill/>
          <a:ln/>
        </p:spPr>
        <p:txBody>
          <a:bodyPr wrap="square" lIns="0" tIns="0" rIns="0" bIns="0" rtlCol="0" anchor="t"/>
          <a:lstStyle/>
          <a:p>
            <a:pPr algn="l" indent="0" marL="0">
              <a:lnSpc>
                <a:spcPct val="105000"/>
              </a:lnSpc>
              <a:buNone/>
            </a:pPr>
            <a:r>
              <a:rPr lang="en-US" sz="2400" b="1" dirty="0">
                <a:solidFill>
                  <a:srgbClr val="E5C158"/>
                </a:solidFill>
                <a:latin typeface="Calibri" pitchFamily="34" charset="0"/>
                <a:ea typeface="Calibri" pitchFamily="34" charset="-122"/>
                <a:cs typeface="Calibri" pitchFamily="34" charset="-120"/>
              </a:rPr>
              <a:t>6 markets</a:t>
            </a:r>
            <a:endParaRPr lang="en-US" sz="2400" dirty="0"/>
          </a:p>
        </p:txBody>
      </p:sp>
      <p:sp>
        <p:nvSpPr>
          <p:cNvPr id="14" name="Text 12"/>
          <p:cNvSpPr txBox="1"/>
          <p:nvPr/>
        </p:nvSpPr>
        <p:spPr>
          <a:xfrm>
            <a:off x="6309360" y="2121408"/>
            <a:ext cx="2148840" cy="594360"/>
          </a:xfrm>
          <a:prstGeom prst="rect">
            <a:avLst/>
          </a:prstGeom>
          <a:noFill/>
          <a:ln/>
        </p:spPr>
        <p:txBody>
          <a:bodyPr wrap="square" lIns="0" tIns="0" rIns="0" bIns="0" rtlCol="0" anchor="t"/>
          <a:lstStyle/>
          <a:p>
            <a:pPr algn="l" indent="0" marL="0">
              <a:lnSpc>
                <a:spcPct val="110000"/>
              </a:lnSpc>
              <a:buNone/>
            </a:pPr>
            <a:r>
              <a:rPr lang="en-US" sz="1050" dirty="0">
                <a:solidFill>
                  <a:srgbClr val="F2F7F4"/>
                </a:solidFill>
                <a:latin typeface="Calibri" pitchFamily="34" charset="0"/>
                <a:ea typeface="Calibri" pitchFamily="34" charset="-122"/>
                <a:cs typeface="Calibri" pitchFamily="34" charset="-120"/>
              </a:rPr>
              <a:t>at launch: Kenya, Nigeria, Ghana, South Africa, Uganda, Tanzania.</a:t>
            </a:r>
            <a:endParaRPr lang="en-US" sz="1050" dirty="0"/>
          </a:p>
        </p:txBody>
      </p:sp>
      <p:sp>
        <p:nvSpPr>
          <p:cNvPr id="15" name="Text 13"/>
          <p:cNvSpPr txBox="1"/>
          <p:nvPr/>
        </p:nvSpPr>
        <p:spPr>
          <a:xfrm>
            <a:off x="6309360" y="2761488"/>
            <a:ext cx="2148840" cy="201168"/>
          </a:xfrm>
          <a:prstGeom prst="rect">
            <a:avLst/>
          </a:prstGeom>
          <a:noFill/>
          <a:ln/>
        </p:spPr>
        <p:txBody>
          <a:bodyPr wrap="square" lIns="0" tIns="0" rIns="0" bIns="0" rtlCol="0" anchor="t"/>
          <a:lstStyle/>
          <a:p>
            <a:pPr algn="l" indent="0" marL="0">
              <a:lnSpc>
                <a:spcPct val="105000"/>
              </a:lnSpc>
              <a:buNone/>
            </a:pPr>
            <a:r>
              <a:rPr lang="en-US" sz="800" i="1" dirty="0">
                <a:solidFill>
                  <a:srgbClr val="9FB8B2"/>
                </a:solidFill>
                <a:latin typeface="Calibri" pitchFamily="34" charset="0"/>
                <a:ea typeface="Calibri" pitchFamily="34" charset="-122"/>
                <a:cs typeface="Calibri" pitchFamily="34" charset="-120"/>
              </a:rPr>
              <a:t>Partner coverage</a:t>
            </a:r>
            <a:endParaRPr lang="en-US" sz="800" dirty="0"/>
          </a:p>
        </p:txBody>
      </p:sp>
      <p:sp>
        <p:nvSpPr>
          <p:cNvPr id="16" name="Shape 14"/>
          <p:cNvSpPr/>
          <p:nvPr/>
        </p:nvSpPr>
        <p:spPr>
          <a:xfrm>
            <a:off x="457200" y="3200400"/>
            <a:ext cx="8229600" cy="1325880"/>
          </a:xfrm>
          <a:prstGeom prst="roundRect">
            <a:avLst>
              <a:gd name="adj" fmla="val 5517"/>
            </a:avLst>
          </a:prstGeom>
          <a:solidFill>
            <a:srgbClr val="1E403D"/>
          </a:solidFill>
          <a:ln w="12700">
            <a:solidFill>
              <a:srgbClr val="1E403D"/>
            </a:solidFill>
            <a:prstDash val="solid"/>
          </a:ln>
        </p:spPr>
      </p:sp>
      <p:sp>
        <p:nvSpPr>
          <p:cNvPr id="17" name="Text 15"/>
          <p:cNvSpPr txBox="1"/>
          <p:nvPr/>
        </p:nvSpPr>
        <p:spPr>
          <a:xfrm>
            <a:off x="731520" y="3310128"/>
            <a:ext cx="4572000" cy="274320"/>
          </a:xfrm>
          <a:prstGeom prst="rect">
            <a:avLst/>
          </a:prstGeom>
          <a:noFill/>
          <a:ln/>
        </p:spPr>
        <p:txBody>
          <a:bodyPr wrap="square" lIns="0" tIns="0" rIns="0" bIns="0" rtlCol="0" anchor="t"/>
          <a:lstStyle/>
          <a:p>
            <a:pPr algn="l" indent="0" marL="0">
              <a:lnSpc>
                <a:spcPct val="105000"/>
              </a:lnSpc>
              <a:buNone/>
            </a:pPr>
            <a:r>
              <a:rPr lang="en-US" sz="1200" b="1" dirty="0">
                <a:solidFill>
                  <a:srgbClr val="3ECFA0"/>
                </a:solidFill>
                <a:latin typeface="Calibri" pitchFamily="34" charset="0"/>
                <a:ea typeface="Calibri" pitchFamily="34" charset="-122"/>
                <a:cs typeface="Calibri" pitchFamily="34" charset="-120"/>
              </a:rPr>
              <a:t>Bottom-up, from interview ticket sizes</a:t>
            </a:r>
            <a:endParaRPr lang="en-US" sz="1200" dirty="0"/>
          </a:p>
        </p:txBody>
      </p:sp>
      <p:sp>
        <p:nvSpPr>
          <p:cNvPr id="18" name="Text 16"/>
          <p:cNvSpPr txBox="1"/>
          <p:nvPr/>
        </p:nvSpPr>
        <p:spPr>
          <a:xfrm>
            <a:off x="731520" y="3611880"/>
            <a:ext cx="7680960" cy="8686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F2F7F4"/>
                </a:solidFill>
                <a:latin typeface="Calibri" pitchFamily="34" charset="0"/>
                <a:ea typeface="Calibri" pitchFamily="34" charset="-122"/>
                <a:cs typeface="Calibri" pitchFamily="34" charset="-120"/>
              </a:rPr>
              <a:t>A mid-size importer moves KES 1M to 2M a month across borders. At 1%, that is KES 10k to 20k a month per business.</a:t>
            </a:r>
            <a:endParaRPr lang="en-US" sz="1050" dirty="0"/>
          </a:p>
          <a:p>
            <a:pPr marL="152400" indent="-152400">
              <a:spcAft>
                <a:spcPts val="300"/>
              </a:spcAft>
              <a:buSzPct val="100000"/>
              <a:buChar char="•"/>
            </a:pPr>
            <a:r>
              <a:rPr lang="en-US" sz="1050" dirty="0">
                <a:solidFill>
                  <a:srgbClr val="F2F7F4"/>
                </a:solidFill>
                <a:latin typeface="Calibri" pitchFamily="34" charset="0"/>
                <a:ea typeface="Calibri" pitchFamily="34" charset="-122"/>
                <a:cs typeface="Calibri" pitchFamily="34" charset="-120"/>
              </a:rPr>
              <a:t>500 active businesses at that size is roughly KES 90M (USD 700k) a year in revenue.</a:t>
            </a:r>
            <a:endParaRPr lang="en-US" sz="1050" dirty="0"/>
          </a:p>
          <a:p>
            <a:pPr marL="152400" indent="-152400">
              <a:spcAft>
                <a:spcPts val="300"/>
              </a:spcAft>
              <a:buSzPct val="100000"/>
              <a:buChar char="•"/>
            </a:pPr>
            <a:r>
              <a:rPr lang="en-US" sz="1050" dirty="0">
                <a:solidFill>
                  <a:srgbClr val="F2F7F4"/>
                </a:solidFill>
                <a:latin typeface="Calibri" pitchFamily="34" charset="0"/>
                <a:ea typeface="Calibri" pitchFamily="34" charset="-122"/>
                <a:cs typeface="Calibri" pitchFamily="34" charset="-120"/>
              </a:rPr>
              <a:t>Exporters are larger: USD 35k to 40k per weekly shipment. Ten such exporters add USD 200k a year.</a:t>
            </a:r>
            <a:endParaRPr lang="en-US" sz="1050" dirty="0"/>
          </a:p>
        </p:txBody>
      </p:sp>
      <p:sp>
        <p:nvSpPr>
          <p:cNvPr id="19" name="Text 17"/>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20" name="Text 18"/>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Why not a bank, a forex agent, or a fintech?</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Most alternatives optimise for consumers, or for one corridor, or hide the real cost.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828800"/>
                <a:gridCol w="1508760"/>
                <a:gridCol w="1508760"/>
                <a:gridCol w="1600200"/>
                <a:gridCol w="1783080"/>
              </a:tblGrid>
              <a:tr h="402336">
                <a:tc>
                  <a:txBody>
                    <a:bodyPr/>
                    <a:lstStyle/>
                    <a:p>
                      <a:pPr indent="0" marL="0">
                        <a:buNone/>
                      </a:pPr>
                      <a:endParaRPr lang="en-US" sz="105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c>
                  <a:txBody>
                    <a:bodyPr/>
                    <a:lstStyle/>
                    <a:p>
                      <a:pPr indent="0" marL="0">
                        <a:buNone/>
                      </a:pPr>
                      <a:r>
                        <a:rPr lang="en-US" sz="1050" b="1" dirty="0">
                          <a:solidFill>
                            <a:srgbClr val="3ECFA0"/>
                          </a:solidFill>
                          <a:latin typeface="Calibri" pitchFamily="34" charset="0"/>
                          <a:ea typeface="Calibri" pitchFamily="34" charset="-122"/>
                          <a:cs typeface="Calibri" pitchFamily="34" charset="-120"/>
                        </a:rPr>
                        <a:t>Banks / SWIFT</a:t>
                      </a:r>
                      <a:endParaRPr lang="en-US" sz="105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c>
                  <a:txBody>
                    <a:bodyPr/>
                    <a:lstStyle/>
                    <a:p>
                      <a:pPr indent="0" marL="0">
                        <a:buNone/>
                      </a:pPr>
                      <a:r>
                        <a:rPr lang="en-US" sz="1050" b="1" dirty="0">
                          <a:solidFill>
                            <a:srgbClr val="3ECFA0"/>
                          </a:solidFill>
                          <a:latin typeface="Calibri" pitchFamily="34" charset="0"/>
                          <a:ea typeface="Calibri" pitchFamily="34" charset="-122"/>
                          <a:cs typeface="Calibri" pitchFamily="34" charset="-120"/>
                        </a:rPr>
                        <a:t>Forex agent + bank</a:t>
                      </a:r>
                      <a:endParaRPr lang="en-US" sz="105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c>
                  <a:txBody>
                    <a:bodyPr/>
                    <a:lstStyle/>
                    <a:p>
                      <a:pPr indent="0" marL="0">
                        <a:buNone/>
                      </a:pPr>
                      <a:r>
                        <a:rPr lang="en-US" sz="1050" b="1" dirty="0">
                          <a:solidFill>
                            <a:srgbClr val="3ECFA0"/>
                          </a:solidFill>
                          <a:latin typeface="Calibri" pitchFamily="34" charset="0"/>
                          <a:ea typeface="Calibri" pitchFamily="34" charset="-122"/>
                          <a:cs typeface="Calibri" pitchFamily="34" charset="-120"/>
                        </a:rPr>
                        <a:t>Consumer fintechs</a:t>
                      </a:r>
                      <a:endParaRPr lang="en-US" sz="105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c>
                  <a:txBody>
                    <a:bodyPr/>
                    <a:lstStyle/>
                    <a:p>
                      <a:pPr indent="0" marL="0">
                        <a:buNone/>
                      </a:pPr>
                      <a:r>
                        <a:rPr lang="en-US" sz="1050" b="1" dirty="0">
                          <a:solidFill>
                            <a:srgbClr val="0B1A19"/>
                          </a:solidFill>
                          <a:latin typeface="Calibri" pitchFamily="34" charset="0"/>
                          <a:ea typeface="Calibri" pitchFamily="34" charset="-122"/>
                          <a:cs typeface="Calibri" pitchFamily="34" charset="-120"/>
                        </a:rPr>
                        <a:t>Meridian</a:t>
                      </a:r>
                      <a:endParaRPr lang="en-US" sz="105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3ECFA0"/>
                    </a:solidFill>
                  </a:tcPr>
                </a:tc>
              </a:tr>
              <a:tr h="402336">
                <a:tc>
                  <a:txBody>
                    <a:bodyPr/>
                    <a:lstStyle/>
                    <a:p>
                      <a:pPr indent="0" marL="0">
                        <a:buNone/>
                      </a:pPr>
                      <a:r>
                        <a:rPr lang="en-US" sz="1000" b="1" dirty="0">
                          <a:solidFill>
                            <a:srgbClr val="F2F7F4"/>
                          </a:solidFill>
                          <a:latin typeface="Calibri" pitchFamily="34" charset="0"/>
                          <a:ea typeface="Calibri" pitchFamily="34" charset="-122"/>
                          <a:cs typeface="Calibri" pitchFamily="34" charset="-120"/>
                        </a:rPr>
                        <a:t>Time to land</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2 to 5 days</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1 to 3 days</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Minutes to hours</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Minutes</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r>
              <a:tr h="402336">
                <a:tc>
                  <a:txBody>
                    <a:bodyPr/>
                    <a:lstStyle/>
                    <a:p>
                      <a:pPr indent="0" marL="0">
                        <a:buNone/>
                      </a:pPr>
                      <a:r>
                        <a:rPr lang="en-US" sz="1000" b="1" dirty="0">
                          <a:solidFill>
                            <a:srgbClr val="F2F7F4"/>
                          </a:solidFill>
                          <a:latin typeface="Calibri" pitchFamily="34" charset="0"/>
                          <a:ea typeface="Calibri" pitchFamily="34" charset="-122"/>
                          <a:cs typeface="Calibri" pitchFamily="34" charset="-120"/>
                        </a:rPr>
                        <a:t>All-in cost</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8 to 10%</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3 to 5% plus risk</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3 to 6%, FX in the rate</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Partner fee + 1%</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r>
              <a:tr h="402336">
                <a:tc>
                  <a:txBody>
                    <a:bodyPr/>
                    <a:lstStyle/>
                    <a:p>
                      <a:pPr indent="0" marL="0">
                        <a:buNone/>
                      </a:pPr>
                      <a:r>
                        <a:rPr lang="en-US" sz="1000" b="1" dirty="0">
                          <a:solidFill>
                            <a:srgbClr val="F2F7F4"/>
                          </a:solidFill>
                          <a:latin typeface="Calibri" pitchFamily="34" charset="0"/>
                          <a:ea typeface="Calibri" pitchFamily="34" charset="-122"/>
                          <a:cs typeface="Calibri" pitchFamily="34" charset="-120"/>
                        </a:rPr>
                        <a:t>Cost shown up front</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Rarely the FX part</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Every line, before confirm</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r>
              <a:tr h="402336">
                <a:tc>
                  <a:txBody>
                    <a:bodyPr/>
                    <a:lstStyle/>
                    <a:p>
                      <a:pPr indent="0" marL="0">
                        <a:buNone/>
                      </a:pPr>
                      <a:r>
                        <a:rPr lang="en-US" sz="1000" b="1" dirty="0">
                          <a:solidFill>
                            <a:srgbClr val="F2F7F4"/>
                          </a:solidFill>
                          <a:latin typeface="Calibri" pitchFamily="34" charset="0"/>
                          <a:ea typeface="Calibri" pitchFamily="34" charset="-122"/>
                          <a:cs typeface="Calibri" pitchFamily="34" charset="-120"/>
                        </a:rPr>
                        <a:t>Built for B2B trade docs</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Yes, slowly</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Yes. Invoices, customs attached</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r>
              <a:tr h="402336">
                <a:tc>
                  <a:txBody>
                    <a:bodyPr/>
                    <a:lstStyle/>
                    <a:p>
                      <a:pPr indent="0" marL="0">
                        <a:buNone/>
                      </a:pPr>
                      <a:r>
                        <a:rPr lang="en-US" sz="1000" b="1" dirty="0">
                          <a:solidFill>
                            <a:srgbClr val="F2F7F4"/>
                          </a:solidFill>
                          <a:latin typeface="Calibri" pitchFamily="34" charset="0"/>
                          <a:ea typeface="Calibri" pitchFamily="34" charset="-122"/>
                          <a:cs typeface="Calibri" pitchFamily="34" charset="-120"/>
                        </a:rPr>
                        <a:t>Africa to China, Japan, Gulf</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Cash only</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Limited</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Yes, via Klasha</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r>
              <a:tr h="402336">
                <a:tc>
                  <a:txBody>
                    <a:bodyPr/>
                    <a:lstStyle/>
                    <a:p>
                      <a:pPr indent="0" marL="0">
                        <a:buNone/>
                      </a:pPr>
                      <a:r>
                        <a:rPr lang="en-US" sz="1000" b="1" dirty="0">
                          <a:solidFill>
                            <a:srgbClr val="F2F7F4"/>
                          </a:solidFill>
                          <a:latin typeface="Calibri" pitchFamily="34" charset="0"/>
                          <a:ea typeface="Calibri" pitchFamily="34" charset="-122"/>
                          <a:cs typeface="Calibri" pitchFamily="34" charset="-120"/>
                        </a:rPr>
                        <a:t>Start same day</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No. Weeks of KYB</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Yes, informal</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dirty="0">
                          <a:solidFill>
                            <a:srgbClr val="9FB8B2"/>
                          </a:solidFill>
                          <a:latin typeface="Calibri" pitchFamily="34" charset="0"/>
                          <a:ea typeface="Calibri" pitchFamily="34" charset="-122"/>
                          <a:cs typeface="Calibri" pitchFamily="34" charset="-120"/>
                        </a:rPr>
                        <a:t>Yes, for individuals</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73432"/>
                    </a:solidFill>
                  </a:tcPr>
                </a:tc>
                <a:tc>
                  <a:txBody>
                    <a:bodyPr/>
                    <a:lstStyle/>
                    <a:p>
                      <a:pPr indent="0" marL="0">
                        <a:buNone/>
                      </a:pPr>
                      <a:r>
                        <a:rPr lang="en-US" sz="1000" b="1" dirty="0">
                          <a:solidFill>
                            <a:srgbClr val="3ECFA0"/>
                          </a:solidFill>
                          <a:latin typeface="Calibri" pitchFamily="34" charset="0"/>
                          <a:ea typeface="Calibri" pitchFamily="34" charset="-122"/>
                          <a:cs typeface="Calibri" pitchFamily="34" charset="-120"/>
                        </a:rPr>
                        <a:t>Yes. Tiered KYB</a:t>
                      </a:r>
                      <a:endParaRPr lang="en-US" sz="1000" dirty="0">
                        <a:latin typeface="Calibri" charset="0"/>
                        <a:ea typeface="Calibri" charset="0"/>
                        <a:cs typeface="Calibri" charset="0"/>
                      </a:endParaRPr>
                    </a:p>
                  </a:txBody>
                  <a:tcPr marL="91440" marR="91440" marT="54864" marB="54864" anchor="ctr">
                    <a:lnL w="19050" cap="flat" cmpd="sng" algn="ctr">
                      <a:solidFill>
                        <a:srgbClr val="0F2624"/>
                      </a:solidFill>
                      <a:prstDash val="solid"/>
                      <a:round/>
                      <a:headEnd type="none" w="med" len="med"/>
                      <a:tailEnd type="none" w="med" len="med"/>
                    </a:lnL>
                    <a:lnR w="19050" cap="flat" cmpd="sng" algn="ctr">
                      <a:solidFill>
                        <a:srgbClr val="0F2624"/>
                      </a:solidFill>
                      <a:prstDash val="solid"/>
                      <a:round/>
                      <a:headEnd type="none" w="med" len="med"/>
                      <a:tailEnd type="none" w="med" len="med"/>
                    </a:lnR>
                    <a:lnT w="19050" cap="flat" cmpd="sng" algn="ctr">
                      <a:solidFill>
                        <a:srgbClr val="0F2624"/>
                      </a:solidFill>
                      <a:prstDash val="solid"/>
                      <a:round/>
                      <a:headEnd type="none" w="med" len="med"/>
                      <a:tailEnd type="none" w="med" len="med"/>
                    </a:lnT>
                    <a:lnB w="19050" cap="flat" cmpd="sng" algn="ctr">
                      <a:solidFill>
                        <a:srgbClr val="0F2624"/>
                      </a:solidFill>
                      <a:prstDash val="solid"/>
                      <a:round/>
                      <a:headEnd type="none" w="med" len="med"/>
                      <a:tailEnd type="none" w="med" len="med"/>
                    </a:lnB>
                    <a:solidFill>
                      <a:srgbClr val="1E403D"/>
                    </a:solidFill>
                  </a:tcPr>
                </a:tc>
              </a:tr>
            </a:tbl>
          </a:graphicData>
        </a:graphic>
      </p:graphicFrame>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6" name="Text 3"/>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Compliance is the product, not a checkbox</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Banks lose days on document checks. We make it fast, tiered and automated, with a human on the exceptions.</a:t>
            </a:r>
            <a:endParaRPr lang="en-US" sz="1400" dirty="0"/>
          </a:p>
        </p:txBody>
      </p:sp>
      <p:sp>
        <p:nvSpPr>
          <p:cNvPr id="4" name="Shape 2"/>
          <p:cNvSpPr/>
          <p:nvPr/>
        </p:nvSpPr>
        <p:spPr>
          <a:xfrm>
            <a:off x="457200" y="1508760"/>
            <a:ext cx="4206240" cy="3017520"/>
          </a:xfrm>
          <a:prstGeom prst="roundRect">
            <a:avLst>
              <a:gd name="adj" fmla="val 2424"/>
            </a:avLst>
          </a:prstGeom>
          <a:solidFill>
            <a:srgbClr val="173432"/>
          </a:solidFill>
          <a:ln w="12700">
            <a:solidFill>
              <a:srgbClr val="173432"/>
            </a:solidFill>
            <a:prstDash val="solid"/>
          </a:ln>
        </p:spPr>
      </p:sp>
      <p:sp>
        <p:nvSpPr>
          <p:cNvPr id="5" name="Text 3"/>
          <p:cNvSpPr txBox="1"/>
          <p:nvPr/>
        </p:nvSpPr>
        <p:spPr>
          <a:xfrm>
            <a:off x="685800" y="1645920"/>
            <a:ext cx="2743200" cy="320040"/>
          </a:xfrm>
          <a:prstGeom prst="rect">
            <a:avLst/>
          </a:prstGeom>
          <a:noFill/>
          <a:ln/>
        </p:spPr>
        <p:txBody>
          <a:bodyPr wrap="square" lIns="0" tIns="0" rIns="0" bIns="0" rtlCol="0" anchor="t"/>
          <a:lstStyle/>
          <a:p>
            <a:pPr algn="l" indent="0" marL="0">
              <a:lnSpc>
                <a:spcPct val="105000"/>
              </a:lnSpc>
              <a:buNone/>
            </a:pPr>
            <a:r>
              <a:rPr lang="en-US" sz="1500" b="1" dirty="0">
                <a:solidFill>
                  <a:srgbClr val="F2F7F4"/>
                </a:solidFill>
                <a:latin typeface="Calibri" pitchFamily="34" charset="0"/>
                <a:ea typeface="Calibri" pitchFamily="34" charset="-122"/>
                <a:cs typeface="Calibri" pitchFamily="34" charset="-120"/>
              </a:rPr>
              <a:t>Tiered KYB</a:t>
            </a:r>
            <a:endParaRPr lang="en-US" sz="1500" dirty="0"/>
          </a:p>
        </p:txBody>
      </p:sp>
      <p:sp>
        <p:nvSpPr>
          <p:cNvPr id="6" name="Shape 4"/>
          <p:cNvSpPr/>
          <p:nvPr/>
        </p:nvSpPr>
        <p:spPr>
          <a:xfrm>
            <a:off x="685800" y="2057400"/>
            <a:ext cx="3749040" cy="713232"/>
          </a:xfrm>
          <a:prstGeom prst="roundRect">
            <a:avLst>
              <a:gd name="adj" fmla="val 6410"/>
            </a:avLst>
          </a:prstGeom>
          <a:solidFill>
            <a:srgbClr val="1E403D"/>
          </a:solidFill>
          <a:ln w="12700">
            <a:solidFill>
              <a:srgbClr val="1E403D"/>
            </a:solidFill>
            <a:prstDash val="solid"/>
          </a:ln>
        </p:spPr>
      </p:sp>
      <p:sp>
        <p:nvSpPr>
          <p:cNvPr id="7" name="Text 5"/>
          <p:cNvSpPr txBox="1"/>
          <p:nvPr/>
        </p:nvSpPr>
        <p:spPr>
          <a:xfrm>
            <a:off x="822960" y="2148840"/>
            <a:ext cx="2286000" cy="256032"/>
          </a:xfrm>
          <a:prstGeom prst="rect">
            <a:avLst/>
          </a:prstGeom>
          <a:noFill/>
          <a:ln/>
        </p:spPr>
        <p:txBody>
          <a:bodyPr wrap="square" lIns="0" tIns="0" rIns="0" bIns="0" rtlCol="0" anchor="t"/>
          <a:lstStyle/>
          <a:p>
            <a:pPr algn="l" indent="0" marL="0">
              <a:lnSpc>
                <a:spcPct val="105000"/>
              </a:lnSpc>
              <a:buNone/>
            </a:pPr>
            <a:r>
              <a:rPr lang="en-US" sz="1150" b="1" dirty="0">
                <a:solidFill>
                  <a:srgbClr val="3ECFA0"/>
                </a:solidFill>
                <a:latin typeface="Calibri" pitchFamily="34" charset="0"/>
                <a:ea typeface="Calibri" pitchFamily="34" charset="-122"/>
                <a:cs typeface="Calibri" pitchFamily="34" charset="-120"/>
              </a:rPr>
              <a:t>Tier 1  Starter</a:t>
            </a:r>
            <a:endParaRPr lang="en-US" sz="1150" dirty="0"/>
          </a:p>
        </p:txBody>
      </p:sp>
      <p:sp>
        <p:nvSpPr>
          <p:cNvPr id="8" name="Text 6"/>
          <p:cNvSpPr txBox="1"/>
          <p:nvPr/>
        </p:nvSpPr>
        <p:spPr>
          <a:xfrm>
            <a:off x="822960" y="2423160"/>
            <a:ext cx="2240280" cy="274320"/>
          </a:xfrm>
          <a:prstGeom prst="rect">
            <a:avLst/>
          </a:prstGeom>
          <a:noFill/>
          <a:ln/>
        </p:spPr>
        <p:txBody>
          <a:bodyPr wrap="square" lIns="0" tIns="0" rIns="0" bIns="0" rtlCol="0" anchor="t"/>
          <a:lstStyle/>
          <a:p>
            <a:pPr algn="l" indent="0" marL="0">
              <a:lnSpc>
                <a:spcPct val="105000"/>
              </a:lnSpc>
              <a:buNone/>
            </a:pPr>
            <a:r>
              <a:rPr lang="en-US" sz="950" dirty="0">
                <a:solidFill>
                  <a:srgbClr val="9FB8B2"/>
                </a:solidFill>
                <a:latin typeface="Calibri" pitchFamily="34" charset="0"/>
                <a:ea typeface="Calibri" pitchFamily="34" charset="-122"/>
                <a:cs typeface="Calibri" pitchFamily="34" charset="-120"/>
              </a:rPr>
              <a:t>Reg. certificate + director ID</a:t>
            </a:r>
            <a:endParaRPr lang="en-US" sz="950" dirty="0"/>
          </a:p>
        </p:txBody>
      </p:sp>
      <p:sp>
        <p:nvSpPr>
          <p:cNvPr id="9" name="Text 7"/>
          <p:cNvSpPr txBox="1"/>
          <p:nvPr/>
        </p:nvSpPr>
        <p:spPr>
          <a:xfrm>
            <a:off x="3108960" y="2148840"/>
            <a:ext cx="1234440" cy="530352"/>
          </a:xfrm>
          <a:prstGeom prst="rect">
            <a:avLst/>
          </a:prstGeom>
          <a:noFill/>
          <a:ln/>
        </p:spPr>
        <p:txBody>
          <a:bodyPr wrap="square" lIns="0" tIns="0" rIns="0" bIns="0" rtlCol="0" anchor="ctr"/>
          <a:lstStyle/>
          <a:p>
            <a:pPr algn="r" indent="0" marL="0">
              <a:lnSpc>
                <a:spcPct val="105000"/>
              </a:lnSpc>
              <a:buNone/>
            </a:pPr>
            <a:r>
              <a:rPr lang="en-US" sz="1000" b="1" dirty="0">
                <a:solidFill>
                  <a:srgbClr val="F2F7F4"/>
                </a:solidFill>
                <a:latin typeface="Calibri" pitchFamily="34" charset="0"/>
                <a:ea typeface="Calibri" pitchFamily="34" charset="-122"/>
                <a:cs typeface="Calibri" pitchFamily="34" charset="-120"/>
              </a:rPr>
              <a:t>USD 500 / payment</a:t>
            </a:r>
            <a:endParaRPr lang="en-US" sz="1000" dirty="0"/>
          </a:p>
        </p:txBody>
      </p:sp>
      <p:sp>
        <p:nvSpPr>
          <p:cNvPr id="10" name="Shape 8"/>
          <p:cNvSpPr/>
          <p:nvPr/>
        </p:nvSpPr>
        <p:spPr>
          <a:xfrm>
            <a:off x="685800" y="2862072"/>
            <a:ext cx="3749040" cy="713232"/>
          </a:xfrm>
          <a:prstGeom prst="roundRect">
            <a:avLst>
              <a:gd name="adj" fmla="val 6410"/>
            </a:avLst>
          </a:prstGeom>
          <a:solidFill>
            <a:srgbClr val="1E403D"/>
          </a:solidFill>
          <a:ln w="12700">
            <a:solidFill>
              <a:srgbClr val="1E403D"/>
            </a:solidFill>
            <a:prstDash val="solid"/>
          </a:ln>
        </p:spPr>
      </p:sp>
      <p:sp>
        <p:nvSpPr>
          <p:cNvPr id="11" name="Text 9"/>
          <p:cNvSpPr txBox="1"/>
          <p:nvPr/>
        </p:nvSpPr>
        <p:spPr>
          <a:xfrm>
            <a:off x="822960" y="2953512"/>
            <a:ext cx="2286000" cy="256032"/>
          </a:xfrm>
          <a:prstGeom prst="rect">
            <a:avLst/>
          </a:prstGeom>
          <a:noFill/>
          <a:ln/>
        </p:spPr>
        <p:txBody>
          <a:bodyPr wrap="square" lIns="0" tIns="0" rIns="0" bIns="0" rtlCol="0" anchor="t"/>
          <a:lstStyle/>
          <a:p>
            <a:pPr algn="l" indent="0" marL="0">
              <a:lnSpc>
                <a:spcPct val="105000"/>
              </a:lnSpc>
              <a:buNone/>
            </a:pPr>
            <a:r>
              <a:rPr lang="en-US" sz="1150" b="1" dirty="0">
                <a:solidFill>
                  <a:srgbClr val="3ECFA0"/>
                </a:solidFill>
                <a:latin typeface="Calibri" pitchFamily="34" charset="0"/>
                <a:ea typeface="Calibri" pitchFamily="34" charset="-122"/>
                <a:cs typeface="Calibri" pitchFamily="34" charset="-120"/>
              </a:rPr>
              <a:t>Tier 2  Verified</a:t>
            </a:r>
            <a:endParaRPr lang="en-US" sz="1150" dirty="0"/>
          </a:p>
        </p:txBody>
      </p:sp>
      <p:sp>
        <p:nvSpPr>
          <p:cNvPr id="12" name="Text 10"/>
          <p:cNvSpPr txBox="1"/>
          <p:nvPr/>
        </p:nvSpPr>
        <p:spPr>
          <a:xfrm>
            <a:off x="822960" y="3227832"/>
            <a:ext cx="2240280" cy="274320"/>
          </a:xfrm>
          <a:prstGeom prst="rect">
            <a:avLst/>
          </a:prstGeom>
          <a:noFill/>
          <a:ln/>
        </p:spPr>
        <p:txBody>
          <a:bodyPr wrap="square" lIns="0" tIns="0" rIns="0" bIns="0" rtlCol="0" anchor="t"/>
          <a:lstStyle/>
          <a:p>
            <a:pPr algn="l" indent="0" marL="0">
              <a:lnSpc>
                <a:spcPct val="105000"/>
              </a:lnSpc>
              <a:buNone/>
            </a:pPr>
            <a:r>
              <a:rPr lang="en-US" sz="950" dirty="0">
                <a:solidFill>
                  <a:srgbClr val="9FB8B2"/>
                </a:solidFill>
                <a:latin typeface="Calibri" pitchFamily="34" charset="0"/>
                <a:ea typeface="Calibri" pitchFamily="34" charset="-122"/>
                <a:cs typeface="Calibri" pitchFamily="34" charset="-120"/>
              </a:rPr>
              <a:t>All documents, manual review</a:t>
            </a:r>
            <a:endParaRPr lang="en-US" sz="950" dirty="0"/>
          </a:p>
        </p:txBody>
      </p:sp>
      <p:sp>
        <p:nvSpPr>
          <p:cNvPr id="13" name="Text 11"/>
          <p:cNvSpPr txBox="1"/>
          <p:nvPr/>
        </p:nvSpPr>
        <p:spPr>
          <a:xfrm>
            <a:off x="3108960" y="2953512"/>
            <a:ext cx="1234440" cy="530352"/>
          </a:xfrm>
          <a:prstGeom prst="rect">
            <a:avLst/>
          </a:prstGeom>
          <a:noFill/>
          <a:ln/>
        </p:spPr>
        <p:txBody>
          <a:bodyPr wrap="square" lIns="0" tIns="0" rIns="0" bIns="0" rtlCol="0" anchor="ctr"/>
          <a:lstStyle/>
          <a:p>
            <a:pPr algn="r" indent="0" marL="0">
              <a:lnSpc>
                <a:spcPct val="105000"/>
              </a:lnSpc>
              <a:buNone/>
            </a:pPr>
            <a:r>
              <a:rPr lang="en-US" sz="1000" b="1" dirty="0">
                <a:solidFill>
                  <a:srgbClr val="F2F7F4"/>
                </a:solidFill>
                <a:latin typeface="Calibri" pitchFamily="34" charset="0"/>
                <a:ea typeface="Calibri" pitchFamily="34" charset="-122"/>
                <a:cs typeface="Calibri" pitchFamily="34" charset="-120"/>
              </a:rPr>
              <a:t>USD 10,000 / payment</a:t>
            </a:r>
            <a:endParaRPr lang="en-US" sz="1000" dirty="0"/>
          </a:p>
        </p:txBody>
      </p:sp>
      <p:sp>
        <p:nvSpPr>
          <p:cNvPr id="14" name="Shape 12"/>
          <p:cNvSpPr/>
          <p:nvPr/>
        </p:nvSpPr>
        <p:spPr>
          <a:xfrm>
            <a:off x="685800" y="3666744"/>
            <a:ext cx="3749040" cy="713232"/>
          </a:xfrm>
          <a:prstGeom prst="roundRect">
            <a:avLst>
              <a:gd name="adj" fmla="val 6410"/>
            </a:avLst>
          </a:prstGeom>
          <a:solidFill>
            <a:srgbClr val="1E403D"/>
          </a:solidFill>
          <a:ln w="12700">
            <a:solidFill>
              <a:srgbClr val="1E403D"/>
            </a:solidFill>
            <a:prstDash val="solid"/>
          </a:ln>
        </p:spPr>
      </p:sp>
      <p:sp>
        <p:nvSpPr>
          <p:cNvPr id="15" name="Text 13"/>
          <p:cNvSpPr txBox="1"/>
          <p:nvPr/>
        </p:nvSpPr>
        <p:spPr>
          <a:xfrm>
            <a:off x="822960" y="3758184"/>
            <a:ext cx="2286000" cy="256032"/>
          </a:xfrm>
          <a:prstGeom prst="rect">
            <a:avLst/>
          </a:prstGeom>
          <a:noFill/>
          <a:ln/>
        </p:spPr>
        <p:txBody>
          <a:bodyPr wrap="square" lIns="0" tIns="0" rIns="0" bIns="0" rtlCol="0" anchor="t"/>
          <a:lstStyle/>
          <a:p>
            <a:pPr algn="l" indent="0" marL="0">
              <a:lnSpc>
                <a:spcPct val="105000"/>
              </a:lnSpc>
              <a:buNone/>
            </a:pPr>
            <a:r>
              <a:rPr lang="en-US" sz="1150" b="1" dirty="0">
                <a:solidFill>
                  <a:srgbClr val="3ECFA0"/>
                </a:solidFill>
                <a:latin typeface="Calibri" pitchFamily="34" charset="0"/>
                <a:ea typeface="Calibri" pitchFamily="34" charset="-122"/>
                <a:cs typeface="Calibri" pitchFamily="34" charset="-120"/>
              </a:rPr>
              <a:t>Tier 3  Enhanced</a:t>
            </a:r>
            <a:endParaRPr lang="en-US" sz="1150" dirty="0"/>
          </a:p>
        </p:txBody>
      </p:sp>
      <p:sp>
        <p:nvSpPr>
          <p:cNvPr id="16" name="Text 14"/>
          <p:cNvSpPr txBox="1"/>
          <p:nvPr/>
        </p:nvSpPr>
        <p:spPr>
          <a:xfrm>
            <a:off x="822960" y="4032504"/>
            <a:ext cx="2240280" cy="274320"/>
          </a:xfrm>
          <a:prstGeom prst="rect">
            <a:avLst/>
          </a:prstGeom>
          <a:noFill/>
          <a:ln/>
        </p:spPr>
        <p:txBody>
          <a:bodyPr wrap="square" lIns="0" tIns="0" rIns="0" bIns="0" rtlCol="0" anchor="t"/>
          <a:lstStyle/>
          <a:p>
            <a:pPr algn="l" indent="0" marL="0">
              <a:lnSpc>
                <a:spcPct val="105000"/>
              </a:lnSpc>
              <a:buNone/>
            </a:pPr>
            <a:r>
              <a:rPr lang="en-US" sz="950" dirty="0">
                <a:solidFill>
                  <a:srgbClr val="9FB8B2"/>
                </a:solidFill>
                <a:latin typeface="Calibri" pitchFamily="34" charset="0"/>
                <a:ea typeface="Calibri" pitchFamily="34" charset="-122"/>
                <a:cs typeface="Calibri" pitchFamily="34" charset="-120"/>
              </a:rPr>
              <a:t>Source of funds + bank statement</a:t>
            </a:r>
            <a:endParaRPr lang="en-US" sz="950" dirty="0"/>
          </a:p>
        </p:txBody>
      </p:sp>
      <p:sp>
        <p:nvSpPr>
          <p:cNvPr id="17" name="Text 15"/>
          <p:cNvSpPr txBox="1"/>
          <p:nvPr/>
        </p:nvSpPr>
        <p:spPr>
          <a:xfrm>
            <a:off x="3108960" y="3758184"/>
            <a:ext cx="1234440" cy="530352"/>
          </a:xfrm>
          <a:prstGeom prst="rect">
            <a:avLst/>
          </a:prstGeom>
          <a:noFill/>
          <a:ln/>
        </p:spPr>
        <p:txBody>
          <a:bodyPr wrap="square" lIns="0" tIns="0" rIns="0" bIns="0" rtlCol="0" anchor="ctr"/>
          <a:lstStyle/>
          <a:p>
            <a:pPr algn="r" indent="0" marL="0">
              <a:lnSpc>
                <a:spcPct val="105000"/>
              </a:lnSpc>
              <a:buNone/>
            </a:pPr>
            <a:r>
              <a:rPr lang="en-US" sz="1000" b="1" dirty="0">
                <a:solidFill>
                  <a:srgbClr val="F2F7F4"/>
                </a:solidFill>
                <a:latin typeface="Calibri" pitchFamily="34" charset="0"/>
                <a:ea typeface="Calibri" pitchFamily="34" charset="-122"/>
                <a:cs typeface="Calibri" pitchFamily="34" charset="-120"/>
              </a:rPr>
              <a:t>Set per business</a:t>
            </a:r>
            <a:endParaRPr lang="en-US" sz="1000" dirty="0"/>
          </a:p>
        </p:txBody>
      </p:sp>
      <p:sp>
        <p:nvSpPr>
          <p:cNvPr id="18" name="Shape 16"/>
          <p:cNvSpPr/>
          <p:nvPr/>
        </p:nvSpPr>
        <p:spPr>
          <a:xfrm>
            <a:off x="4892040" y="1508760"/>
            <a:ext cx="3794760" cy="3017520"/>
          </a:xfrm>
          <a:prstGeom prst="roundRect">
            <a:avLst>
              <a:gd name="adj" fmla="val 2424"/>
            </a:avLst>
          </a:prstGeom>
          <a:solidFill>
            <a:srgbClr val="173432"/>
          </a:solidFill>
          <a:ln w="12700">
            <a:solidFill>
              <a:srgbClr val="173432"/>
            </a:solidFill>
            <a:prstDash val="solid"/>
          </a:ln>
        </p:spPr>
      </p:sp>
      <p:sp>
        <p:nvSpPr>
          <p:cNvPr id="19" name="Text 17"/>
          <p:cNvSpPr txBox="1"/>
          <p:nvPr/>
        </p:nvSpPr>
        <p:spPr>
          <a:xfrm>
            <a:off x="5120640" y="1645920"/>
            <a:ext cx="2743200" cy="320040"/>
          </a:xfrm>
          <a:prstGeom prst="rect">
            <a:avLst/>
          </a:prstGeom>
          <a:noFill/>
          <a:ln/>
        </p:spPr>
        <p:txBody>
          <a:bodyPr wrap="square" lIns="0" tIns="0" rIns="0" bIns="0" rtlCol="0" anchor="t"/>
          <a:lstStyle/>
          <a:p>
            <a:pPr algn="l" indent="0" marL="0">
              <a:lnSpc>
                <a:spcPct val="105000"/>
              </a:lnSpc>
              <a:buNone/>
            </a:pPr>
            <a:r>
              <a:rPr lang="en-US" sz="1500" b="1" dirty="0">
                <a:solidFill>
                  <a:srgbClr val="F2F7F4"/>
                </a:solidFill>
                <a:latin typeface="Calibri" pitchFamily="34" charset="0"/>
                <a:ea typeface="Calibri" pitchFamily="34" charset="-122"/>
                <a:cs typeface="Calibri" pitchFamily="34" charset="-120"/>
              </a:rPr>
              <a:t>Automated AML</a:t>
            </a:r>
            <a:endParaRPr lang="en-US" sz="1500" dirty="0"/>
          </a:p>
        </p:txBody>
      </p:sp>
      <p:sp>
        <p:nvSpPr>
          <p:cNvPr id="20" name="Shape 18"/>
          <p:cNvSpPr/>
          <p:nvPr/>
        </p:nvSpPr>
        <p:spPr>
          <a:xfrm>
            <a:off x="5120640" y="2103120"/>
            <a:ext cx="365760" cy="365760"/>
          </a:xfrm>
          <a:prstGeom prst="ellipse">
            <a:avLst/>
          </a:prstGeom>
          <a:solidFill>
            <a:srgbClr val="E5C158"/>
          </a:solidFill>
          <a:ln w="12700">
            <a:solidFill>
              <a:srgbClr val="E5C158"/>
            </a:solidFill>
            <a:prstDash val="solid"/>
          </a:ln>
        </p:spPr>
      </p:sp>
      <p:pic>
        <p:nvPicPr>
          <p:cNvPr id="21" name="Image 0" descr="preencoded.png">    </p:cNvPr>
          <p:cNvPicPr>
            <a:picLocks noChangeAspect="1"/>
          </p:cNvPicPr>
          <p:nvPr/>
        </p:nvPicPr>
        <p:blipFill>
          <a:blip r:embed="rId1"/>
          <a:stretch>
            <a:fillRect/>
          </a:stretch>
        </p:blipFill>
        <p:spPr>
          <a:xfrm>
            <a:off x="5208422" y="2190902"/>
            <a:ext cx="190195" cy="190195"/>
          </a:xfrm>
          <a:prstGeom prst="rect">
            <a:avLst/>
          </a:prstGeom>
        </p:spPr>
      </p:pic>
      <p:sp>
        <p:nvSpPr>
          <p:cNvPr id="22" name="Text 19"/>
          <p:cNvSpPr txBox="1"/>
          <p:nvPr/>
        </p:nvSpPr>
        <p:spPr>
          <a:xfrm>
            <a:off x="5577840" y="2075688"/>
            <a:ext cx="2926080" cy="256032"/>
          </a:xfrm>
          <a:prstGeom prst="rect">
            <a:avLst/>
          </a:prstGeom>
          <a:noFill/>
          <a:ln/>
        </p:spPr>
        <p:txBody>
          <a:bodyPr wrap="square" lIns="0" tIns="0" rIns="0" bIns="0" rtlCol="0" anchor="t"/>
          <a:lstStyle/>
          <a:p>
            <a:pPr algn="l" indent="0" marL="0">
              <a:lnSpc>
                <a:spcPct val="105000"/>
              </a:lnSpc>
              <a:buNone/>
            </a:pPr>
            <a:r>
              <a:rPr lang="en-US" sz="1150" b="1" dirty="0">
                <a:solidFill>
                  <a:srgbClr val="F2F7F4"/>
                </a:solidFill>
                <a:latin typeface="Calibri" pitchFamily="34" charset="0"/>
                <a:ea typeface="Calibri" pitchFamily="34" charset="-122"/>
                <a:cs typeface="Calibri" pitchFamily="34" charset="-120"/>
              </a:rPr>
              <a:t>Sanctions screening</a:t>
            </a:r>
            <a:endParaRPr lang="en-US" sz="1150" dirty="0"/>
          </a:p>
        </p:txBody>
      </p:sp>
      <p:sp>
        <p:nvSpPr>
          <p:cNvPr id="23" name="Text 20"/>
          <p:cNvSpPr txBox="1"/>
          <p:nvPr/>
        </p:nvSpPr>
        <p:spPr>
          <a:xfrm>
            <a:off x="5577840" y="2331720"/>
            <a:ext cx="2971800" cy="502920"/>
          </a:xfrm>
          <a:prstGeom prst="rect">
            <a:avLst/>
          </a:prstGeom>
          <a:noFill/>
          <a:ln/>
        </p:spPr>
        <p:txBody>
          <a:bodyPr wrap="square" lIns="0" tIns="0" rIns="0" bIns="0" rtlCol="0" anchor="t"/>
          <a:lstStyle/>
          <a:p>
            <a:pPr algn="l" indent="0" marL="0">
              <a:lnSpc>
                <a:spcPct val="110000"/>
              </a:lnSpc>
              <a:buNone/>
            </a:pPr>
            <a:r>
              <a:rPr lang="en-US" sz="950" dirty="0">
                <a:solidFill>
                  <a:srgbClr val="9FB8B2"/>
                </a:solidFill>
                <a:latin typeface="Calibri" pitchFamily="34" charset="0"/>
                <a:ea typeface="Calibri" pitchFamily="34" charset="-122"/>
                <a:cs typeface="Calibri" pitchFamily="34" charset="-120"/>
              </a:rPr>
              <a:t>OFAC, UN, EU, UK lists refreshed nightly. Business, directors, owners, recipients, payers.</a:t>
            </a:r>
            <a:endParaRPr lang="en-US" sz="950" dirty="0"/>
          </a:p>
        </p:txBody>
      </p:sp>
      <p:sp>
        <p:nvSpPr>
          <p:cNvPr id="24" name="Shape 21"/>
          <p:cNvSpPr/>
          <p:nvPr/>
        </p:nvSpPr>
        <p:spPr>
          <a:xfrm>
            <a:off x="5120640" y="2907792"/>
            <a:ext cx="365760" cy="365760"/>
          </a:xfrm>
          <a:prstGeom prst="ellipse">
            <a:avLst/>
          </a:prstGeom>
          <a:solidFill>
            <a:srgbClr val="E5C158"/>
          </a:solidFill>
          <a:ln w="12700">
            <a:solidFill>
              <a:srgbClr val="E5C158"/>
            </a:solidFill>
            <a:prstDash val="solid"/>
          </a:ln>
        </p:spPr>
      </p:sp>
      <p:pic>
        <p:nvPicPr>
          <p:cNvPr id="25" name="Image 1" descr="preencoded.png">    </p:cNvPr>
          <p:cNvPicPr>
            <a:picLocks noChangeAspect="1"/>
          </p:cNvPicPr>
          <p:nvPr/>
        </p:nvPicPr>
        <p:blipFill>
          <a:blip r:embed="rId2"/>
          <a:stretch>
            <a:fillRect/>
          </a:stretch>
        </p:blipFill>
        <p:spPr>
          <a:xfrm>
            <a:off x="5208422" y="2995574"/>
            <a:ext cx="190195" cy="190195"/>
          </a:xfrm>
          <a:prstGeom prst="rect">
            <a:avLst/>
          </a:prstGeom>
        </p:spPr>
      </p:pic>
      <p:sp>
        <p:nvSpPr>
          <p:cNvPr id="26" name="Text 22"/>
          <p:cNvSpPr txBox="1"/>
          <p:nvPr/>
        </p:nvSpPr>
        <p:spPr>
          <a:xfrm>
            <a:off x="5577840" y="2880360"/>
            <a:ext cx="2926080" cy="256032"/>
          </a:xfrm>
          <a:prstGeom prst="rect">
            <a:avLst/>
          </a:prstGeom>
          <a:noFill/>
          <a:ln/>
        </p:spPr>
        <p:txBody>
          <a:bodyPr wrap="square" lIns="0" tIns="0" rIns="0" bIns="0" rtlCol="0" anchor="t"/>
          <a:lstStyle/>
          <a:p>
            <a:pPr algn="l" indent="0" marL="0">
              <a:lnSpc>
                <a:spcPct val="105000"/>
              </a:lnSpc>
              <a:buNone/>
            </a:pPr>
            <a:r>
              <a:rPr lang="en-US" sz="1150" b="1" dirty="0">
                <a:solidFill>
                  <a:srgbClr val="F2F7F4"/>
                </a:solidFill>
                <a:latin typeface="Calibri" pitchFamily="34" charset="0"/>
                <a:ea typeface="Calibri" pitchFamily="34" charset="-122"/>
                <a:cs typeface="Calibri" pitchFamily="34" charset="-120"/>
              </a:rPr>
              <a:t>Limits and velocity</a:t>
            </a:r>
            <a:endParaRPr lang="en-US" sz="1150" dirty="0"/>
          </a:p>
        </p:txBody>
      </p:sp>
      <p:sp>
        <p:nvSpPr>
          <p:cNvPr id="27" name="Text 23"/>
          <p:cNvSpPr txBox="1"/>
          <p:nvPr/>
        </p:nvSpPr>
        <p:spPr>
          <a:xfrm>
            <a:off x="5577840" y="3136392"/>
            <a:ext cx="2971800" cy="502920"/>
          </a:xfrm>
          <a:prstGeom prst="rect">
            <a:avLst/>
          </a:prstGeom>
          <a:noFill/>
          <a:ln/>
        </p:spPr>
        <p:txBody>
          <a:bodyPr wrap="square" lIns="0" tIns="0" rIns="0" bIns="0" rtlCol="0" anchor="t"/>
          <a:lstStyle/>
          <a:p>
            <a:pPr algn="l" indent="0" marL="0">
              <a:lnSpc>
                <a:spcPct val="110000"/>
              </a:lnSpc>
              <a:buNone/>
            </a:pPr>
            <a:r>
              <a:rPr lang="en-US" sz="950" dirty="0">
                <a:solidFill>
                  <a:srgbClr val="9FB8B2"/>
                </a:solidFill>
                <a:latin typeface="Calibri" pitchFamily="34" charset="0"/>
                <a:ea typeface="Calibri" pitchFamily="34" charset="-122"/>
                <a:cs typeface="Calibri" pitchFamily="34" charset="-120"/>
              </a:rPr>
              <a:t>Per-payment and 30-day caps by tier. Structuring and pass-through detection.</a:t>
            </a:r>
            <a:endParaRPr lang="en-US" sz="950" dirty="0"/>
          </a:p>
        </p:txBody>
      </p:sp>
      <p:sp>
        <p:nvSpPr>
          <p:cNvPr id="28" name="Shape 24"/>
          <p:cNvSpPr/>
          <p:nvPr/>
        </p:nvSpPr>
        <p:spPr>
          <a:xfrm>
            <a:off x="5120640" y="3712464"/>
            <a:ext cx="365760" cy="365760"/>
          </a:xfrm>
          <a:prstGeom prst="ellipse">
            <a:avLst/>
          </a:prstGeom>
          <a:solidFill>
            <a:srgbClr val="E5C158"/>
          </a:solidFill>
          <a:ln w="12700">
            <a:solidFill>
              <a:srgbClr val="E5C158"/>
            </a:solidFill>
            <a:prstDash val="solid"/>
          </a:ln>
        </p:spPr>
      </p:sp>
      <p:pic>
        <p:nvPicPr>
          <p:cNvPr id="29" name="Image 2" descr="preencoded.png">    </p:cNvPr>
          <p:cNvPicPr>
            <a:picLocks noChangeAspect="1"/>
          </p:cNvPicPr>
          <p:nvPr/>
        </p:nvPicPr>
        <p:blipFill>
          <a:blip r:embed="rId3"/>
          <a:stretch>
            <a:fillRect/>
          </a:stretch>
        </p:blipFill>
        <p:spPr>
          <a:xfrm>
            <a:off x="5208422" y="3800246"/>
            <a:ext cx="190195" cy="190195"/>
          </a:xfrm>
          <a:prstGeom prst="rect">
            <a:avLst/>
          </a:prstGeom>
        </p:spPr>
      </p:pic>
      <p:sp>
        <p:nvSpPr>
          <p:cNvPr id="30" name="Text 25"/>
          <p:cNvSpPr txBox="1"/>
          <p:nvPr/>
        </p:nvSpPr>
        <p:spPr>
          <a:xfrm>
            <a:off x="5577840" y="3685032"/>
            <a:ext cx="2926080" cy="256032"/>
          </a:xfrm>
          <a:prstGeom prst="rect">
            <a:avLst/>
          </a:prstGeom>
          <a:noFill/>
          <a:ln/>
        </p:spPr>
        <p:txBody>
          <a:bodyPr wrap="square" lIns="0" tIns="0" rIns="0" bIns="0" rtlCol="0" anchor="t"/>
          <a:lstStyle/>
          <a:p>
            <a:pPr algn="l" indent="0" marL="0">
              <a:lnSpc>
                <a:spcPct val="105000"/>
              </a:lnSpc>
              <a:buNone/>
            </a:pPr>
            <a:r>
              <a:rPr lang="en-US" sz="1150" b="1" dirty="0">
                <a:solidFill>
                  <a:srgbClr val="F2F7F4"/>
                </a:solidFill>
                <a:latin typeface="Calibri" pitchFamily="34" charset="0"/>
                <a:ea typeface="Calibri" pitchFamily="34" charset="-122"/>
                <a:cs typeface="Calibri" pitchFamily="34" charset="-120"/>
              </a:rPr>
              <a:t>Human review</a:t>
            </a:r>
            <a:endParaRPr lang="en-US" sz="1150" dirty="0"/>
          </a:p>
        </p:txBody>
      </p:sp>
      <p:sp>
        <p:nvSpPr>
          <p:cNvPr id="31" name="Text 26"/>
          <p:cNvSpPr txBox="1"/>
          <p:nvPr/>
        </p:nvSpPr>
        <p:spPr>
          <a:xfrm>
            <a:off x="5577840" y="3941064"/>
            <a:ext cx="2971800" cy="502920"/>
          </a:xfrm>
          <a:prstGeom prst="rect">
            <a:avLst/>
          </a:prstGeom>
          <a:noFill/>
          <a:ln/>
        </p:spPr>
        <p:txBody>
          <a:bodyPr wrap="square" lIns="0" tIns="0" rIns="0" bIns="0" rtlCol="0" anchor="t"/>
          <a:lstStyle/>
          <a:p>
            <a:pPr algn="l" indent="0" marL="0">
              <a:lnSpc>
                <a:spcPct val="110000"/>
              </a:lnSpc>
              <a:buNone/>
            </a:pPr>
            <a:r>
              <a:rPr lang="en-US" sz="950" dirty="0">
                <a:solidFill>
                  <a:srgbClr val="9FB8B2"/>
                </a:solidFill>
                <a:latin typeface="Calibri" pitchFamily="34" charset="0"/>
                <a:ea typeface="Calibri" pitchFamily="34" charset="-122"/>
                <a:cs typeface="Calibri" pitchFamily="34" charset="-120"/>
              </a:rPr>
              <a:t>Flags and held transactions go to a queue. Every decision logged for 7 years.</a:t>
            </a:r>
            <a:endParaRPr lang="en-US" sz="950" dirty="0"/>
          </a:p>
        </p:txBody>
      </p:sp>
      <p:sp>
        <p:nvSpPr>
          <p:cNvPr id="32" name="Text 27"/>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33" name="Text 28"/>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Where we are</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Validated the problem. Built the demos. Designed the MVP. Ready to build.</a:t>
            </a:r>
            <a:endParaRPr lang="en-US" sz="1400" dirty="0"/>
          </a:p>
        </p:txBody>
      </p:sp>
      <p:sp>
        <p:nvSpPr>
          <p:cNvPr id="4" name="Shape 2"/>
          <p:cNvSpPr/>
          <p:nvPr/>
        </p:nvSpPr>
        <p:spPr>
          <a:xfrm>
            <a:off x="457200" y="1508760"/>
            <a:ext cx="1920240" cy="2011680"/>
          </a:xfrm>
          <a:prstGeom prst="roundRect">
            <a:avLst>
              <a:gd name="adj" fmla="val 3810"/>
            </a:avLst>
          </a:prstGeom>
          <a:solidFill>
            <a:srgbClr val="173432"/>
          </a:solidFill>
          <a:ln w="12700">
            <a:solidFill>
              <a:srgbClr val="173432"/>
            </a:solidFill>
            <a:prstDash val="solid"/>
          </a:ln>
        </p:spPr>
      </p:sp>
      <p:sp>
        <p:nvSpPr>
          <p:cNvPr id="5" name="Shape 3"/>
          <p:cNvSpPr/>
          <p:nvPr/>
        </p:nvSpPr>
        <p:spPr>
          <a:xfrm>
            <a:off x="658368" y="1691640"/>
            <a:ext cx="402336" cy="402336"/>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54929" y="1788201"/>
            <a:ext cx="209215" cy="209215"/>
          </a:xfrm>
          <a:prstGeom prst="rect">
            <a:avLst/>
          </a:prstGeom>
        </p:spPr>
      </p:pic>
      <p:sp>
        <p:nvSpPr>
          <p:cNvPr id="7" name="Text 4"/>
          <p:cNvSpPr txBox="1"/>
          <p:nvPr/>
        </p:nvSpPr>
        <p:spPr>
          <a:xfrm>
            <a:off x="658368" y="2194560"/>
            <a:ext cx="1517904" cy="457200"/>
          </a:xfrm>
          <a:prstGeom prst="rect">
            <a:avLst/>
          </a:prstGeom>
          <a:noFill/>
          <a:ln/>
        </p:spPr>
        <p:txBody>
          <a:bodyPr wrap="square" lIns="0" tIns="0" rIns="0" bIns="0" rtlCol="0" anchor="t"/>
          <a:lstStyle/>
          <a:p>
            <a:pPr algn="l" indent="0" marL="0">
              <a:lnSpc>
                <a:spcPct val="105000"/>
              </a:lnSpc>
              <a:buNone/>
            </a:pPr>
            <a:r>
              <a:rPr lang="en-US" sz="2400" b="1" dirty="0">
                <a:solidFill>
                  <a:srgbClr val="3ECFA0"/>
                </a:solidFill>
                <a:latin typeface="Calibri" pitchFamily="34" charset="0"/>
                <a:ea typeface="Calibri" pitchFamily="34" charset="-122"/>
                <a:cs typeface="Calibri" pitchFamily="34" charset="-120"/>
              </a:rPr>
              <a:t>5</a:t>
            </a:r>
            <a:endParaRPr lang="en-US" sz="2400" dirty="0"/>
          </a:p>
        </p:txBody>
      </p:sp>
      <p:sp>
        <p:nvSpPr>
          <p:cNvPr id="8" name="Text 5"/>
          <p:cNvSpPr txBox="1"/>
          <p:nvPr/>
        </p:nvSpPr>
        <p:spPr>
          <a:xfrm>
            <a:off x="658368" y="2651760"/>
            <a:ext cx="1517904" cy="822960"/>
          </a:xfrm>
          <a:prstGeom prst="rect">
            <a:avLst/>
          </a:prstGeom>
          <a:noFill/>
          <a:ln/>
        </p:spPr>
        <p:txBody>
          <a:bodyPr wrap="square" lIns="0" tIns="0" rIns="0" bIns="0" rtlCol="0" anchor="t"/>
          <a:lstStyle/>
          <a:p>
            <a:pPr algn="l" indent="0" marL="0">
              <a:lnSpc>
                <a:spcPct val="112000"/>
              </a:lnSpc>
              <a:buNone/>
            </a:pPr>
            <a:r>
              <a:rPr lang="en-US" sz="1000" dirty="0">
                <a:solidFill>
                  <a:srgbClr val="9FB8B2"/>
                </a:solidFill>
                <a:latin typeface="Calibri" pitchFamily="34" charset="0"/>
                <a:ea typeface="Calibri" pitchFamily="34" charset="-122"/>
                <a:cs typeface="Calibri" pitchFamily="34" charset="-120"/>
              </a:rPr>
              <a:t>discovery interviews with importers, exporters and an advisor</a:t>
            </a:r>
            <a:endParaRPr lang="en-US" sz="1000" dirty="0"/>
          </a:p>
        </p:txBody>
      </p:sp>
      <p:sp>
        <p:nvSpPr>
          <p:cNvPr id="9" name="Shape 6"/>
          <p:cNvSpPr/>
          <p:nvPr/>
        </p:nvSpPr>
        <p:spPr>
          <a:xfrm>
            <a:off x="2560320" y="1508760"/>
            <a:ext cx="1920240" cy="2011680"/>
          </a:xfrm>
          <a:prstGeom prst="roundRect">
            <a:avLst>
              <a:gd name="adj" fmla="val 3810"/>
            </a:avLst>
          </a:prstGeom>
          <a:solidFill>
            <a:srgbClr val="173432"/>
          </a:solidFill>
          <a:ln w="12700">
            <a:solidFill>
              <a:srgbClr val="173432"/>
            </a:solidFill>
            <a:prstDash val="solid"/>
          </a:ln>
        </p:spPr>
      </p:sp>
      <p:sp>
        <p:nvSpPr>
          <p:cNvPr id="10" name="Shape 7"/>
          <p:cNvSpPr/>
          <p:nvPr/>
        </p:nvSpPr>
        <p:spPr>
          <a:xfrm>
            <a:off x="2761488" y="1691640"/>
            <a:ext cx="402336" cy="402336"/>
          </a:xfrm>
          <a:prstGeom prst="ellipse">
            <a:avLst/>
          </a:prstGeom>
          <a:solidFill>
            <a:srgbClr val="E5C158"/>
          </a:solidFill>
          <a:ln w="12700">
            <a:solidFill>
              <a:srgbClr val="E5C158"/>
            </a:solidFill>
            <a:prstDash val="solid"/>
          </a:ln>
        </p:spPr>
      </p:sp>
      <p:pic>
        <p:nvPicPr>
          <p:cNvPr id="11" name="Image 1" descr="preencoded.png">    </p:cNvPr>
          <p:cNvPicPr>
            <a:picLocks noChangeAspect="1"/>
          </p:cNvPicPr>
          <p:nvPr/>
        </p:nvPicPr>
        <p:blipFill>
          <a:blip r:embed="rId2"/>
          <a:stretch>
            <a:fillRect/>
          </a:stretch>
        </p:blipFill>
        <p:spPr>
          <a:xfrm>
            <a:off x="2858049" y="1788201"/>
            <a:ext cx="209215" cy="209215"/>
          </a:xfrm>
          <a:prstGeom prst="rect">
            <a:avLst/>
          </a:prstGeom>
        </p:spPr>
      </p:pic>
      <p:sp>
        <p:nvSpPr>
          <p:cNvPr id="12" name="Text 8"/>
          <p:cNvSpPr txBox="1"/>
          <p:nvPr/>
        </p:nvSpPr>
        <p:spPr>
          <a:xfrm>
            <a:off x="2761488" y="2194560"/>
            <a:ext cx="1517904" cy="457200"/>
          </a:xfrm>
          <a:prstGeom prst="rect">
            <a:avLst/>
          </a:prstGeom>
          <a:noFill/>
          <a:ln/>
        </p:spPr>
        <p:txBody>
          <a:bodyPr wrap="square" lIns="0" tIns="0" rIns="0" bIns="0" rtlCol="0" anchor="t"/>
          <a:lstStyle/>
          <a:p>
            <a:pPr algn="l" indent="0" marL="0">
              <a:lnSpc>
                <a:spcPct val="105000"/>
              </a:lnSpc>
              <a:buNone/>
            </a:pPr>
            <a:r>
              <a:rPr lang="en-US" sz="2400" b="1" dirty="0">
                <a:solidFill>
                  <a:srgbClr val="3ECFA0"/>
                </a:solidFill>
                <a:latin typeface="Calibri" pitchFamily="34" charset="0"/>
                <a:ea typeface="Calibri" pitchFamily="34" charset="-122"/>
                <a:cs typeface="Calibri" pitchFamily="34" charset="-120"/>
              </a:rPr>
              <a:t>4 of 4</a:t>
            </a:r>
            <a:endParaRPr lang="en-US" sz="2400" dirty="0"/>
          </a:p>
        </p:txBody>
      </p:sp>
      <p:sp>
        <p:nvSpPr>
          <p:cNvPr id="13" name="Text 9"/>
          <p:cNvSpPr txBox="1"/>
          <p:nvPr/>
        </p:nvSpPr>
        <p:spPr>
          <a:xfrm>
            <a:off x="2761488" y="2651760"/>
            <a:ext cx="1517904" cy="822960"/>
          </a:xfrm>
          <a:prstGeom prst="rect">
            <a:avLst/>
          </a:prstGeom>
          <a:noFill/>
          <a:ln/>
        </p:spPr>
        <p:txBody>
          <a:bodyPr wrap="square" lIns="0" tIns="0" rIns="0" bIns="0" rtlCol="0" anchor="t"/>
          <a:lstStyle/>
          <a:p>
            <a:pPr algn="l" indent="0" marL="0">
              <a:lnSpc>
                <a:spcPct val="112000"/>
              </a:lnSpc>
              <a:buNone/>
            </a:pPr>
            <a:r>
              <a:rPr lang="en-US" sz="1000" dirty="0">
                <a:solidFill>
                  <a:srgbClr val="9FB8B2"/>
                </a:solidFill>
                <a:latin typeface="Calibri" pitchFamily="34" charset="0"/>
                <a:ea typeface="Calibri" pitchFamily="34" charset="-122"/>
                <a:cs typeface="Calibri" pitchFamily="34" charset="-120"/>
              </a:rPr>
              <a:t>importers asked said they would switch to a faster, cheaper, secure option</a:t>
            </a:r>
            <a:endParaRPr lang="en-US" sz="1000" dirty="0"/>
          </a:p>
        </p:txBody>
      </p:sp>
      <p:sp>
        <p:nvSpPr>
          <p:cNvPr id="14" name="Shape 10"/>
          <p:cNvSpPr/>
          <p:nvPr/>
        </p:nvSpPr>
        <p:spPr>
          <a:xfrm>
            <a:off x="4663440" y="1508760"/>
            <a:ext cx="1920240" cy="2011680"/>
          </a:xfrm>
          <a:prstGeom prst="roundRect">
            <a:avLst>
              <a:gd name="adj" fmla="val 3810"/>
            </a:avLst>
          </a:prstGeom>
          <a:solidFill>
            <a:srgbClr val="173432"/>
          </a:solidFill>
          <a:ln w="12700">
            <a:solidFill>
              <a:srgbClr val="173432"/>
            </a:solidFill>
            <a:prstDash val="solid"/>
          </a:ln>
        </p:spPr>
      </p:sp>
      <p:sp>
        <p:nvSpPr>
          <p:cNvPr id="15" name="Shape 11"/>
          <p:cNvSpPr/>
          <p:nvPr/>
        </p:nvSpPr>
        <p:spPr>
          <a:xfrm>
            <a:off x="4864608" y="1691640"/>
            <a:ext cx="402336" cy="402336"/>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4961169" y="1788201"/>
            <a:ext cx="209215" cy="209215"/>
          </a:xfrm>
          <a:prstGeom prst="rect">
            <a:avLst/>
          </a:prstGeom>
        </p:spPr>
      </p:pic>
      <p:sp>
        <p:nvSpPr>
          <p:cNvPr id="17" name="Text 12"/>
          <p:cNvSpPr txBox="1"/>
          <p:nvPr/>
        </p:nvSpPr>
        <p:spPr>
          <a:xfrm>
            <a:off x="4864608" y="2194560"/>
            <a:ext cx="1517904" cy="457200"/>
          </a:xfrm>
          <a:prstGeom prst="rect">
            <a:avLst/>
          </a:prstGeom>
          <a:noFill/>
          <a:ln/>
        </p:spPr>
        <p:txBody>
          <a:bodyPr wrap="square" lIns="0" tIns="0" rIns="0" bIns="0" rtlCol="0" anchor="t"/>
          <a:lstStyle/>
          <a:p>
            <a:pPr algn="l" indent="0" marL="0">
              <a:lnSpc>
                <a:spcPct val="105000"/>
              </a:lnSpc>
              <a:buNone/>
            </a:pPr>
            <a:r>
              <a:rPr lang="en-US" sz="2400" b="1" dirty="0">
                <a:solidFill>
                  <a:srgbClr val="3ECFA0"/>
                </a:solidFill>
                <a:latin typeface="Calibri" pitchFamily="34" charset="0"/>
                <a:ea typeface="Calibri" pitchFamily="34" charset="-122"/>
                <a:cs typeface="Calibri" pitchFamily="34" charset="-120"/>
              </a:rPr>
              <a:t>6+</a:t>
            </a:r>
            <a:endParaRPr lang="en-US" sz="2400" dirty="0"/>
          </a:p>
        </p:txBody>
      </p:sp>
      <p:sp>
        <p:nvSpPr>
          <p:cNvPr id="18" name="Text 13"/>
          <p:cNvSpPr txBox="1"/>
          <p:nvPr/>
        </p:nvSpPr>
        <p:spPr>
          <a:xfrm>
            <a:off x="4864608" y="2651760"/>
            <a:ext cx="1517904" cy="822960"/>
          </a:xfrm>
          <a:prstGeom prst="rect">
            <a:avLst/>
          </a:prstGeom>
          <a:noFill/>
          <a:ln/>
        </p:spPr>
        <p:txBody>
          <a:bodyPr wrap="square" lIns="0" tIns="0" rIns="0" bIns="0" rtlCol="0" anchor="t"/>
          <a:lstStyle/>
          <a:p>
            <a:pPr algn="l" indent="0" marL="0">
              <a:lnSpc>
                <a:spcPct val="112000"/>
              </a:lnSpc>
              <a:buNone/>
            </a:pPr>
            <a:r>
              <a:rPr lang="en-US" sz="1000" dirty="0">
                <a:solidFill>
                  <a:srgbClr val="9FB8B2"/>
                </a:solidFill>
                <a:latin typeface="Calibri" pitchFamily="34" charset="0"/>
                <a:ea typeface="Calibri" pitchFamily="34" charset="-122"/>
                <a:cs typeface="Calibri" pitchFamily="34" charset="-120"/>
              </a:rPr>
              <a:t>warm referrals offered: SMEs Chamber members, importer peers, a larger car importer</a:t>
            </a:r>
            <a:endParaRPr lang="en-US" sz="1000" dirty="0"/>
          </a:p>
        </p:txBody>
      </p:sp>
      <p:sp>
        <p:nvSpPr>
          <p:cNvPr id="19" name="Shape 14"/>
          <p:cNvSpPr/>
          <p:nvPr/>
        </p:nvSpPr>
        <p:spPr>
          <a:xfrm>
            <a:off x="6766560" y="1508760"/>
            <a:ext cx="1920240" cy="2011680"/>
          </a:xfrm>
          <a:prstGeom prst="roundRect">
            <a:avLst>
              <a:gd name="adj" fmla="val 3810"/>
            </a:avLst>
          </a:prstGeom>
          <a:solidFill>
            <a:srgbClr val="173432"/>
          </a:solidFill>
          <a:ln w="12700">
            <a:solidFill>
              <a:srgbClr val="173432"/>
            </a:solidFill>
            <a:prstDash val="solid"/>
          </a:ln>
        </p:spPr>
      </p:sp>
      <p:sp>
        <p:nvSpPr>
          <p:cNvPr id="20" name="Shape 15"/>
          <p:cNvSpPr/>
          <p:nvPr/>
        </p:nvSpPr>
        <p:spPr>
          <a:xfrm>
            <a:off x="6967728" y="1691640"/>
            <a:ext cx="402336" cy="402336"/>
          </a:xfrm>
          <a:prstGeom prst="ellipse">
            <a:avLst/>
          </a:prstGeom>
          <a:solidFill>
            <a:srgbClr val="E5C158"/>
          </a:solidFill>
          <a:ln w="12700">
            <a:solidFill>
              <a:srgbClr val="E5C158"/>
            </a:solidFill>
            <a:prstDash val="solid"/>
          </a:ln>
        </p:spPr>
      </p:sp>
      <p:pic>
        <p:nvPicPr>
          <p:cNvPr id="21" name="Image 3" descr="preencoded.png">    </p:cNvPr>
          <p:cNvPicPr>
            <a:picLocks noChangeAspect="1"/>
          </p:cNvPicPr>
          <p:nvPr/>
        </p:nvPicPr>
        <p:blipFill>
          <a:blip r:embed="rId4"/>
          <a:stretch>
            <a:fillRect/>
          </a:stretch>
        </p:blipFill>
        <p:spPr>
          <a:xfrm>
            <a:off x="7064289" y="1788201"/>
            <a:ext cx="209215" cy="209215"/>
          </a:xfrm>
          <a:prstGeom prst="rect">
            <a:avLst/>
          </a:prstGeom>
        </p:spPr>
      </p:pic>
      <p:sp>
        <p:nvSpPr>
          <p:cNvPr id="22" name="Text 16"/>
          <p:cNvSpPr txBox="1"/>
          <p:nvPr/>
        </p:nvSpPr>
        <p:spPr>
          <a:xfrm>
            <a:off x="6967728" y="2194560"/>
            <a:ext cx="1517904" cy="457200"/>
          </a:xfrm>
          <a:prstGeom prst="rect">
            <a:avLst/>
          </a:prstGeom>
          <a:noFill/>
          <a:ln/>
        </p:spPr>
        <p:txBody>
          <a:bodyPr wrap="square" lIns="0" tIns="0" rIns="0" bIns="0" rtlCol="0" anchor="t"/>
          <a:lstStyle/>
          <a:p>
            <a:pPr algn="l" indent="0" marL="0">
              <a:lnSpc>
                <a:spcPct val="105000"/>
              </a:lnSpc>
              <a:buNone/>
            </a:pPr>
            <a:r>
              <a:rPr lang="en-US" sz="2400" b="1" dirty="0">
                <a:solidFill>
                  <a:srgbClr val="3ECFA0"/>
                </a:solidFill>
                <a:latin typeface="Calibri" pitchFamily="34" charset="0"/>
                <a:ea typeface="Calibri" pitchFamily="34" charset="-122"/>
                <a:cs typeface="Calibri" pitchFamily="34" charset="-120"/>
              </a:rPr>
              <a:t>3</a:t>
            </a:r>
            <a:endParaRPr lang="en-US" sz="2400" dirty="0"/>
          </a:p>
        </p:txBody>
      </p:sp>
      <p:sp>
        <p:nvSpPr>
          <p:cNvPr id="23" name="Text 17"/>
          <p:cNvSpPr txBox="1"/>
          <p:nvPr/>
        </p:nvSpPr>
        <p:spPr>
          <a:xfrm>
            <a:off x="6967728" y="2651760"/>
            <a:ext cx="1517904" cy="822960"/>
          </a:xfrm>
          <a:prstGeom prst="rect">
            <a:avLst/>
          </a:prstGeom>
          <a:noFill/>
          <a:ln/>
        </p:spPr>
        <p:txBody>
          <a:bodyPr wrap="square" lIns="0" tIns="0" rIns="0" bIns="0" rtlCol="0" anchor="t"/>
          <a:lstStyle/>
          <a:p>
            <a:pPr algn="l" indent="0" marL="0">
              <a:lnSpc>
                <a:spcPct val="112000"/>
              </a:lnSpc>
              <a:buNone/>
            </a:pPr>
            <a:r>
              <a:rPr lang="en-US" sz="1000" dirty="0">
                <a:solidFill>
                  <a:srgbClr val="9FB8B2"/>
                </a:solidFill>
                <a:latin typeface="Calibri" pitchFamily="34" charset="0"/>
                <a:ea typeface="Calibri" pitchFamily="34" charset="-122"/>
                <a:cs typeface="Calibri" pitchFamily="34" charset="-120"/>
              </a:rPr>
              <a:t>live product demos: checkout, supplier payment, payment link. Waitlist open.</a:t>
            </a:r>
            <a:endParaRPr lang="en-US" sz="1000" dirty="0"/>
          </a:p>
        </p:txBody>
      </p:sp>
      <p:sp>
        <p:nvSpPr>
          <p:cNvPr id="24" name="Shape 18"/>
          <p:cNvSpPr/>
          <p:nvPr/>
        </p:nvSpPr>
        <p:spPr>
          <a:xfrm>
            <a:off x="457200" y="3703320"/>
            <a:ext cx="8229600" cy="822960"/>
          </a:xfrm>
          <a:prstGeom prst="roundRect">
            <a:avLst>
              <a:gd name="adj" fmla="val 8889"/>
            </a:avLst>
          </a:prstGeom>
          <a:solidFill>
            <a:srgbClr val="1E403D"/>
          </a:solidFill>
          <a:ln w="12700">
            <a:solidFill>
              <a:srgbClr val="1E403D"/>
            </a:solidFill>
            <a:prstDash val="solid"/>
          </a:ln>
        </p:spPr>
      </p:sp>
      <p:sp>
        <p:nvSpPr>
          <p:cNvPr id="25" name="Text 19"/>
          <p:cNvSpPr txBox="1"/>
          <p:nvPr/>
        </p:nvSpPr>
        <p:spPr>
          <a:xfrm>
            <a:off x="731520" y="3794760"/>
            <a:ext cx="1828800" cy="274320"/>
          </a:xfrm>
          <a:prstGeom prst="rect">
            <a:avLst/>
          </a:prstGeom>
          <a:noFill/>
          <a:ln/>
        </p:spPr>
        <p:txBody>
          <a:bodyPr wrap="square" lIns="0" tIns="0" rIns="0" bIns="0" rtlCol="0" anchor="t"/>
          <a:lstStyle/>
          <a:p>
            <a:pPr algn="l" indent="0" marL="0">
              <a:lnSpc>
                <a:spcPct val="105000"/>
              </a:lnSpc>
              <a:buNone/>
            </a:pPr>
            <a:r>
              <a:rPr lang="en-US" sz="1100" b="1" dirty="0">
                <a:solidFill>
                  <a:srgbClr val="3ECFA0"/>
                </a:solidFill>
                <a:latin typeface="Calibri" pitchFamily="34" charset="0"/>
                <a:ea typeface="Calibri" pitchFamily="34" charset="-122"/>
                <a:cs typeface="Calibri" pitchFamily="34" charset="-120"/>
              </a:rPr>
              <a:t>Next 30 days</a:t>
            </a:r>
            <a:endParaRPr lang="en-US" sz="1100" dirty="0"/>
          </a:p>
        </p:txBody>
      </p:sp>
      <p:sp>
        <p:nvSpPr>
          <p:cNvPr id="26" name="Text 20"/>
          <p:cNvSpPr txBox="1"/>
          <p:nvPr/>
        </p:nvSpPr>
        <p:spPr>
          <a:xfrm>
            <a:off x="731520" y="4041648"/>
            <a:ext cx="7680960" cy="457200"/>
          </a:xfrm>
          <a:prstGeom prst="rect">
            <a:avLst/>
          </a:prstGeom>
          <a:noFill/>
          <a:ln/>
        </p:spPr>
        <p:txBody>
          <a:bodyPr wrap="square" lIns="0" tIns="0" rIns="0" bIns="0" rtlCol="0" anchor="t"/>
          <a:lstStyle/>
          <a:p>
            <a:pPr algn="l" indent="0" marL="0">
              <a:lnSpc>
                <a:spcPct val="105000"/>
              </a:lnSpc>
              <a:buNone/>
            </a:pPr>
            <a:r>
              <a:rPr lang="en-US" sz="1050" dirty="0">
                <a:solidFill>
                  <a:srgbClr val="F2F7F4"/>
                </a:solidFill>
                <a:latin typeface="Calibri" pitchFamily="34" charset="0"/>
                <a:ea typeface="Calibri" pitchFamily="34" charset="-122"/>
                <a:cs typeface="Calibri" pitchFamily="34" charset="-120"/>
              </a:rPr>
              <a:t>Sandbox accounts with Kotani Pay and Klasha. Savings simulation on one importer's real transaction data. PRD, TRD and eight-week build plan complete.</a:t>
            </a:r>
            <a:endParaRPr lang="en-US" sz="1050" dirty="0"/>
          </a:p>
        </p:txBody>
      </p:sp>
      <p:sp>
        <p:nvSpPr>
          <p:cNvPr id="27" name="Text 21"/>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28" name="Text 22"/>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Eight weeks to a live pilot</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One developer, one app, one database, two partners. Compliance ships before money moves.</a:t>
            </a:r>
            <a:endParaRPr lang="en-US" sz="1400" dirty="0"/>
          </a:p>
        </p:txBody>
      </p:sp>
      <p:sp>
        <p:nvSpPr>
          <p:cNvPr id="4" name="Shape 2"/>
          <p:cNvSpPr/>
          <p:nvPr/>
        </p:nvSpPr>
        <p:spPr>
          <a:xfrm>
            <a:off x="1106424" y="1801368"/>
            <a:ext cx="6931152" cy="0"/>
          </a:xfrm>
          <a:prstGeom prst="line">
            <a:avLst/>
          </a:prstGeom>
          <a:noFill/>
          <a:ln w="38100">
            <a:solidFill>
              <a:srgbClr val="1E403D"/>
            </a:solidFill>
            <a:prstDash val="solid"/>
          </a:ln>
        </p:spPr>
      </p:sp>
      <p:sp>
        <p:nvSpPr>
          <p:cNvPr id="5" name="Shape 3"/>
          <p:cNvSpPr/>
          <p:nvPr/>
        </p:nvSpPr>
        <p:spPr>
          <a:xfrm>
            <a:off x="905256" y="1600200"/>
            <a:ext cx="402336" cy="402336"/>
          </a:xfrm>
          <a:prstGeom prst="ellipse">
            <a:avLst/>
          </a:prstGeom>
          <a:solidFill>
            <a:srgbClr val="3ECFA0"/>
          </a:solidFill>
          <a:ln w="12700">
            <a:solidFill>
              <a:srgbClr val="3ECFA0"/>
            </a:solidFill>
            <a:prstDash val="solid"/>
          </a:ln>
        </p:spPr>
      </p:sp>
      <p:sp>
        <p:nvSpPr>
          <p:cNvPr id="6" name="Text 4"/>
          <p:cNvSpPr txBox="1"/>
          <p:nvPr/>
        </p:nvSpPr>
        <p:spPr>
          <a:xfrm>
            <a:off x="905256" y="1600200"/>
            <a:ext cx="402336" cy="402336"/>
          </a:xfrm>
          <a:prstGeom prst="rect">
            <a:avLst/>
          </a:prstGeom>
          <a:noFill/>
          <a:ln/>
        </p:spPr>
        <p:txBody>
          <a:bodyPr wrap="square" lIns="0" tIns="0" rIns="0" bIns="0" rtlCol="0" anchor="ctr"/>
          <a:lstStyle/>
          <a:p>
            <a:pPr algn="ctr" indent="0" marL="0">
              <a:lnSpc>
                <a:spcPct val="105000"/>
              </a:lnSpc>
              <a:buNone/>
            </a:pPr>
            <a:r>
              <a:rPr lang="en-US" sz="1300" b="1" dirty="0">
                <a:solidFill>
                  <a:srgbClr val="0B1A19"/>
                </a:solidFill>
                <a:latin typeface="Calibri" pitchFamily="34" charset="0"/>
                <a:ea typeface="Calibri" pitchFamily="34" charset="-122"/>
                <a:cs typeface="Calibri" pitchFamily="34" charset="-120"/>
              </a:rPr>
              <a:t>0</a:t>
            </a:r>
            <a:endParaRPr lang="en-US" sz="1300" dirty="0"/>
          </a:p>
        </p:txBody>
      </p:sp>
      <p:sp>
        <p:nvSpPr>
          <p:cNvPr id="7" name="Shape 5"/>
          <p:cNvSpPr/>
          <p:nvPr/>
        </p:nvSpPr>
        <p:spPr>
          <a:xfrm>
            <a:off x="457200" y="2194560"/>
            <a:ext cx="1298448" cy="2148840"/>
          </a:xfrm>
          <a:prstGeom prst="roundRect">
            <a:avLst>
              <a:gd name="adj" fmla="val 5634"/>
            </a:avLst>
          </a:prstGeom>
          <a:solidFill>
            <a:srgbClr val="173432"/>
          </a:solidFill>
          <a:ln w="12700">
            <a:solidFill>
              <a:srgbClr val="173432"/>
            </a:solidFill>
            <a:prstDash val="solid"/>
          </a:ln>
        </p:spPr>
      </p:sp>
      <p:sp>
        <p:nvSpPr>
          <p:cNvPr id="8" name="Text 6"/>
          <p:cNvSpPr txBox="1"/>
          <p:nvPr/>
        </p:nvSpPr>
        <p:spPr>
          <a:xfrm>
            <a:off x="566928" y="2313432"/>
            <a:ext cx="1078992" cy="274320"/>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Foundation</a:t>
            </a:r>
            <a:endParaRPr lang="en-US" sz="1250" dirty="0"/>
          </a:p>
        </p:txBody>
      </p:sp>
      <p:sp>
        <p:nvSpPr>
          <p:cNvPr id="9" name="Text 7"/>
          <p:cNvSpPr txBox="1"/>
          <p:nvPr/>
        </p:nvSpPr>
        <p:spPr>
          <a:xfrm>
            <a:off x="566928" y="2587752"/>
            <a:ext cx="1078992" cy="228600"/>
          </a:xfrm>
          <a:prstGeom prst="rect">
            <a:avLst/>
          </a:prstGeom>
          <a:noFill/>
          <a:ln/>
        </p:spPr>
        <p:txBody>
          <a:bodyPr wrap="square" lIns="0" tIns="0" rIns="0" bIns="0" rtlCol="0" anchor="t"/>
          <a:lstStyle/>
          <a:p>
            <a:pPr algn="l" indent="0" marL="0">
              <a:lnSpc>
                <a:spcPct val="105000"/>
              </a:lnSpc>
              <a:buNone/>
            </a:pPr>
            <a:r>
              <a:rPr lang="en-US" sz="900" b="1" dirty="0">
                <a:solidFill>
                  <a:srgbClr val="E5C158"/>
                </a:solidFill>
                <a:latin typeface="Calibri" pitchFamily="34" charset="0"/>
                <a:ea typeface="Calibri" pitchFamily="34" charset="-122"/>
                <a:cs typeface="Calibri" pitchFamily="34" charset="-120"/>
              </a:rPr>
              <a:t>Wk 1</a:t>
            </a:r>
            <a:endParaRPr lang="en-US" sz="900" dirty="0"/>
          </a:p>
        </p:txBody>
      </p:sp>
      <p:sp>
        <p:nvSpPr>
          <p:cNvPr id="10" name="Text 8"/>
          <p:cNvSpPr txBox="1"/>
          <p:nvPr/>
        </p:nvSpPr>
        <p:spPr>
          <a:xfrm>
            <a:off x="566928" y="2862072"/>
            <a:ext cx="1078992" cy="1417320"/>
          </a:xfrm>
          <a:prstGeom prst="rect">
            <a:avLst/>
          </a:prstGeom>
          <a:noFill/>
          <a:ln/>
        </p:spPr>
        <p:txBody>
          <a:bodyPr wrap="square" lIns="0" tIns="0" rIns="0" bIns="0" rtlCol="0" anchor="t"/>
          <a:lstStyle/>
          <a:p>
            <a:pPr algn="l" indent="0" marL="0">
              <a:lnSpc>
                <a:spcPct val="115000"/>
              </a:lnSpc>
              <a:buNone/>
            </a:pPr>
            <a:r>
              <a:rPr lang="en-US" sz="900" dirty="0">
                <a:solidFill>
                  <a:srgbClr val="9FB8B2"/>
                </a:solidFill>
                <a:latin typeface="Calibri" pitchFamily="34" charset="0"/>
                <a:ea typeface="Calibri" pitchFamily="34" charset="-122"/>
                <a:cs typeface="Calibri" pitchFamily="34" charset="-120"/>
              </a:rPr>
              <a:t>SolidStart app, auth, email, hosting. Site ported.</a:t>
            </a:r>
            <a:endParaRPr lang="en-US" sz="900" dirty="0"/>
          </a:p>
        </p:txBody>
      </p:sp>
      <p:sp>
        <p:nvSpPr>
          <p:cNvPr id="11" name="Shape 9"/>
          <p:cNvSpPr/>
          <p:nvPr/>
        </p:nvSpPr>
        <p:spPr>
          <a:xfrm>
            <a:off x="2291486" y="1600200"/>
            <a:ext cx="402336" cy="402336"/>
          </a:xfrm>
          <a:prstGeom prst="ellipse">
            <a:avLst/>
          </a:prstGeom>
          <a:solidFill>
            <a:srgbClr val="3ECFA0"/>
          </a:solidFill>
          <a:ln w="12700">
            <a:solidFill>
              <a:srgbClr val="3ECFA0"/>
            </a:solidFill>
            <a:prstDash val="solid"/>
          </a:ln>
        </p:spPr>
      </p:sp>
      <p:sp>
        <p:nvSpPr>
          <p:cNvPr id="12" name="Text 10"/>
          <p:cNvSpPr txBox="1"/>
          <p:nvPr/>
        </p:nvSpPr>
        <p:spPr>
          <a:xfrm>
            <a:off x="2291486" y="1600200"/>
            <a:ext cx="402336" cy="402336"/>
          </a:xfrm>
          <a:prstGeom prst="rect">
            <a:avLst/>
          </a:prstGeom>
          <a:noFill/>
          <a:ln/>
        </p:spPr>
        <p:txBody>
          <a:bodyPr wrap="square" lIns="0" tIns="0" rIns="0" bIns="0" rtlCol="0" anchor="ctr"/>
          <a:lstStyle/>
          <a:p>
            <a:pPr algn="ctr" indent="0" marL="0">
              <a:lnSpc>
                <a:spcPct val="105000"/>
              </a:lnSpc>
              <a:buNone/>
            </a:pPr>
            <a:r>
              <a:rPr lang="en-US" sz="1300" b="1" dirty="0">
                <a:solidFill>
                  <a:srgbClr val="0B1A19"/>
                </a:solidFill>
                <a:latin typeface="Calibri" pitchFamily="34" charset="0"/>
                <a:ea typeface="Calibri" pitchFamily="34" charset="-122"/>
                <a:cs typeface="Calibri" pitchFamily="34" charset="-120"/>
              </a:rPr>
              <a:t>1</a:t>
            </a:r>
            <a:endParaRPr lang="en-US" sz="1300" dirty="0"/>
          </a:p>
        </p:txBody>
      </p:sp>
      <p:sp>
        <p:nvSpPr>
          <p:cNvPr id="13" name="Shape 11"/>
          <p:cNvSpPr/>
          <p:nvPr/>
        </p:nvSpPr>
        <p:spPr>
          <a:xfrm>
            <a:off x="1843430" y="2194560"/>
            <a:ext cx="1298448" cy="2148840"/>
          </a:xfrm>
          <a:prstGeom prst="roundRect">
            <a:avLst>
              <a:gd name="adj" fmla="val 5634"/>
            </a:avLst>
          </a:prstGeom>
          <a:solidFill>
            <a:srgbClr val="173432"/>
          </a:solidFill>
          <a:ln w="12700">
            <a:solidFill>
              <a:srgbClr val="173432"/>
            </a:solidFill>
            <a:prstDash val="solid"/>
          </a:ln>
        </p:spPr>
      </p:sp>
      <p:sp>
        <p:nvSpPr>
          <p:cNvPr id="14" name="Text 12"/>
          <p:cNvSpPr txBox="1"/>
          <p:nvPr/>
        </p:nvSpPr>
        <p:spPr>
          <a:xfrm>
            <a:off x="1953158" y="2313432"/>
            <a:ext cx="1078992" cy="274320"/>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Onboarding</a:t>
            </a:r>
            <a:endParaRPr lang="en-US" sz="1250" dirty="0"/>
          </a:p>
        </p:txBody>
      </p:sp>
      <p:sp>
        <p:nvSpPr>
          <p:cNvPr id="15" name="Text 13"/>
          <p:cNvSpPr txBox="1"/>
          <p:nvPr/>
        </p:nvSpPr>
        <p:spPr>
          <a:xfrm>
            <a:off x="1953158" y="2587752"/>
            <a:ext cx="1078992" cy="228600"/>
          </a:xfrm>
          <a:prstGeom prst="rect">
            <a:avLst/>
          </a:prstGeom>
          <a:noFill/>
          <a:ln/>
        </p:spPr>
        <p:txBody>
          <a:bodyPr wrap="square" lIns="0" tIns="0" rIns="0" bIns="0" rtlCol="0" anchor="t"/>
          <a:lstStyle/>
          <a:p>
            <a:pPr algn="l" indent="0" marL="0">
              <a:lnSpc>
                <a:spcPct val="105000"/>
              </a:lnSpc>
              <a:buNone/>
            </a:pPr>
            <a:r>
              <a:rPr lang="en-US" sz="900" b="1" dirty="0">
                <a:solidFill>
                  <a:srgbClr val="E5C158"/>
                </a:solidFill>
                <a:latin typeface="Calibri" pitchFamily="34" charset="0"/>
                <a:ea typeface="Calibri" pitchFamily="34" charset="-122"/>
                <a:cs typeface="Calibri" pitchFamily="34" charset="-120"/>
              </a:rPr>
              <a:t>Wk 2</a:t>
            </a:r>
            <a:endParaRPr lang="en-US" sz="900" dirty="0"/>
          </a:p>
        </p:txBody>
      </p:sp>
      <p:sp>
        <p:nvSpPr>
          <p:cNvPr id="16" name="Text 14"/>
          <p:cNvSpPr txBox="1"/>
          <p:nvPr/>
        </p:nvSpPr>
        <p:spPr>
          <a:xfrm>
            <a:off x="1953158" y="2862072"/>
            <a:ext cx="1078992" cy="1417320"/>
          </a:xfrm>
          <a:prstGeom prst="rect">
            <a:avLst/>
          </a:prstGeom>
          <a:noFill/>
          <a:ln/>
        </p:spPr>
        <p:txBody>
          <a:bodyPr wrap="square" lIns="0" tIns="0" rIns="0" bIns="0" rtlCol="0" anchor="t"/>
          <a:lstStyle/>
          <a:p>
            <a:pPr algn="l" indent="0" marL="0">
              <a:lnSpc>
                <a:spcPct val="115000"/>
              </a:lnSpc>
              <a:buNone/>
            </a:pPr>
            <a:r>
              <a:rPr lang="en-US" sz="900" dirty="0">
                <a:solidFill>
                  <a:srgbClr val="9FB8B2"/>
                </a:solidFill>
                <a:latin typeface="Calibri" pitchFamily="34" charset="0"/>
                <a:ea typeface="Calibri" pitchFamily="34" charset="-122"/>
                <a:cs typeface="Calibri" pitchFamily="34" charset="-120"/>
              </a:rPr>
              <a:t>Business profile, document upload, auto-checks, admin approval.</a:t>
            </a:r>
            <a:endParaRPr lang="en-US" sz="900" dirty="0"/>
          </a:p>
        </p:txBody>
      </p:sp>
      <p:sp>
        <p:nvSpPr>
          <p:cNvPr id="17" name="Shape 15"/>
          <p:cNvSpPr/>
          <p:nvPr/>
        </p:nvSpPr>
        <p:spPr>
          <a:xfrm>
            <a:off x="3677717" y="1600200"/>
            <a:ext cx="402336" cy="402336"/>
          </a:xfrm>
          <a:prstGeom prst="ellipse">
            <a:avLst/>
          </a:prstGeom>
          <a:solidFill>
            <a:srgbClr val="3ECFA0"/>
          </a:solidFill>
          <a:ln w="12700">
            <a:solidFill>
              <a:srgbClr val="3ECFA0"/>
            </a:solidFill>
            <a:prstDash val="solid"/>
          </a:ln>
        </p:spPr>
      </p:sp>
      <p:sp>
        <p:nvSpPr>
          <p:cNvPr id="18" name="Text 16"/>
          <p:cNvSpPr txBox="1"/>
          <p:nvPr/>
        </p:nvSpPr>
        <p:spPr>
          <a:xfrm>
            <a:off x="3677717" y="1600200"/>
            <a:ext cx="402336" cy="402336"/>
          </a:xfrm>
          <a:prstGeom prst="rect">
            <a:avLst/>
          </a:prstGeom>
          <a:noFill/>
          <a:ln/>
        </p:spPr>
        <p:txBody>
          <a:bodyPr wrap="square" lIns="0" tIns="0" rIns="0" bIns="0" rtlCol="0" anchor="ctr"/>
          <a:lstStyle/>
          <a:p>
            <a:pPr algn="ctr" indent="0" marL="0">
              <a:lnSpc>
                <a:spcPct val="105000"/>
              </a:lnSpc>
              <a:buNone/>
            </a:pPr>
            <a:r>
              <a:rPr lang="en-US" sz="1300" b="1" dirty="0">
                <a:solidFill>
                  <a:srgbClr val="0B1A19"/>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3229661" y="2194560"/>
            <a:ext cx="1298448" cy="2148840"/>
          </a:xfrm>
          <a:prstGeom prst="roundRect">
            <a:avLst>
              <a:gd name="adj" fmla="val 5634"/>
            </a:avLst>
          </a:prstGeom>
          <a:solidFill>
            <a:srgbClr val="173432"/>
          </a:solidFill>
          <a:ln w="12700">
            <a:solidFill>
              <a:srgbClr val="173432"/>
            </a:solidFill>
            <a:prstDash val="solid"/>
          </a:ln>
        </p:spPr>
      </p:sp>
      <p:sp>
        <p:nvSpPr>
          <p:cNvPr id="20" name="Text 18"/>
          <p:cNvSpPr txBox="1"/>
          <p:nvPr/>
        </p:nvSpPr>
        <p:spPr>
          <a:xfrm>
            <a:off x="3339389" y="2313432"/>
            <a:ext cx="1078992" cy="274320"/>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Compliance</a:t>
            </a:r>
            <a:endParaRPr lang="en-US" sz="1250" dirty="0"/>
          </a:p>
        </p:txBody>
      </p:sp>
      <p:sp>
        <p:nvSpPr>
          <p:cNvPr id="21" name="Text 19"/>
          <p:cNvSpPr txBox="1"/>
          <p:nvPr/>
        </p:nvSpPr>
        <p:spPr>
          <a:xfrm>
            <a:off x="3339389" y="2587752"/>
            <a:ext cx="1078992" cy="228600"/>
          </a:xfrm>
          <a:prstGeom prst="rect">
            <a:avLst/>
          </a:prstGeom>
          <a:noFill/>
          <a:ln/>
        </p:spPr>
        <p:txBody>
          <a:bodyPr wrap="square" lIns="0" tIns="0" rIns="0" bIns="0" rtlCol="0" anchor="t"/>
          <a:lstStyle/>
          <a:p>
            <a:pPr algn="l" indent="0" marL="0">
              <a:lnSpc>
                <a:spcPct val="105000"/>
              </a:lnSpc>
              <a:buNone/>
            </a:pPr>
            <a:r>
              <a:rPr lang="en-US" sz="900" b="1" dirty="0">
                <a:solidFill>
                  <a:srgbClr val="E5C158"/>
                </a:solidFill>
                <a:latin typeface="Calibri" pitchFamily="34" charset="0"/>
                <a:ea typeface="Calibri" pitchFamily="34" charset="-122"/>
                <a:cs typeface="Calibri" pitchFamily="34" charset="-120"/>
              </a:rPr>
              <a:t>Wk 3</a:t>
            </a:r>
            <a:endParaRPr lang="en-US" sz="900" dirty="0"/>
          </a:p>
        </p:txBody>
      </p:sp>
      <p:sp>
        <p:nvSpPr>
          <p:cNvPr id="22" name="Text 20"/>
          <p:cNvSpPr txBox="1"/>
          <p:nvPr/>
        </p:nvSpPr>
        <p:spPr>
          <a:xfrm>
            <a:off x="3339389" y="2862072"/>
            <a:ext cx="1078992" cy="1417320"/>
          </a:xfrm>
          <a:prstGeom prst="rect">
            <a:avLst/>
          </a:prstGeom>
          <a:noFill/>
          <a:ln/>
        </p:spPr>
        <p:txBody>
          <a:bodyPr wrap="square" lIns="0" tIns="0" rIns="0" bIns="0" rtlCol="0" anchor="t"/>
          <a:lstStyle/>
          <a:p>
            <a:pPr algn="l" indent="0" marL="0">
              <a:lnSpc>
                <a:spcPct val="115000"/>
              </a:lnSpc>
              <a:buNone/>
            </a:pPr>
            <a:r>
              <a:rPr lang="en-US" sz="900" dirty="0">
                <a:solidFill>
                  <a:srgbClr val="9FB8B2"/>
                </a:solidFill>
                <a:latin typeface="Calibri" pitchFamily="34" charset="0"/>
                <a:ea typeface="Calibri" pitchFamily="34" charset="-122"/>
                <a:cs typeface="Calibri" pitchFamily="34" charset="-120"/>
              </a:rPr>
              <a:t>Sanctions lists, screening, AML rules, limits, flag queue.</a:t>
            </a:r>
            <a:endParaRPr lang="en-US" sz="900" dirty="0"/>
          </a:p>
        </p:txBody>
      </p:sp>
      <p:sp>
        <p:nvSpPr>
          <p:cNvPr id="23" name="Shape 21"/>
          <p:cNvSpPr/>
          <p:nvPr/>
        </p:nvSpPr>
        <p:spPr>
          <a:xfrm>
            <a:off x="5063947" y="1600200"/>
            <a:ext cx="402336" cy="402336"/>
          </a:xfrm>
          <a:prstGeom prst="ellipse">
            <a:avLst/>
          </a:prstGeom>
          <a:solidFill>
            <a:srgbClr val="3ECFA0"/>
          </a:solidFill>
          <a:ln w="12700">
            <a:solidFill>
              <a:srgbClr val="3ECFA0"/>
            </a:solidFill>
            <a:prstDash val="solid"/>
          </a:ln>
        </p:spPr>
      </p:sp>
      <p:sp>
        <p:nvSpPr>
          <p:cNvPr id="24" name="Text 22"/>
          <p:cNvSpPr txBox="1"/>
          <p:nvPr/>
        </p:nvSpPr>
        <p:spPr>
          <a:xfrm>
            <a:off x="5063947" y="1600200"/>
            <a:ext cx="402336" cy="402336"/>
          </a:xfrm>
          <a:prstGeom prst="rect">
            <a:avLst/>
          </a:prstGeom>
          <a:noFill/>
          <a:ln/>
        </p:spPr>
        <p:txBody>
          <a:bodyPr wrap="square" lIns="0" tIns="0" rIns="0" bIns="0" rtlCol="0" anchor="ctr"/>
          <a:lstStyle/>
          <a:p>
            <a:pPr algn="ctr" indent="0" marL="0">
              <a:lnSpc>
                <a:spcPct val="105000"/>
              </a:lnSpc>
              <a:buNone/>
            </a:pPr>
            <a:r>
              <a:rPr lang="en-US" sz="1300" b="1" dirty="0">
                <a:solidFill>
                  <a:srgbClr val="0B1A19"/>
                </a:solidFill>
                <a:latin typeface="Calibri" pitchFamily="34" charset="0"/>
                <a:ea typeface="Calibri" pitchFamily="34" charset="-122"/>
                <a:cs typeface="Calibri" pitchFamily="34" charset="-120"/>
              </a:rPr>
              <a:t>3</a:t>
            </a:r>
            <a:endParaRPr lang="en-US" sz="1300" dirty="0"/>
          </a:p>
        </p:txBody>
      </p:sp>
      <p:sp>
        <p:nvSpPr>
          <p:cNvPr id="25" name="Shape 23"/>
          <p:cNvSpPr/>
          <p:nvPr/>
        </p:nvSpPr>
        <p:spPr>
          <a:xfrm>
            <a:off x="4615891" y="2194560"/>
            <a:ext cx="1298448" cy="2148840"/>
          </a:xfrm>
          <a:prstGeom prst="roundRect">
            <a:avLst>
              <a:gd name="adj" fmla="val 5634"/>
            </a:avLst>
          </a:prstGeom>
          <a:solidFill>
            <a:srgbClr val="173432"/>
          </a:solidFill>
          <a:ln w="12700">
            <a:solidFill>
              <a:srgbClr val="173432"/>
            </a:solidFill>
            <a:prstDash val="solid"/>
          </a:ln>
        </p:spPr>
      </p:sp>
      <p:sp>
        <p:nvSpPr>
          <p:cNvPr id="26" name="Text 24"/>
          <p:cNvSpPr txBox="1"/>
          <p:nvPr/>
        </p:nvSpPr>
        <p:spPr>
          <a:xfrm>
            <a:off x="4725619" y="2313432"/>
            <a:ext cx="1078992" cy="274320"/>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Collect</a:t>
            </a:r>
            <a:endParaRPr lang="en-US" sz="1250" dirty="0"/>
          </a:p>
        </p:txBody>
      </p:sp>
      <p:sp>
        <p:nvSpPr>
          <p:cNvPr id="27" name="Text 25"/>
          <p:cNvSpPr txBox="1"/>
          <p:nvPr/>
        </p:nvSpPr>
        <p:spPr>
          <a:xfrm>
            <a:off x="4725619" y="2587752"/>
            <a:ext cx="1078992" cy="228600"/>
          </a:xfrm>
          <a:prstGeom prst="rect">
            <a:avLst/>
          </a:prstGeom>
          <a:noFill/>
          <a:ln/>
        </p:spPr>
        <p:txBody>
          <a:bodyPr wrap="square" lIns="0" tIns="0" rIns="0" bIns="0" rtlCol="0" anchor="t"/>
          <a:lstStyle/>
          <a:p>
            <a:pPr algn="l" indent="0" marL="0">
              <a:lnSpc>
                <a:spcPct val="105000"/>
              </a:lnSpc>
              <a:buNone/>
            </a:pPr>
            <a:r>
              <a:rPr lang="en-US" sz="900" b="1" dirty="0">
                <a:solidFill>
                  <a:srgbClr val="E5C158"/>
                </a:solidFill>
                <a:latin typeface="Calibri" pitchFamily="34" charset="0"/>
                <a:ea typeface="Calibri" pitchFamily="34" charset="-122"/>
                <a:cs typeface="Calibri" pitchFamily="34" charset="-120"/>
              </a:rPr>
              <a:t>Wk 4 to 5</a:t>
            </a:r>
            <a:endParaRPr lang="en-US" sz="900" dirty="0"/>
          </a:p>
        </p:txBody>
      </p:sp>
      <p:sp>
        <p:nvSpPr>
          <p:cNvPr id="28" name="Text 26"/>
          <p:cNvSpPr txBox="1"/>
          <p:nvPr/>
        </p:nvSpPr>
        <p:spPr>
          <a:xfrm>
            <a:off x="4725619" y="2862072"/>
            <a:ext cx="1078992" cy="1417320"/>
          </a:xfrm>
          <a:prstGeom prst="rect">
            <a:avLst/>
          </a:prstGeom>
          <a:noFill/>
          <a:ln/>
        </p:spPr>
        <p:txBody>
          <a:bodyPr wrap="square" lIns="0" tIns="0" rIns="0" bIns="0" rtlCol="0" anchor="t"/>
          <a:lstStyle/>
          <a:p>
            <a:pPr algn="l" indent="0" marL="0">
              <a:lnSpc>
                <a:spcPct val="115000"/>
              </a:lnSpc>
              <a:buNone/>
            </a:pPr>
            <a:r>
              <a:rPr lang="en-US" sz="900" dirty="0">
                <a:solidFill>
                  <a:srgbClr val="9FB8B2"/>
                </a:solidFill>
                <a:latin typeface="Calibri" pitchFamily="34" charset="0"/>
                <a:ea typeface="Calibri" pitchFamily="34" charset="-122"/>
                <a:cs typeface="Calibri" pitchFamily="34" charset="-120"/>
              </a:rPr>
              <a:t>Payment links, hosted page, embed script, Kotani webhooks, auto payout.</a:t>
            </a:r>
            <a:endParaRPr lang="en-US" sz="900" dirty="0"/>
          </a:p>
        </p:txBody>
      </p:sp>
      <p:sp>
        <p:nvSpPr>
          <p:cNvPr id="29" name="Shape 27"/>
          <p:cNvSpPr/>
          <p:nvPr/>
        </p:nvSpPr>
        <p:spPr>
          <a:xfrm>
            <a:off x="6450178" y="1600200"/>
            <a:ext cx="402336" cy="402336"/>
          </a:xfrm>
          <a:prstGeom prst="ellipse">
            <a:avLst/>
          </a:prstGeom>
          <a:solidFill>
            <a:srgbClr val="3ECFA0"/>
          </a:solidFill>
          <a:ln w="12700">
            <a:solidFill>
              <a:srgbClr val="3ECFA0"/>
            </a:solidFill>
            <a:prstDash val="solid"/>
          </a:ln>
        </p:spPr>
      </p:sp>
      <p:sp>
        <p:nvSpPr>
          <p:cNvPr id="30" name="Text 28"/>
          <p:cNvSpPr txBox="1"/>
          <p:nvPr/>
        </p:nvSpPr>
        <p:spPr>
          <a:xfrm>
            <a:off x="6450178" y="1600200"/>
            <a:ext cx="402336" cy="402336"/>
          </a:xfrm>
          <a:prstGeom prst="rect">
            <a:avLst/>
          </a:prstGeom>
          <a:noFill/>
          <a:ln/>
        </p:spPr>
        <p:txBody>
          <a:bodyPr wrap="square" lIns="0" tIns="0" rIns="0" bIns="0" rtlCol="0" anchor="ctr"/>
          <a:lstStyle/>
          <a:p>
            <a:pPr algn="ctr" indent="0" marL="0">
              <a:lnSpc>
                <a:spcPct val="105000"/>
              </a:lnSpc>
              <a:buNone/>
            </a:pPr>
            <a:r>
              <a:rPr lang="en-US" sz="1300" b="1" dirty="0">
                <a:solidFill>
                  <a:srgbClr val="0B1A19"/>
                </a:solidFill>
                <a:latin typeface="Calibri" pitchFamily="34" charset="0"/>
                <a:ea typeface="Calibri" pitchFamily="34" charset="-122"/>
                <a:cs typeface="Calibri" pitchFamily="34" charset="-120"/>
              </a:rPr>
              <a:t>4</a:t>
            </a:r>
            <a:endParaRPr lang="en-US" sz="1300" dirty="0"/>
          </a:p>
        </p:txBody>
      </p:sp>
      <p:sp>
        <p:nvSpPr>
          <p:cNvPr id="31" name="Shape 29"/>
          <p:cNvSpPr/>
          <p:nvPr/>
        </p:nvSpPr>
        <p:spPr>
          <a:xfrm>
            <a:off x="6002122" y="2194560"/>
            <a:ext cx="1298448" cy="2148840"/>
          </a:xfrm>
          <a:prstGeom prst="roundRect">
            <a:avLst>
              <a:gd name="adj" fmla="val 5634"/>
            </a:avLst>
          </a:prstGeom>
          <a:solidFill>
            <a:srgbClr val="173432"/>
          </a:solidFill>
          <a:ln w="12700">
            <a:solidFill>
              <a:srgbClr val="173432"/>
            </a:solidFill>
            <a:prstDash val="solid"/>
          </a:ln>
        </p:spPr>
      </p:sp>
      <p:sp>
        <p:nvSpPr>
          <p:cNvPr id="32" name="Text 30"/>
          <p:cNvSpPr txBox="1"/>
          <p:nvPr/>
        </p:nvSpPr>
        <p:spPr>
          <a:xfrm>
            <a:off x="6111850" y="2313432"/>
            <a:ext cx="1078992" cy="274320"/>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Send</a:t>
            </a:r>
            <a:endParaRPr lang="en-US" sz="1250" dirty="0"/>
          </a:p>
        </p:txBody>
      </p:sp>
      <p:sp>
        <p:nvSpPr>
          <p:cNvPr id="33" name="Text 31"/>
          <p:cNvSpPr txBox="1"/>
          <p:nvPr/>
        </p:nvSpPr>
        <p:spPr>
          <a:xfrm>
            <a:off x="6111850" y="2587752"/>
            <a:ext cx="1078992" cy="228600"/>
          </a:xfrm>
          <a:prstGeom prst="rect">
            <a:avLst/>
          </a:prstGeom>
          <a:noFill/>
          <a:ln/>
        </p:spPr>
        <p:txBody>
          <a:bodyPr wrap="square" lIns="0" tIns="0" rIns="0" bIns="0" rtlCol="0" anchor="t"/>
          <a:lstStyle/>
          <a:p>
            <a:pPr algn="l" indent="0" marL="0">
              <a:lnSpc>
                <a:spcPct val="105000"/>
              </a:lnSpc>
              <a:buNone/>
            </a:pPr>
            <a:r>
              <a:rPr lang="en-US" sz="900" b="1" dirty="0">
                <a:solidFill>
                  <a:srgbClr val="E5C158"/>
                </a:solidFill>
                <a:latin typeface="Calibri" pitchFamily="34" charset="0"/>
                <a:ea typeface="Calibri" pitchFamily="34" charset="-122"/>
                <a:cs typeface="Calibri" pitchFamily="34" charset="-120"/>
              </a:rPr>
              <a:t>Wk 6 to 7</a:t>
            </a:r>
            <a:endParaRPr lang="en-US" sz="900" dirty="0"/>
          </a:p>
        </p:txBody>
      </p:sp>
      <p:sp>
        <p:nvSpPr>
          <p:cNvPr id="34" name="Text 32"/>
          <p:cNvSpPr txBox="1"/>
          <p:nvPr/>
        </p:nvSpPr>
        <p:spPr>
          <a:xfrm>
            <a:off x="6111850" y="2862072"/>
            <a:ext cx="1078992" cy="1417320"/>
          </a:xfrm>
          <a:prstGeom prst="rect">
            <a:avLst/>
          </a:prstGeom>
          <a:noFill/>
          <a:ln/>
        </p:spPr>
        <p:txBody>
          <a:bodyPr wrap="square" lIns="0" tIns="0" rIns="0" bIns="0" rtlCol="0" anchor="t"/>
          <a:lstStyle/>
          <a:p>
            <a:pPr algn="l" indent="0" marL="0">
              <a:lnSpc>
                <a:spcPct val="115000"/>
              </a:lnSpc>
              <a:buNone/>
            </a:pPr>
            <a:r>
              <a:rPr lang="en-US" sz="900" dirty="0">
                <a:solidFill>
                  <a:srgbClr val="9FB8B2"/>
                </a:solidFill>
                <a:latin typeface="Calibri" pitchFamily="34" charset="0"/>
                <a:ea typeface="Calibri" pitchFamily="34" charset="-122"/>
                <a:cs typeface="Calibri" pitchFamily="34" charset="-120"/>
              </a:rPr>
              <a:t>Recipients, quotes, pay-in, Kotani and Klasha payouts, trade docs.</a:t>
            </a:r>
            <a:endParaRPr lang="en-US" sz="900" dirty="0"/>
          </a:p>
        </p:txBody>
      </p:sp>
      <p:sp>
        <p:nvSpPr>
          <p:cNvPr id="35" name="Shape 33"/>
          <p:cNvSpPr/>
          <p:nvPr/>
        </p:nvSpPr>
        <p:spPr>
          <a:xfrm>
            <a:off x="7836408" y="1600200"/>
            <a:ext cx="402336" cy="402336"/>
          </a:xfrm>
          <a:prstGeom prst="ellipse">
            <a:avLst/>
          </a:prstGeom>
          <a:solidFill>
            <a:srgbClr val="E5C158"/>
          </a:solidFill>
          <a:ln w="12700">
            <a:solidFill>
              <a:srgbClr val="E5C158"/>
            </a:solidFill>
            <a:prstDash val="solid"/>
          </a:ln>
        </p:spPr>
      </p:sp>
      <p:sp>
        <p:nvSpPr>
          <p:cNvPr id="36" name="Text 34"/>
          <p:cNvSpPr txBox="1"/>
          <p:nvPr/>
        </p:nvSpPr>
        <p:spPr>
          <a:xfrm>
            <a:off x="7836408" y="1600200"/>
            <a:ext cx="402336" cy="402336"/>
          </a:xfrm>
          <a:prstGeom prst="rect">
            <a:avLst/>
          </a:prstGeom>
          <a:noFill/>
          <a:ln/>
        </p:spPr>
        <p:txBody>
          <a:bodyPr wrap="square" lIns="0" tIns="0" rIns="0" bIns="0" rtlCol="0" anchor="ctr"/>
          <a:lstStyle/>
          <a:p>
            <a:pPr algn="ctr" indent="0" marL="0">
              <a:lnSpc>
                <a:spcPct val="105000"/>
              </a:lnSpc>
              <a:buNone/>
            </a:pPr>
            <a:r>
              <a:rPr lang="en-US" sz="1300" b="1" dirty="0">
                <a:solidFill>
                  <a:srgbClr val="0B1A19"/>
                </a:solidFill>
                <a:latin typeface="Calibri" pitchFamily="34" charset="0"/>
                <a:ea typeface="Calibri" pitchFamily="34" charset="-122"/>
                <a:cs typeface="Calibri" pitchFamily="34" charset="-120"/>
              </a:rPr>
              <a:t>5</a:t>
            </a:r>
            <a:endParaRPr lang="en-US" sz="1300" dirty="0"/>
          </a:p>
        </p:txBody>
      </p:sp>
      <p:sp>
        <p:nvSpPr>
          <p:cNvPr id="37" name="Shape 35"/>
          <p:cNvSpPr/>
          <p:nvPr/>
        </p:nvSpPr>
        <p:spPr>
          <a:xfrm>
            <a:off x="7388352" y="2194560"/>
            <a:ext cx="1298448" cy="2148840"/>
          </a:xfrm>
          <a:prstGeom prst="roundRect">
            <a:avLst>
              <a:gd name="adj" fmla="val 5634"/>
            </a:avLst>
          </a:prstGeom>
          <a:solidFill>
            <a:srgbClr val="173432"/>
          </a:solidFill>
          <a:ln w="12700">
            <a:solidFill>
              <a:srgbClr val="173432"/>
            </a:solidFill>
            <a:prstDash val="solid"/>
          </a:ln>
        </p:spPr>
      </p:sp>
      <p:sp>
        <p:nvSpPr>
          <p:cNvPr id="38" name="Text 36"/>
          <p:cNvSpPr txBox="1"/>
          <p:nvPr/>
        </p:nvSpPr>
        <p:spPr>
          <a:xfrm>
            <a:off x="7498080" y="2313432"/>
            <a:ext cx="1078992" cy="274320"/>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Pilot</a:t>
            </a:r>
            <a:endParaRPr lang="en-US" sz="1250" dirty="0"/>
          </a:p>
        </p:txBody>
      </p:sp>
      <p:sp>
        <p:nvSpPr>
          <p:cNvPr id="39" name="Text 37"/>
          <p:cNvSpPr txBox="1"/>
          <p:nvPr/>
        </p:nvSpPr>
        <p:spPr>
          <a:xfrm>
            <a:off x="7498080" y="2587752"/>
            <a:ext cx="1078992" cy="228600"/>
          </a:xfrm>
          <a:prstGeom prst="rect">
            <a:avLst/>
          </a:prstGeom>
          <a:noFill/>
          <a:ln/>
        </p:spPr>
        <p:txBody>
          <a:bodyPr wrap="square" lIns="0" tIns="0" rIns="0" bIns="0" rtlCol="0" anchor="t"/>
          <a:lstStyle/>
          <a:p>
            <a:pPr algn="l" indent="0" marL="0">
              <a:lnSpc>
                <a:spcPct val="105000"/>
              </a:lnSpc>
              <a:buNone/>
            </a:pPr>
            <a:r>
              <a:rPr lang="en-US" sz="900" b="1" dirty="0">
                <a:solidFill>
                  <a:srgbClr val="E5C158"/>
                </a:solidFill>
                <a:latin typeface="Calibri" pitchFamily="34" charset="0"/>
                <a:ea typeface="Calibri" pitchFamily="34" charset="-122"/>
                <a:cs typeface="Calibri" pitchFamily="34" charset="-120"/>
              </a:rPr>
              <a:t>Wk 8</a:t>
            </a:r>
            <a:endParaRPr lang="en-US" sz="900" dirty="0"/>
          </a:p>
        </p:txBody>
      </p:sp>
      <p:sp>
        <p:nvSpPr>
          <p:cNvPr id="40" name="Text 38"/>
          <p:cNvSpPr txBox="1"/>
          <p:nvPr/>
        </p:nvSpPr>
        <p:spPr>
          <a:xfrm>
            <a:off x="7498080" y="2862072"/>
            <a:ext cx="1078992" cy="1417320"/>
          </a:xfrm>
          <a:prstGeom prst="rect">
            <a:avLst/>
          </a:prstGeom>
          <a:noFill/>
          <a:ln/>
        </p:spPr>
        <p:txBody>
          <a:bodyPr wrap="square" lIns="0" tIns="0" rIns="0" bIns="0" rtlCol="0" anchor="t"/>
          <a:lstStyle/>
          <a:p>
            <a:pPr algn="l" indent="0" marL="0">
              <a:lnSpc>
                <a:spcPct val="115000"/>
              </a:lnSpc>
              <a:buNone/>
            </a:pPr>
            <a:r>
              <a:rPr lang="en-US" sz="900" dirty="0">
                <a:solidFill>
                  <a:srgbClr val="9FB8B2"/>
                </a:solidFill>
                <a:latin typeface="Calibri" pitchFamily="34" charset="0"/>
                <a:ea typeface="Calibri" pitchFamily="34" charset="-122"/>
                <a:cs typeface="Calibri" pitchFamily="34" charset="-120"/>
              </a:rPr>
              <a:t>Production keys, legal sign-off, monitoring, first live payments.</a:t>
            </a:r>
            <a:endParaRPr lang="en-US" sz="900" dirty="0"/>
          </a:p>
        </p:txBody>
      </p:sp>
      <p:sp>
        <p:nvSpPr>
          <p:cNvPr id="41" name="Text 39"/>
          <p:cNvSpPr txBox="1"/>
          <p:nvPr/>
        </p:nvSpPr>
        <p:spPr>
          <a:xfrm>
            <a:off x="457200" y="4434840"/>
            <a:ext cx="8229600" cy="274320"/>
          </a:xfrm>
          <a:prstGeom prst="rect">
            <a:avLst/>
          </a:prstGeom>
          <a:noFill/>
          <a:ln/>
        </p:spPr>
        <p:txBody>
          <a:bodyPr wrap="square" lIns="0" tIns="0" rIns="0" bIns="0" rtlCol="0" anchor="t"/>
          <a:lstStyle/>
          <a:p>
            <a:pPr algn="l" indent="0" marL="0">
              <a:lnSpc>
                <a:spcPct val="105000"/>
              </a:lnSpc>
              <a:buNone/>
            </a:pPr>
            <a:r>
              <a:rPr lang="en-US" sz="1000" i="1" dirty="0">
                <a:solidFill>
                  <a:srgbClr val="9FB8B2"/>
                </a:solidFill>
                <a:latin typeface="Calibri" pitchFamily="34" charset="0"/>
                <a:ea typeface="Calibri" pitchFamily="34" charset="-122"/>
                <a:cs typeface="Calibri" pitchFamily="34" charset="-120"/>
              </a:rPr>
              <a:t>After pilot: niche down on the corridor with most demand, add EUR collections for exporters, then Nigeria and Ghana onboarding.</a:t>
            </a:r>
            <a:endParaRPr lang="en-US" sz="1000" dirty="0"/>
          </a:p>
        </p:txBody>
      </p:sp>
      <p:sp>
        <p:nvSpPr>
          <p:cNvPr id="42" name="Text 40"/>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43" name="Text 41"/>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Go to market: trust travels by referral</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Importers told us they trust what their peers use. We start with the people who already asked for this.</a:t>
            </a:r>
            <a:endParaRPr lang="en-US" sz="1400" dirty="0"/>
          </a:p>
        </p:txBody>
      </p:sp>
      <p:sp>
        <p:nvSpPr>
          <p:cNvPr id="4" name="Shape 2"/>
          <p:cNvSpPr/>
          <p:nvPr/>
        </p:nvSpPr>
        <p:spPr>
          <a:xfrm>
            <a:off x="457200" y="1463040"/>
            <a:ext cx="4023360" cy="1371600"/>
          </a:xfrm>
          <a:prstGeom prst="roundRect">
            <a:avLst>
              <a:gd name="adj" fmla="val 5333"/>
            </a:avLst>
          </a:prstGeom>
          <a:solidFill>
            <a:srgbClr val="173432"/>
          </a:solidFill>
          <a:ln w="12700">
            <a:solidFill>
              <a:srgbClr val="173432"/>
            </a:solidFill>
            <a:prstDash val="solid"/>
          </a:ln>
        </p:spPr>
      </p:sp>
      <p:sp>
        <p:nvSpPr>
          <p:cNvPr id="5" name="Shape 3"/>
          <p:cNvSpPr/>
          <p:nvPr/>
        </p:nvSpPr>
        <p:spPr>
          <a:xfrm>
            <a:off x="658368" y="1664208"/>
            <a:ext cx="402336" cy="402336"/>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54929" y="1760769"/>
            <a:ext cx="209215" cy="209215"/>
          </a:xfrm>
          <a:prstGeom prst="rect">
            <a:avLst/>
          </a:prstGeom>
        </p:spPr>
      </p:pic>
      <p:sp>
        <p:nvSpPr>
          <p:cNvPr id="7" name="Text 4"/>
          <p:cNvSpPr txBox="1"/>
          <p:nvPr/>
        </p:nvSpPr>
        <p:spPr>
          <a:xfrm>
            <a:off x="1188720" y="1645920"/>
            <a:ext cx="3108960" cy="292608"/>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Pilot with the interviewees</a:t>
            </a:r>
            <a:endParaRPr lang="en-US" sz="1250" dirty="0"/>
          </a:p>
        </p:txBody>
      </p:sp>
      <p:sp>
        <p:nvSpPr>
          <p:cNvPr id="8" name="Text 5"/>
          <p:cNvSpPr txBox="1"/>
          <p:nvPr/>
        </p:nvSpPr>
        <p:spPr>
          <a:xfrm>
            <a:off x="1188720" y="1965960"/>
            <a:ext cx="3108960" cy="822960"/>
          </a:xfrm>
          <a:prstGeom prst="rect">
            <a:avLst/>
          </a:prstGeom>
          <a:noFill/>
          <a:ln/>
        </p:spPr>
        <p:txBody>
          <a:bodyPr wrap="square" lIns="0" tIns="0" rIns="0" bIns="0" rtlCol="0" anchor="t"/>
          <a:lstStyle/>
          <a:p>
            <a:pPr algn="l" indent="0" marL="0">
              <a:lnSpc>
                <a:spcPct val="115000"/>
              </a:lnSpc>
              <a:buNone/>
            </a:pPr>
            <a:r>
              <a:rPr lang="en-US" sz="950" dirty="0">
                <a:solidFill>
                  <a:srgbClr val="9FB8B2"/>
                </a:solidFill>
                <a:latin typeface="Calibri" pitchFamily="34" charset="0"/>
                <a:ea typeface="Calibri" pitchFamily="34" charset="-122"/>
                <a:cs typeface="Calibri" pitchFamily="34" charset="-120"/>
              </a:rPr>
              <a:t>Four named businesses onboarded by hand at Tier 2 or 3. First live payments at small value. Their transaction data becomes our case studies.</a:t>
            </a:r>
            <a:endParaRPr lang="en-US" sz="950" dirty="0"/>
          </a:p>
        </p:txBody>
      </p:sp>
      <p:sp>
        <p:nvSpPr>
          <p:cNvPr id="9" name="Shape 6"/>
          <p:cNvSpPr/>
          <p:nvPr/>
        </p:nvSpPr>
        <p:spPr>
          <a:xfrm>
            <a:off x="4663440" y="1463040"/>
            <a:ext cx="4023360" cy="1371600"/>
          </a:xfrm>
          <a:prstGeom prst="roundRect">
            <a:avLst>
              <a:gd name="adj" fmla="val 5333"/>
            </a:avLst>
          </a:prstGeom>
          <a:solidFill>
            <a:srgbClr val="173432"/>
          </a:solidFill>
          <a:ln w="12700">
            <a:solidFill>
              <a:srgbClr val="173432"/>
            </a:solidFill>
            <a:prstDash val="solid"/>
          </a:ln>
        </p:spPr>
      </p:sp>
      <p:sp>
        <p:nvSpPr>
          <p:cNvPr id="10" name="Shape 7"/>
          <p:cNvSpPr/>
          <p:nvPr/>
        </p:nvSpPr>
        <p:spPr>
          <a:xfrm>
            <a:off x="4864608" y="1664208"/>
            <a:ext cx="402336" cy="402336"/>
          </a:xfrm>
          <a:prstGeom prst="ellipse">
            <a:avLst/>
          </a:prstGeom>
          <a:solidFill>
            <a:srgbClr val="E5C158"/>
          </a:solidFill>
          <a:ln w="12700">
            <a:solidFill>
              <a:srgbClr val="E5C158"/>
            </a:solidFill>
            <a:prstDash val="solid"/>
          </a:ln>
        </p:spPr>
      </p:sp>
      <p:pic>
        <p:nvPicPr>
          <p:cNvPr id="11" name="Image 1" descr="preencoded.png">    </p:cNvPr>
          <p:cNvPicPr>
            <a:picLocks noChangeAspect="1"/>
          </p:cNvPicPr>
          <p:nvPr/>
        </p:nvPicPr>
        <p:blipFill>
          <a:blip r:embed="rId2"/>
          <a:stretch>
            <a:fillRect/>
          </a:stretch>
        </p:blipFill>
        <p:spPr>
          <a:xfrm>
            <a:off x="4961169" y="1760769"/>
            <a:ext cx="209215" cy="209215"/>
          </a:xfrm>
          <a:prstGeom prst="rect">
            <a:avLst/>
          </a:prstGeom>
        </p:spPr>
      </p:pic>
      <p:sp>
        <p:nvSpPr>
          <p:cNvPr id="12" name="Text 8"/>
          <p:cNvSpPr txBox="1"/>
          <p:nvPr/>
        </p:nvSpPr>
        <p:spPr>
          <a:xfrm>
            <a:off x="5394960" y="1645920"/>
            <a:ext cx="3108960" cy="292608"/>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SMEs Chamber and importer peers</a:t>
            </a:r>
            <a:endParaRPr lang="en-US" sz="1250" dirty="0"/>
          </a:p>
        </p:txBody>
      </p:sp>
      <p:sp>
        <p:nvSpPr>
          <p:cNvPr id="13" name="Text 9"/>
          <p:cNvSpPr txBox="1"/>
          <p:nvPr/>
        </p:nvSpPr>
        <p:spPr>
          <a:xfrm>
            <a:off x="5394960" y="1965960"/>
            <a:ext cx="3108960" cy="822960"/>
          </a:xfrm>
          <a:prstGeom prst="rect">
            <a:avLst/>
          </a:prstGeom>
          <a:noFill/>
          <a:ln/>
        </p:spPr>
        <p:txBody>
          <a:bodyPr wrap="square" lIns="0" tIns="0" rIns="0" bIns="0" rtlCol="0" anchor="t"/>
          <a:lstStyle/>
          <a:p>
            <a:pPr algn="l" indent="0" marL="0">
              <a:lnSpc>
                <a:spcPct val="115000"/>
              </a:lnSpc>
              <a:buNone/>
            </a:pPr>
            <a:r>
              <a:rPr lang="en-US" sz="950" dirty="0">
                <a:solidFill>
                  <a:srgbClr val="9FB8B2"/>
                </a:solidFill>
                <a:latin typeface="Calibri" pitchFamily="34" charset="0"/>
                <a:ea typeface="Calibri" pitchFamily="34" charset="-122"/>
                <a:cs typeface="Calibri" pitchFamily="34" charset="-120"/>
              </a:rPr>
              <a:t>Warm introductions already offered. One founder talk per month. Referral credit: a month of Meridian fees waived.</a:t>
            </a:r>
            <a:endParaRPr lang="en-US" sz="950" dirty="0"/>
          </a:p>
        </p:txBody>
      </p:sp>
      <p:sp>
        <p:nvSpPr>
          <p:cNvPr id="14" name="Shape 10"/>
          <p:cNvSpPr/>
          <p:nvPr/>
        </p:nvSpPr>
        <p:spPr>
          <a:xfrm>
            <a:off x="457200" y="2999232"/>
            <a:ext cx="4023360" cy="1371600"/>
          </a:xfrm>
          <a:prstGeom prst="roundRect">
            <a:avLst>
              <a:gd name="adj" fmla="val 5333"/>
            </a:avLst>
          </a:prstGeom>
          <a:solidFill>
            <a:srgbClr val="173432"/>
          </a:solidFill>
          <a:ln w="12700">
            <a:solidFill>
              <a:srgbClr val="173432"/>
            </a:solidFill>
            <a:prstDash val="solid"/>
          </a:ln>
        </p:spPr>
      </p:sp>
      <p:sp>
        <p:nvSpPr>
          <p:cNvPr id="15" name="Shape 11"/>
          <p:cNvSpPr/>
          <p:nvPr/>
        </p:nvSpPr>
        <p:spPr>
          <a:xfrm>
            <a:off x="658368" y="3200400"/>
            <a:ext cx="402336" cy="402336"/>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754929" y="3296961"/>
            <a:ext cx="209215" cy="209215"/>
          </a:xfrm>
          <a:prstGeom prst="rect">
            <a:avLst/>
          </a:prstGeom>
        </p:spPr>
      </p:pic>
      <p:sp>
        <p:nvSpPr>
          <p:cNvPr id="17" name="Text 12"/>
          <p:cNvSpPr txBox="1"/>
          <p:nvPr/>
        </p:nvSpPr>
        <p:spPr>
          <a:xfrm>
            <a:off x="1188720" y="3182112"/>
            <a:ext cx="3108960" cy="292608"/>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Exporters pull in foreign buyers</a:t>
            </a:r>
            <a:endParaRPr lang="en-US" sz="1250" dirty="0"/>
          </a:p>
        </p:txBody>
      </p:sp>
      <p:sp>
        <p:nvSpPr>
          <p:cNvPr id="18" name="Text 13"/>
          <p:cNvSpPr txBox="1"/>
          <p:nvPr/>
        </p:nvSpPr>
        <p:spPr>
          <a:xfrm>
            <a:off x="1188720" y="3502152"/>
            <a:ext cx="3108960" cy="822960"/>
          </a:xfrm>
          <a:prstGeom prst="rect">
            <a:avLst/>
          </a:prstGeom>
          <a:noFill/>
          <a:ln/>
        </p:spPr>
        <p:txBody>
          <a:bodyPr wrap="square" lIns="0" tIns="0" rIns="0" bIns="0" rtlCol="0" anchor="t"/>
          <a:lstStyle/>
          <a:p>
            <a:pPr algn="l" indent="0" marL="0">
              <a:lnSpc>
                <a:spcPct val="115000"/>
              </a:lnSpc>
              <a:buNone/>
            </a:pPr>
            <a:r>
              <a:rPr lang="en-US" sz="950" dirty="0">
                <a:solidFill>
                  <a:srgbClr val="9FB8B2"/>
                </a:solidFill>
                <a:latin typeface="Calibri" pitchFamily="34" charset="0"/>
                <a:ea typeface="Calibri" pitchFamily="34" charset="-122"/>
                <a:cs typeface="Calibri" pitchFamily="34" charset="-120"/>
              </a:rPr>
              <a:t>Every payment link and embedded checkout puts Meridian in front of a buyer in Europe or the Gulf. Inbound is the cheapest channel.</a:t>
            </a:r>
            <a:endParaRPr lang="en-US" sz="950" dirty="0"/>
          </a:p>
        </p:txBody>
      </p:sp>
      <p:sp>
        <p:nvSpPr>
          <p:cNvPr id="19" name="Shape 14"/>
          <p:cNvSpPr/>
          <p:nvPr/>
        </p:nvSpPr>
        <p:spPr>
          <a:xfrm>
            <a:off x="4663440" y="2999232"/>
            <a:ext cx="4023360" cy="1371600"/>
          </a:xfrm>
          <a:prstGeom prst="roundRect">
            <a:avLst>
              <a:gd name="adj" fmla="val 5333"/>
            </a:avLst>
          </a:prstGeom>
          <a:solidFill>
            <a:srgbClr val="173432"/>
          </a:solidFill>
          <a:ln w="12700">
            <a:solidFill>
              <a:srgbClr val="173432"/>
            </a:solidFill>
            <a:prstDash val="solid"/>
          </a:ln>
        </p:spPr>
      </p:sp>
      <p:sp>
        <p:nvSpPr>
          <p:cNvPr id="20" name="Shape 15"/>
          <p:cNvSpPr/>
          <p:nvPr/>
        </p:nvSpPr>
        <p:spPr>
          <a:xfrm>
            <a:off x="4864608" y="3200400"/>
            <a:ext cx="402336" cy="402336"/>
          </a:xfrm>
          <a:prstGeom prst="ellipse">
            <a:avLst/>
          </a:prstGeom>
          <a:solidFill>
            <a:srgbClr val="E5C158"/>
          </a:solidFill>
          <a:ln w="12700">
            <a:solidFill>
              <a:srgbClr val="E5C158"/>
            </a:solidFill>
            <a:prstDash val="solid"/>
          </a:ln>
        </p:spPr>
      </p:sp>
      <p:pic>
        <p:nvPicPr>
          <p:cNvPr id="21" name="Image 3" descr="preencoded.png">    </p:cNvPr>
          <p:cNvPicPr>
            <a:picLocks noChangeAspect="1"/>
          </p:cNvPicPr>
          <p:nvPr/>
        </p:nvPicPr>
        <p:blipFill>
          <a:blip r:embed="rId4"/>
          <a:stretch>
            <a:fillRect/>
          </a:stretch>
        </p:blipFill>
        <p:spPr>
          <a:xfrm>
            <a:off x="4961169" y="3296961"/>
            <a:ext cx="209215" cy="209215"/>
          </a:xfrm>
          <a:prstGeom prst="rect">
            <a:avLst/>
          </a:prstGeom>
        </p:spPr>
      </p:pic>
      <p:sp>
        <p:nvSpPr>
          <p:cNvPr id="22" name="Text 16"/>
          <p:cNvSpPr txBox="1"/>
          <p:nvPr/>
        </p:nvSpPr>
        <p:spPr>
          <a:xfrm>
            <a:off x="5394960" y="3182112"/>
            <a:ext cx="3108960" cy="292608"/>
          </a:xfrm>
          <a:prstGeom prst="rect">
            <a:avLst/>
          </a:prstGeom>
          <a:noFill/>
          <a:ln/>
        </p:spPr>
        <p:txBody>
          <a:bodyPr wrap="square" lIns="0" tIns="0" rIns="0" bIns="0" rtlCol="0" anchor="t"/>
          <a:lstStyle/>
          <a:p>
            <a:pPr algn="l" indent="0" marL="0">
              <a:lnSpc>
                <a:spcPct val="105000"/>
              </a:lnSpc>
              <a:buNone/>
            </a:pPr>
            <a:r>
              <a:rPr lang="en-US" sz="1250" b="1" dirty="0">
                <a:solidFill>
                  <a:srgbClr val="F2F7F4"/>
                </a:solidFill>
                <a:latin typeface="Calibri" pitchFamily="34" charset="0"/>
                <a:ea typeface="Calibri" pitchFamily="34" charset="-122"/>
                <a:cs typeface="Calibri" pitchFamily="34" charset="-120"/>
              </a:rPr>
              <a:t>Mid-tier bank customers first</a:t>
            </a:r>
            <a:endParaRPr lang="en-US" sz="1250" dirty="0"/>
          </a:p>
        </p:txBody>
      </p:sp>
      <p:sp>
        <p:nvSpPr>
          <p:cNvPr id="23" name="Text 17"/>
          <p:cNvSpPr txBox="1"/>
          <p:nvPr/>
        </p:nvSpPr>
        <p:spPr>
          <a:xfrm>
            <a:off x="5394960" y="3502152"/>
            <a:ext cx="3108960" cy="822960"/>
          </a:xfrm>
          <a:prstGeom prst="rect">
            <a:avLst/>
          </a:prstGeom>
          <a:noFill/>
          <a:ln/>
        </p:spPr>
        <p:txBody>
          <a:bodyPr wrap="square" lIns="0" tIns="0" rIns="0" bIns="0" rtlCol="0" anchor="t"/>
          <a:lstStyle/>
          <a:p>
            <a:pPr algn="l" indent="0" marL="0">
              <a:lnSpc>
                <a:spcPct val="115000"/>
              </a:lnSpc>
              <a:buNone/>
            </a:pPr>
            <a:r>
              <a:rPr lang="en-US" sz="950" dirty="0">
                <a:solidFill>
                  <a:srgbClr val="9FB8B2"/>
                </a:solidFill>
                <a:latin typeface="Calibri" pitchFamily="34" charset="0"/>
                <a:ea typeface="Calibri" pitchFamily="34" charset="-122"/>
                <a:cs typeface="Calibri" pitchFamily="34" charset="-120"/>
              </a:rPr>
              <a:t>Equity and Co-op business customers feel the pain most. StanChart customers do not. We target where the gap is widest.</a:t>
            </a:r>
            <a:endParaRPr lang="en-US" sz="950" dirty="0"/>
          </a:p>
        </p:txBody>
      </p:sp>
      <p:sp>
        <p:nvSpPr>
          <p:cNvPr id="24" name="Text 18"/>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25" name="Text 19"/>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Team</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A builder who has shipped B2B software in Kenya, and the customers who shaped the spec.</a:t>
            </a:r>
            <a:endParaRPr lang="en-US" sz="1400" dirty="0"/>
          </a:p>
        </p:txBody>
      </p:sp>
      <p:sp>
        <p:nvSpPr>
          <p:cNvPr id="4" name="Shape 2"/>
          <p:cNvSpPr/>
          <p:nvPr/>
        </p:nvSpPr>
        <p:spPr>
          <a:xfrm>
            <a:off x="457200" y="1508760"/>
            <a:ext cx="4023360" cy="2926080"/>
          </a:xfrm>
          <a:prstGeom prst="roundRect">
            <a:avLst>
              <a:gd name="adj" fmla="val 2500"/>
            </a:avLst>
          </a:prstGeom>
          <a:solidFill>
            <a:srgbClr val="173432"/>
          </a:solidFill>
          <a:ln w="12700">
            <a:solidFill>
              <a:srgbClr val="173432"/>
            </a:solidFill>
            <a:prstDash val="solid"/>
          </a:ln>
        </p:spPr>
      </p:sp>
      <p:sp>
        <p:nvSpPr>
          <p:cNvPr id="5" name="Shape 3"/>
          <p:cNvSpPr/>
          <p:nvPr/>
        </p:nvSpPr>
        <p:spPr>
          <a:xfrm>
            <a:off x="731520" y="1737360"/>
            <a:ext cx="822960" cy="822960"/>
          </a:xfrm>
          <a:prstGeom prst="ellipse">
            <a:avLst/>
          </a:prstGeom>
          <a:solidFill>
            <a:srgbClr val="3ECFA0"/>
          </a:solidFill>
          <a:ln w="12700">
            <a:solidFill>
              <a:srgbClr val="3ECFA0"/>
            </a:solidFill>
            <a:prstDash val="solid"/>
          </a:ln>
        </p:spPr>
      </p:sp>
      <p:sp>
        <p:nvSpPr>
          <p:cNvPr id="6" name="Text 4"/>
          <p:cNvSpPr txBox="1"/>
          <p:nvPr/>
        </p:nvSpPr>
        <p:spPr>
          <a:xfrm>
            <a:off x="731520" y="1737360"/>
            <a:ext cx="822960" cy="822960"/>
          </a:xfrm>
          <a:prstGeom prst="rect">
            <a:avLst/>
          </a:prstGeom>
          <a:noFill/>
          <a:ln/>
        </p:spPr>
        <p:txBody>
          <a:bodyPr wrap="square" lIns="0" tIns="0" rIns="0" bIns="0" rtlCol="0" anchor="ctr"/>
          <a:lstStyle/>
          <a:p>
            <a:pPr algn="ctr" indent="0" marL="0">
              <a:lnSpc>
                <a:spcPct val="105000"/>
              </a:lnSpc>
              <a:buNone/>
            </a:pPr>
            <a:r>
              <a:rPr lang="en-US" sz="2200" b="1" dirty="0">
                <a:solidFill>
                  <a:srgbClr val="0B1A19"/>
                </a:solidFill>
                <a:latin typeface="Calibri" pitchFamily="34" charset="0"/>
                <a:ea typeface="Calibri" pitchFamily="34" charset="-122"/>
                <a:cs typeface="Calibri" pitchFamily="34" charset="-120"/>
              </a:rPr>
              <a:t>BW</a:t>
            </a:r>
            <a:endParaRPr lang="en-US" sz="2200" dirty="0"/>
          </a:p>
        </p:txBody>
      </p:sp>
      <p:sp>
        <p:nvSpPr>
          <p:cNvPr id="7" name="Text 5"/>
          <p:cNvSpPr txBox="1"/>
          <p:nvPr/>
        </p:nvSpPr>
        <p:spPr>
          <a:xfrm>
            <a:off x="1737360" y="1783080"/>
            <a:ext cx="2560320" cy="320040"/>
          </a:xfrm>
          <a:prstGeom prst="rect">
            <a:avLst/>
          </a:prstGeom>
          <a:noFill/>
          <a:ln/>
        </p:spPr>
        <p:txBody>
          <a:bodyPr wrap="square" lIns="0" tIns="0" rIns="0" bIns="0" rtlCol="0" anchor="t"/>
          <a:lstStyle/>
          <a:p>
            <a:pPr algn="l" indent="0" marL="0">
              <a:lnSpc>
                <a:spcPct val="105000"/>
              </a:lnSpc>
              <a:buNone/>
            </a:pPr>
            <a:r>
              <a:rPr lang="en-US" sz="1700" b="1" dirty="0">
                <a:solidFill>
                  <a:srgbClr val="F2F7F4"/>
                </a:solidFill>
                <a:latin typeface="Calibri" pitchFamily="34" charset="0"/>
                <a:ea typeface="Calibri" pitchFamily="34" charset="-122"/>
                <a:cs typeface="Calibri" pitchFamily="34" charset="-120"/>
              </a:rPr>
              <a:t>Brian Waweru</a:t>
            </a:r>
            <a:endParaRPr lang="en-US" sz="1700" dirty="0"/>
          </a:p>
        </p:txBody>
      </p:sp>
      <p:sp>
        <p:nvSpPr>
          <p:cNvPr id="8" name="Text 6"/>
          <p:cNvSpPr txBox="1"/>
          <p:nvPr/>
        </p:nvSpPr>
        <p:spPr>
          <a:xfrm>
            <a:off x="1737360" y="2103120"/>
            <a:ext cx="2560320" cy="274320"/>
          </a:xfrm>
          <a:prstGeom prst="rect">
            <a:avLst/>
          </a:prstGeom>
          <a:noFill/>
          <a:ln/>
        </p:spPr>
        <p:txBody>
          <a:bodyPr wrap="square" lIns="0" tIns="0" rIns="0" bIns="0" rtlCol="0" anchor="t"/>
          <a:lstStyle/>
          <a:p>
            <a:pPr algn="l" indent="0" marL="0">
              <a:lnSpc>
                <a:spcPct val="105000"/>
              </a:lnSpc>
              <a:buNone/>
            </a:pPr>
            <a:r>
              <a:rPr lang="en-US" sz="1100" dirty="0">
                <a:solidFill>
                  <a:srgbClr val="3ECFA0"/>
                </a:solidFill>
                <a:latin typeface="Calibri" pitchFamily="34" charset="0"/>
                <a:ea typeface="Calibri" pitchFamily="34" charset="-122"/>
                <a:cs typeface="Calibri" pitchFamily="34" charset="-120"/>
              </a:rPr>
              <a:t>Founder. Product and engineering.</a:t>
            </a:r>
            <a:endParaRPr lang="en-US" sz="1100" dirty="0"/>
          </a:p>
        </p:txBody>
      </p:sp>
      <p:sp>
        <p:nvSpPr>
          <p:cNvPr id="9" name="Text 7"/>
          <p:cNvSpPr txBox="1"/>
          <p:nvPr/>
        </p:nvSpPr>
        <p:spPr>
          <a:xfrm>
            <a:off x="731520" y="2697480"/>
            <a:ext cx="3520440" cy="16459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F2F7F4"/>
                </a:solidFill>
                <a:latin typeface="Calibri" pitchFamily="34" charset="0"/>
                <a:ea typeface="Calibri" pitchFamily="34" charset="-122"/>
                <a:cs typeface="Calibri" pitchFamily="34" charset="-120"/>
              </a:rPr>
              <a:t>Founder of Appify Softwares Limited, Nairobi.</a:t>
            </a:r>
            <a:endParaRPr lang="en-US" sz="1050" dirty="0"/>
          </a:p>
          <a:p>
            <a:pPr marL="152400" indent="-152400">
              <a:spcAft>
                <a:spcPts val="400"/>
              </a:spcAft>
              <a:buSzPct val="100000"/>
              <a:buChar char="•"/>
            </a:pPr>
            <a:r>
              <a:rPr lang="en-US" sz="1050" dirty="0">
                <a:solidFill>
                  <a:srgbClr val="F2F7F4"/>
                </a:solidFill>
                <a:latin typeface="Calibri" pitchFamily="34" charset="0"/>
                <a:ea typeface="Calibri" pitchFamily="34" charset="-122"/>
                <a:cs typeface="Calibri" pitchFamily="34" charset="-120"/>
              </a:rPr>
              <a:t>Built and shipped Eazibiz and DealerSync, B2B products for Kenyan businesses.</a:t>
            </a:r>
            <a:endParaRPr lang="en-US" sz="1050" dirty="0"/>
          </a:p>
          <a:p>
            <a:pPr marL="152400" indent="-152400">
              <a:spcAft>
                <a:spcPts val="400"/>
              </a:spcAft>
              <a:buSzPct val="100000"/>
              <a:buChar char="•"/>
            </a:pPr>
            <a:r>
              <a:rPr lang="en-US" sz="1050" dirty="0">
                <a:solidFill>
                  <a:srgbClr val="F2F7F4"/>
                </a:solidFill>
                <a:latin typeface="Calibri" pitchFamily="34" charset="0"/>
                <a:ea typeface="Calibri" pitchFamily="34" charset="-122"/>
                <a:cs typeface="Calibri" pitchFamily="34" charset="-120"/>
              </a:rPr>
              <a:t>Backend engineer on a multi-service marketplace platform: payments, notifications, compliance seeds.</a:t>
            </a:r>
            <a:endParaRPr lang="en-US" sz="1050" dirty="0"/>
          </a:p>
          <a:p>
            <a:pPr marL="152400" indent="-152400">
              <a:spcAft>
                <a:spcPts val="400"/>
              </a:spcAft>
              <a:buSzPct val="100000"/>
              <a:buChar char="•"/>
            </a:pPr>
            <a:r>
              <a:rPr lang="en-US" sz="1050" dirty="0">
                <a:solidFill>
                  <a:srgbClr val="F2F7F4"/>
                </a:solidFill>
                <a:latin typeface="Calibri" pitchFamily="34" charset="0"/>
                <a:ea typeface="Calibri" pitchFamily="34" charset="-122"/>
                <a:cs typeface="Calibri" pitchFamily="34" charset="-120"/>
              </a:rPr>
              <a:t>Ran the customer discovery behind this deck personally.</a:t>
            </a:r>
            <a:endParaRPr lang="en-US" sz="1050" dirty="0"/>
          </a:p>
        </p:txBody>
      </p:sp>
      <p:sp>
        <p:nvSpPr>
          <p:cNvPr id="10" name="Shape 8"/>
          <p:cNvSpPr/>
          <p:nvPr/>
        </p:nvSpPr>
        <p:spPr>
          <a:xfrm>
            <a:off x="4709160" y="1508760"/>
            <a:ext cx="3977640" cy="1371600"/>
          </a:xfrm>
          <a:prstGeom prst="roundRect">
            <a:avLst>
              <a:gd name="adj" fmla="val 5333"/>
            </a:avLst>
          </a:prstGeom>
          <a:solidFill>
            <a:srgbClr val="173432"/>
          </a:solidFill>
          <a:ln w="12700">
            <a:solidFill>
              <a:srgbClr val="173432"/>
            </a:solidFill>
            <a:prstDash val="solid"/>
          </a:ln>
        </p:spPr>
      </p:sp>
      <p:sp>
        <p:nvSpPr>
          <p:cNvPr id="11" name="Text 9"/>
          <p:cNvSpPr txBox="1"/>
          <p:nvPr/>
        </p:nvSpPr>
        <p:spPr>
          <a:xfrm>
            <a:off x="4937760" y="1645920"/>
            <a:ext cx="2743200" cy="274320"/>
          </a:xfrm>
          <a:prstGeom prst="rect">
            <a:avLst/>
          </a:prstGeom>
          <a:noFill/>
          <a:ln/>
        </p:spPr>
        <p:txBody>
          <a:bodyPr wrap="square" lIns="0" tIns="0" rIns="0" bIns="0" rtlCol="0" anchor="t"/>
          <a:lstStyle/>
          <a:p>
            <a:pPr algn="l" indent="0" marL="0">
              <a:lnSpc>
                <a:spcPct val="105000"/>
              </a:lnSpc>
              <a:buNone/>
            </a:pPr>
            <a:r>
              <a:rPr lang="en-US" sz="1100" b="1" dirty="0">
                <a:solidFill>
                  <a:srgbClr val="E5C158"/>
                </a:solidFill>
                <a:latin typeface="Calibri" pitchFamily="34" charset="0"/>
                <a:ea typeface="Calibri" pitchFamily="34" charset="-122"/>
                <a:cs typeface="Calibri" pitchFamily="34" charset="-120"/>
              </a:rPr>
              <a:t>Advisor</a:t>
            </a:r>
            <a:endParaRPr lang="en-US" sz="1100" dirty="0"/>
          </a:p>
        </p:txBody>
      </p:sp>
      <p:sp>
        <p:nvSpPr>
          <p:cNvPr id="12" name="Text 10"/>
          <p:cNvSpPr txBox="1"/>
          <p:nvPr/>
        </p:nvSpPr>
        <p:spPr>
          <a:xfrm>
            <a:off x="4937760" y="1901952"/>
            <a:ext cx="3474720" cy="274320"/>
          </a:xfrm>
          <a:prstGeom prst="rect">
            <a:avLst/>
          </a:prstGeom>
          <a:noFill/>
          <a:ln/>
        </p:spPr>
        <p:txBody>
          <a:bodyPr wrap="square" lIns="0" tIns="0" rIns="0" bIns="0" rtlCol="0" anchor="t"/>
          <a:lstStyle/>
          <a:p>
            <a:pPr algn="l" indent="0" marL="0">
              <a:lnSpc>
                <a:spcPct val="105000"/>
              </a:lnSpc>
              <a:buNone/>
            </a:pPr>
            <a:r>
              <a:rPr lang="en-US" sz="1400" b="1" dirty="0">
                <a:solidFill>
                  <a:srgbClr val="F2F7F4"/>
                </a:solidFill>
                <a:latin typeface="Calibri" pitchFamily="34" charset="0"/>
                <a:ea typeface="Calibri" pitchFamily="34" charset="-122"/>
                <a:cs typeface="Calibri" pitchFamily="34" charset="-120"/>
              </a:rPr>
              <a:t>Bright</a:t>
            </a:r>
            <a:endParaRPr lang="en-US" sz="1400" dirty="0"/>
          </a:p>
        </p:txBody>
      </p:sp>
      <p:sp>
        <p:nvSpPr>
          <p:cNvPr id="13" name="Text 11"/>
          <p:cNvSpPr txBox="1"/>
          <p:nvPr/>
        </p:nvSpPr>
        <p:spPr>
          <a:xfrm>
            <a:off x="4937760" y="2194560"/>
            <a:ext cx="3566160" cy="640080"/>
          </a:xfrm>
          <a:prstGeom prst="rect">
            <a:avLst/>
          </a:prstGeom>
          <a:noFill/>
          <a:ln/>
        </p:spPr>
        <p:txBody>
          <a:bodyPr wrap="square" lIns="0" tIns="0" rIns="0" bIns="0" rtlCol="0" anchor="t"/>
          <a:lstStyle/>
          <a:p>
            <a:pPr algn="l" indent="0" marL="0">
              <a:lnSpc>
                <a:spcPct val="112000"/>
              </a:lnSpc>
              <a:buNone/>
            </a:pPr>
            <a:r>
              <a:rPr lang="en-US" sz="950" dirty="0">
                <a:solidFill>
                  <a:srgbClr val="9FB8B2"/>
                </a:solidFill>
                <a:latin typeface="Calibri" pitchFamily="34" charset="0"/>
                <a:ea typeface="Calibri" pitchFamily="34" charset="-122"/>
                <a:cs typeface="Calibri" pitchFamily="34" charset="-120"/>
              </a:rPr>
              <a:t>Cybersecurity trainer with clients across East and West Africa. Brought the inbound-payments use case and the liquidity and trust advice that shaped the model.</a:t>
            </a:r>
            <a:endParaRPr lang="en-US" sz="950" dirty="0"/>
          </a:p>
        </p:txBody>
      </p:sp>
      <p:sp>
        <p:nvSpPr>
          <p:cNvPr id="14" name="Shape 12"/>
          <p:cNvSpPr/>
          <p:nvPr/>
        </p:nvSpPr>
        <p:spPr>
          <a:xfrm>
            <a:off x="4709160" y="3063240"/>
            <a:ext cx="3977640" cy="1371600"/>
          </a:xfrm>
          <a:prstGeom prst="roundRect">
            <a:avLst>
              <a:gd name="adj" fmla="val 5333"/>
            </a:avLst>
          </a:prstGeom>
          <a:solidFill>
            <a:srgbClr val="173432"/>
          </a:solidFill>
          <a:ln w="12700">
            <a:solidFill>
              <a:srgbClr val="173432"/>
            </a:solidFill>
            <a:prstDash val="solid"/>
          </a:ln>
        </p:spPr>
      </p:sp>
      <p:sp>
        <p:nvSpPr>
          <p:cNvPr id="15" name="Text 13"/>
          <p:cNvSpPr txBox="1"/>
          <p:nvPr/>
        </p:nvSpPr>
        <p:spPr>
          <a:xfrm>
            <a:off x="4937760" y="3200400"/>
            <a:ext cx="2743200" cy="274320"/>
          </a:xfrm>
          <a:prstGeom prst="rect">
            <a:avLst/>
          </a:prstGeom>
          <a:noFill/>
          <a:ln/>
        </p:spPr>
        <p:txBody>
          <a:bodyPr wrap="square" lIns="0" tIns="0" rIns="0" bIns="0" rtlCol="0" anchor="t"/>
          <a:lstStyle/>
          <a:p>
            <a:pPr algn="l" indent="0" marL="0">
              <a:lnSpc>
                <a:spcPct val="105000"/>
              </a:lnSpc>
              <a:buNone/>
            </a:pPr>
            <a:r>
              <a:rPr lang="en-US" sz="1100" b="1" dirty="0">
                <a:solidFill>
                  <a:srgbClr val="E5C158"/>
                </a:solidFill>
                <a:latin typeface="Calibri" pitchFamily="34" charset="0"/>
                <a:ea typeface="Calibri" pitchFamily="34" charset="-122"/>
                <a:cs typeface="Calibri" pitchFamily="34" charset="-120"/>
              </a:rPr>
              <a:t>Hiring with this round</a:t>
            </a:r>
            <a:endParaRPr lang="en-US" sz="1100" dirty="0"/>
          </a:p>
        </p:txBody>
      </p:sp>
      <p:sp>
        <p:nvSpPr>
          <p:cNvPr id="16" name="Text 14"/>
          <p:cNvSpPr txBox="1"/>
          <p:nvPr/>
        </p:nvSpPr>
        <p:spPr>
          <a:xfrm>
            <a:off x="4937760" y="3493008"/>
            <a:ext cx="3566160" cy="868680"/>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F2F7F4"/>
                </a:solidFill>
                <a:latin typeface="Calibri" pitchFamily="34" charset="0"/>
                <a:ea typeface="Calibri" pitchFamily="34" charset="-122"/>
                <a:cs typeface="Calibri" pitchFamily="34" charset="-120"/>
              </a:rPr>
              <a:t>Compliance lead, part-time, ex-bank or ex-fintech AML.</a:t>
            </a:r>
            <a:endParaRPr lang="en-US" sz="1000" dirty="0"/>
          </a:p>
          <a:p>
            <a:pPr marL="152400" indent="-152400">
              <a:spcAft>
                <a:spcPts val="300"/>
              </a:spcAft>
              <a:buSzPct val="100000"/>
              <a:buChar char="•"/>
            </a:pPr>
            <a:r>
              <a:rPr lang="en-US" sz="1000" dirty="0">
                <a:solidFill>
                  <a:srgbClr val="F2F7F4"/>
                </a:solidFill>
                <a:latin typeface="Calibri" pitchFamily="34" charset="0"/>
                <a:ea typeface="Calibri" pitchFamily="34" charset="-122"/>
                <a:cs typeface="Calibri" pitchFamily="34" charset="-120"/>
              </a:rPr>
              <a:t>Business development, Kenya importer communities.</a:t>
            </a:r>
            <a:endParaRPr lang="en-US" sz="1000" dirty="0"/>
          </a:p>
          <a:p>
            <a:pPr marL="152400" indent="-152400">
              <a:spcAft>
                <a:spcPts val="300"/>
              </a:spcAft>
              <a:buSzPct val="100000"/>
              <a:buChar char="•"/>
            </a:pPr>
            <a:r>
              <a:rPr lang="en-US" sz="1000" dirty="0">
                <a:solidFill>
                  <a:srgbClr val="F2F7F4"/>
                </a:solidFill>
                <a:latin typeface="Calibri" pitchFamily="34" charset="0"/>
                <a:ea typeface="Calibri" pitchFamily="34" charset="-122"/>
                <a:cs typeface="Calibri" pitchFamily="34" charset="-120"/>
              </a:rPr>
              <a:t>Second engineer after pilot.</a:t>
            </a:r>
            <a:endParaRPr lang="en-US" sz="1000" dirty="0"/>
          </a:p>
        </p:txBody>
      </p:sp>
      <p:sp>
        <p:nvSpPr>
          <p:cNvPr id="17" name="Text 15"/>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18" name="Text 16"/>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640080"/>
          </a:xfrm>
          <a:prstGeom prst="rect">
            <a:avLst/>
          </a:prstGeom>
          <a:noFill/>
          <a:ln/>
        </p:spPr>
        <p:txBody>
          <a:bodyPr wrap="square" lIns="0" tIns="0" rIns="0" bIns="0" rtlCol="0" anchor="t"/>
          <a:lstStyle/>
          <a:p>
            <a:pPr indent="0" marL="0">
              <a:buNone/>
            </a:pPr>
            <a:r>
              <a:rPr lang="en-US" sz="2800" b="1" dirty="0">
                <a:solidFill>
                  <a:srgbClr val="F2F7F4"/>
                </a:solidFill>
                <a:latin typeface="Calibri" pitchFamily="34" charset="0"/>
                <a:ea typeface="Calibri" pitchFamily="34" charset="-122"/>
                <a:cs typeface="Calibri" pitchFamily="34" charset="-120"/>
              </a:rPr>
              <a:t>The ask</a:t>
            </a:r>
            <a:endParaRPr lang="en-US" sz="28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rgbClr val="9FB8B2"/>
                </a:solidFill>
                <a:latin typeface="Calibri" pitchFamily="34" charset="0"/>
                <a:ea typeface="Calibri" pitchFamily="34" charset="-122"/>
                <a:cs typeface="Calibri" pitchFamily="34" charset="-120"/>
              </a:rPr>
              <a:t>A pre-seed round to build the MVP, clear compliance, and run paid pilots for twelve months.</a:t>
            </a:r>
            <a:endParaRPr lang="en-US" sz="1400" dirty="0"/>
          </a:p>
        </p:txBody>
      </p:sp>
      <p:graphicFrame>
        <p:nvGraphicFramePr>
          <p:cNvPr id="4" name="Chart 0" descr=""/>
          <p:cNvGraphicFramePr/>
          <p:nvPr/>
        </p:nvGraphicFramePr>
        <p:xfrm>
          <a:off x="457200" y="1417320"/>
          <a:ext cx="393192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709160" y="1463040"/>
            <a:ext cx="3977640" cy="3063240"/>
          </a:xfrm>
          <a:prstGeom prst="roundRect">
            <a:avLst>
              <a:gd name="adj" fmla="val 2388"/>
            </a:avLst>
          </a:prstGeom>
          <a:solidFill>
            <a:srgbClr val="173432"/>
          </a:solidFill>
          <a:ln w="12700">
            <a:solidFill>
              <a:srgbClr val="173432"/>
            </a:solidFill>
            <a:prstDash val="solid"/>
          </a:ln>
        </p:spPr>
      </p:sp>
      <p:sp>
        <p:nvSpPr>
          <p:cNvPr id="6" name="Text 3"/>
          <p:cNvSpPr txBox="1"/>
          <p:nvPr/>
        </p:nvSpPr>
        <p:spPr>
          <a:xfrm>
            <a:off x="4937760" y="1600200"/>
            <a:ext cx="3200400" cy="320040"/>
          </a:xfrm>
          <a:prstGeom prst="rect">
            <a:avLst/>
          </a:prstGeom>
          <a:noFill/>
          <a:ln/>
        </p:spPr>
        <p:txBody>
          <a:bodyPr wrap="square" lIns="0" tIns="0" rIns="0" bIns="0" rtlCol="0" anchor="t"/>
          <a:lstStyle/>
          <a:p>
            <a:pPr algn="l" indent="0" marL="0">
              <a:lnSpc>
                <a:spcPct val="105000"/>
              </a:lnSpc>
              <a:buNone/>
            </a:pPr>
            <a:r>
              <a:rPr lang="en-US" sz="1500" b="1" dirty="0">
                <a:solidFill>
                  <a:srgbClr val="F2F7F4"/>
                </a:solidFill>
                <a:latin typeface="Calibri" pitchFamily="34" charset="0"/>
                <a:ea typeface="Calibri" pitchFamily="34" charset="-122"/>
                <a:cs typeface="Calibri" pitchFamily="34" charset="-120"/>
              </a:rPr>
              <a:t>What the round buys</a:t>
            </a:r>
            <a:endParaRPr lang="en-US" sz="1500" dirty="0"/>
          </a:p>
        </p:txBody>
      </p:sp>
      <p:sp>
        <p:nvSpPr>
          <p:cNvPr id="7" name="Text 4"/>
          <p:cNvSpPr txBox="1"/>
          <p:nvPr/>
        </p:nvSpPr>
        <p:spPr>
          <a:xfrm>
            <a:off x="4937760" y="2057400"/>
            <a:ext cx="1097280" cy="365760"/>
          </a:xfrm>
          <a:prstGeom prst="rect">
            <a:avLst/>
          </a:prstGeom>
          <a:noFill/>
          <a:ln/>
        </p:spPr>
        <p:txBody>
          <a:bodyPr wrap="square" lIns="0" tIns="0" rIns="0" bIns="0" rtlCol="0" anchor="ctr"/>
          <a:lstStyle/>
          <a:p>
            <a:pPr algn="l" indent="0" marL="0">
              <a:lnSpc>
                <a:spcPct val="105000"/>
              </a:lnSpc>
              <a:buNone/>
            </a:pPr>
            <a:r>
              <a:rPr lang="en-US" sz="1500" b="1" dirty="0">
                <a:solidFill>
                  <a:srgbClr val="3ECFA0"/>
                </a:solidFill>
                <a:latin typeface="Calibri" pitchFamily="34" charset="0"/>
                <a:ea typeface="Calibri" pitchFamily="34" charset="-122"/>
                <a:cs typeface="Calibri" pitchFamily="34" charset="-120"/>
              </a:rPr>
              <a:t>8 weeks</a:t>
            </a:r>
            <a:endParaRPr lang="en-US" sz="1500" dirty="0"/>
          </a:p>
        </p:txBody>
      </p:sp>
      <p:sp>
        <p:nvSpPr>
          <p:cNvPr id="8" name="Text 5"/>
          <p:cNvSpPr txBox="1"/>
          <p:nvPr/>
        </p:nvSpPr>
        <p:spPr>
          <a:xfrm>
            <a:off x="6080760" y="2057400"/>
            <a:ext cx="2468880" cy="365760"/>
          </a:xfrm>
          <a:prstGeom prst="rect">
            <a:avLst/>
          </a:prstGeom>
          <a:noFill/>
          <a:ln/>
        </p:spPr>
        <p:txBody>
          <a:bodyPr wrap="square" lIns="0" tIns="0" rIns="0" bIns="0" rtlCol="0" anchor="ctr"/>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to a live pilot with four named businesses</a:t>
            </a:r>
            <a:endParaRPr lang="en-US" sz="1050" dirty="0"/>
          </a:p>
        </p:txBody>
      </p:sp>
      <p:sp>
        <p:nvSpPr>
          <p:cNvPr id="9" name="Text 6"/>
          <p:cNvSpPr txBox="1"/>
          <p:nvPr/>
        </p:nvSpPr>
        <p:spPr>
          <a:xfrm>
            <a:off x="4937760" y="2514600"/>
            <a:ext cx="1097280" cy="365760"/>
          </a:xfrm>
          <a:prstGeom prst="rect">
            <a:avLst/>
          </a:prstGeom>
          <a:noFill/>
          <a:ln/>
        </p:spPr>
        <p:txBody>
          <a:bodyPr wrap="square" lIns="0" tIns="0" rIns="0" bIns="0" rtlCol="0" anchor="ctr"/>
          <a:lstStyle/>
          <a:p>
            <a:pPr algn="l" indent="0" marL="0">
              <a:lnSpc>
                <a:spcPct val="105000"/>
              </a:lnSpc>
              <a:buNone/>
            </a:pPr>
            <a:r>
              <a:rPr lang="en-US" sz="1500" b="1" dirty="0">
                <a:solidFill>
                  <a:srgbClr val="3ECFA0"/>
                </a:solidFill>
                <a:latin typeface="Calibri" pitchFamily="34" charset="0"/>
                <a:ea typeface="Calibri" pitchFamily="34" charset="-122"/>
                <a:cs typeface="Calibri" pitchFamily="34" charset="-120"/>
              </a:rPr>
              <a:t>2 hires</a:t>
            </a:r>
            <a:endParaRPr lang="en-US" sz="1500" dirty="0"/>
          </a:p>
        </p:txBody>
      </p:sp>
      <p:sp>
        <p:nvSpPr>
          <p:cNvPr id="10" name="Text 7"/>
          <p:cNvSpPr txBox="1"/>
          <p:nvPr/>
        </p:nvSpPr>
        <p:spPr>
          <a:xfrm>
            <a:off x="6080760" y="2514600"/>
            <a:ext cx="2468880" cy="365760"/>
          </a:xfrm>
          <a:prstGeom prst="rect">
            <a:avLst/>
          </a:prstGeom>
          <a:noFill/>
          <a:ln/>
        </p:spPr>
        <p:txBody>
          <a:bodyPr wrap="square" lIns="0" tIns="0" rIns="0" bIns="0" rtlCol="0" anchor="ctr"/>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compliance lead and business development</a:t>
            </a:r>
            <a:endParaRPr lang="en-US" sz="1050" dirty="0"/>
          </a:p>
        </p:txBody>
      </p:sp>
      <p:sp>
        <p:nvSpPr>
          <p:cNvPr id="11" name="Text 8"/>
          <p:cNvSpPr txBox="1"/>
          <p:nvPr/>
        </p:nvSpPr>
        <p:spPr>
          <a:xfrm>
            <a:off x="4937760" y="2971800"/>
            <a:ext cx="1097280" cy="365760"/>
          </a:xfrm>
          <a:prstGeom prst="rect">
            <a:avLst/>
          </a:prstGeom>
          <a:noFill/>
          <a:ln/>
        </p:spPr>
        <p:txBody>
          <a:bodyPr wrap="square" lIns="0" tIns="0" rIns="0" bIns="0" rtlCol="0" anchor="ctr"/>
          <a:lstStyle/>
          <a:p>
            <a:pPr algn="l" indent="0" marL="0">
              <a:lnSpc>
                <a:spcPct val="105000"/>
              </a:lnSpc>
              <a:buNone/>
            </a:pPr>
            <a:r>
              <a:rPr lang="en-US" sz="1500" b="1" dirty="0">
                <a:solidFill>
                  <a:srgbClr val="3ECFA0"/>
                </a:solidFill>
                <a:latin typeface="Calibri" pitchFamily="34" charset="0"/>
                <a:ea typeface="Calibri" pitchFamily="34" charset="-122"/>
                <a:cs typeface="Calibri" pitchFamily="34" charset="-120"/>
              </a:rPr>
              <a:t>12 months</a:t>
            </a:r>
            <a:endParaRPr lang="en-US" sz="1500" dirty="0"/>
          </a:p>
        </p:txBody>
      </p:sp>
      <p:sp>
        <p:nvSpPr>
          <p:cNvPr id="12" name="Text 9"/>
          <p:cNvSpPr txBox="1"/>
          <p:nvPr/>
        </p:nvSpPr>
        <p:spPr>
          <a:xfrm>
            <a:off x="6080760" y="2971800"/>
            <a:ext cx="2468880" cy="365760"/>
          </a:xfrm>
          <a:prstGeom prst="rect">
            <a:avLst/>
          </a:prstGeom>
          <a:noFill/>
          <a:ln/>
        </p:spPr>
        <p:txBody>
          <a:bodyPr wrap="square" lIns="0" tIns="0" rIns="0" bIns="0" rtlCol="0" anchor="ctr"/>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of runway to reach 100 active businesses</a:t>
            </a:r>
            <a:endParaRPr lang="en-US" sz="1050" dirty="0"/>
          </a:p>
        </p:txBody>
      </p:sp>
      <p:sp>
        <p:nvSpPr>
          <p:cNvPr id="13" name="Text 10"/>
          <p:cNvSpPr txBox="1"/>
          <p:nvPr/>
        </p:nvSpPr>
        <p:spPr>
          <a:xfrm>
            <a:off x="4937760" y="3429000"/>
            <a:ext cx="1097280" cy="365760"/>
          </a:xfrm>
          <a:prstGeom prst="rect">
            <a:avLst/>
          </a:prstGeom>
          <a:noFill/>
          <a:ln/>
        </p:spPr>
        <p:txBody>
          <a:bodyPr wrap="square" lIns="0" tIns="0" rIns="0" bIns="0" rtlCol="0" anchor="ctr"/>
          <a:lstStyle/>
          <a:p>
            <a:pPr algn="l" indent="0" marL="0">
              <a:lnSpc>
                <a:spcPct val="105000"/>
              </a:lnSpc>
              <a:buNone/>
            </a:pPr>
            <a:r>
              <a:rPr lang="en-US" sz="1500" b="1" dirty="0">
                <a:solidFill>
                  <a:srgbClr val="3ECFA0"/>
                </a:solidFill>
                <a:latin typeface="Calibri" pitchFamily="34" charset="0"/>
                <a:ea typeface="Calibri" pitchFamily="34" charset="-122"/>
                <a:cs typeface="Calibri" pitchFamily="34" charset="-120"/>
              </a:rPr>
              <a:t>Legal</a:t>
            </a:r>
            <a:endParaRPr lang="en-US" sz="1500" dirty="0"/>
          </a:p>
        </p:txBody>
      </p:sp>
      <p:sp>
        <p:nvSpPr>
          <p:cNvPr id="14" name="Text 11"/>
          <p:cNvSpPr txBox="1"/>
          <p:nvPr/>
        </p:nvSpPr>
        <p:spPr>
          <a:xfrm>
            <a:off x="6080760" y="3429000"/>
            <a:ext cx="2468880" cy="365760"/>
          </a:xfrm>
          <a:prstGeom prst="rect">
            <a:avLst/>
          </a:prstGeom>
          <a:noFill/>
          <a:ln/>
        </p:spPr>
        <p:txBody>
          <a:bodyPr wrap="square" lIns="0" tIns="0" rIns="0" bIns="0" rtlCol="0" anchor="ctr"/>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AML policy, partner agreements, terms</a:t>
            </a:r>
            <a:endParaRPr lang="en-US" sz="1050" dirty="0"/>
          </a:p>
        </p:txBody>
      </p:sp>
      <p:sp>
        <p:nvSpPr>
          <p:cNvPr id="15" name="Text 12"/>
          <p:cNvSpPr txBox="1"/>
          <p:nvPr/>
        </p:nvSpPr>
        <p:spPr>
          <a:xfrm>
            <a:off x="4937760" y="3913632"/>
            <a:ext cx="3566160" cy="566928"/>
          </a:xfrm>
          <a:prstGeom prst="rect">
            <a:avLst/>
          </a:prstGeom>
          <a:noFill/>
          <a:ln/>
        </p:spPr>
        <p:txBody>
          <a:bodyPr wrap="square" lIns="0" tIns="0" rIns="0" bIns="0" rtlCol="0" anchor="t"/>
          <a:lstStyle/>
          <a:p>
            <a:pPr algn="l" indent="0" marL="0">
              <a:lnSpc>
                <a:spcPct val="115000"/>
              </a:lnSpc>
              <a:buNone/>
            </a:pPr>
            <a:r>
              <a:rPr lang="en-US" sz="1050" i="1" dirty="0">
                <a:solidFill>
                  <a:srgbClr val="F2F7F4"/>
                </a:solidFill>
                <a:latin typeface="Calibri" pitchFamily="34" charset="0"/>
                <a:ea typeface="Calibri" pitchFamily="34" charset="-122"/>
                <a:cs typeface="Calibri" pitchFamily="34" charset="-120"/>
              </a:rPr>
              <a:t>Round size and terms in discussion. Our commitment: first live cross-border payment within 90 days of close.</a:t>
            </a:r>
            <a:endParaRPr lang="en-US" sz="1050" dirty="0"/>
          </a:p>
        </p:txBody>
      </p:sp>
      <p:sp>
        <p:nvSpPr>
          <p:cNvPr id="16" name="Text 13"/>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800" dirty="0">
                <a:solidFill>
                  <a:srgbClr val="9FB8B2"/>
                </a:solidFill>
                <a:latin typeface="Calibri" pitchFamily="34" charset="0"/>
                <a:ea typeface="Calibri" pitchFamily="34" charset="-122"/>
                <a:cs typeface="Calibri" pitchFamily="34" charset="-120"/>
              </a:rPr>
              <a:t>Meridian  ·  Appify Softwares Limited  ·  Confidential</a:t>
            </a:r>
            <a:endParaRPr lang="en-US" sz="800" dirty="0"/>
          </a:p>
        </p:txBody>
      </p:sp>
      <p:sp>
        <p:nvSpPr>
          <p:cNvPr id="17" name="Text 14"/>
          <p:cNvSpPr txBox="1"/>
          <p:nvPr/>
        </p:nvSpPr>
        <p:spPr>
          <a:xfrm>
            <a:off x="8138160" y="4796028"/>
            <a:ext cx="548640" cy="228600"/>
          </a:xfrm>
          <a:prstGeom prst="rect">
            <a:avLst/>
          </a:prstGeom>
          <a:noFill/>
          <a:ln/>
        </p:spPr>
        <p:txBody>
          <a:bodyPr wrap="square" lIns="0" tIns="0" rIns="0" bIns="0" rtlCol="0" anchor="ctr"/>
          <a:lstStyle/>
          <a:p>
            <a:pPr algn="r" indent="0" marL="0">
              <a:buNone/>
            </a:pPr>
            <a:r>
              <a:rPr lang="en-US" sz="800" dirty="0">
                <a:solidFill>
                  <a:srgbClr val="9FB8B2"/>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624"/>
        </a:solidFill>
      </p:bgPr>
    </p:bg>
    <p:spTree>
      <p:nvGrpSpPr>
        <p:cNvPr id="1" name=""/>
        <p:cNvGrpSpPr/>
        <p:nvPr/>
      </p:nvGrpSpPr>
      <p:grpSpPr>
        <a:xfrm>
          <a:off x="0" y="0"/>
          <a:ext cx="0" cy="0"/>
          <a:chOff x="0" y="0"/>
          <a:chExt cx="0" cy="0"/>
        </a:xfrm>
      </p:grpSpPr>
      <p:sp>
        <p:nvSpPr>
          <p:cNvPr id="2" name="Shape 0"/>
          <p:cNvSpPr/>
          <p:nvPr/>
        </p:nvSpPr>
        <p:spPr>
          <a:xfrm>
            <a:off x="457200" y="1280160"/>
            <a:ext cx="502920" cy="502920"/>
          </a:xfrm>
          <a:prstGeom prst="roundRect">
            <a:avLst>
              <a:gd name="adj" fmla="val 21818"/>
            </a:avLst>
          </a:prstGeom>
          <a:solidFill>
            <a:srgbClr val="3ECFA0"/>
          </a:solidFill>
          <a:ln w="12700">
            <a:solidFill>
              <a:srgbClr val="3ECFA0"/>
            </a:solidFill>
            <a:prstDash val="solid"/>
          </a:ln>
        </p:spPr>
      </p:sp>
      <p:sp>
        <p:nvSpPr>
          <p:cNvPr id="3" name="Shape 1"/>
          <p:cNvSpPr/>
          <p:nvPr/>
        </p:nvSpPr>
        <p:spPr>
          <a:xfrm>
            <a:off x="598932" y="1421892"/>
            <a:ext cx="219456" cy="219456"/>
          </a:xfrm>
          <a:prstGeom prst="ellipse">
            <a:avLst/>
          </a:prstGeom>
          <a:solidFill>
            <a:srgbClr val="3ECFA0"/>
          </a:solidFill>
          <a:ln w="25400">
            <a:solidFill>
              <a:srgbClr val="0B1A19"/>
            </a:solidFill>
            <a:prstDash val="solid"/>
          </a:ln>
        </p:spPr>
      </p:sp>
      <p:sp>
        <p:nvSpPr>
          <p:cNvPr id="4" name="Text 2"/>
          <p:cNvSpPr txBox="1"/>
          <p:nvPr/>
        </p:nvSpPr>
        <p:spPr>
          <a:xfrm>
            <a:off x="457200" y="1965960"/>
            <a:ext cx="7315200" cy="731520"/>
          </a:xfrm>
          <a:prstGeom prst="rect">
            <a:avLst/>
          </a:prstGeom>
          <a:noFill/>
          <a:ln/>
        </p:spPr>
        <p:txBody>
          <a:bodyPr wrap="square" lIns="0" tIns="0" rIns="0" bIns="0" rtlCol="0" anchor="t"/>
          <a:lstStyle/>
          <a:p>
            <a:pPr algn="l" indent="0" marL="0">
              <a:lnSpc>
                <a:spcPct val="105000"/>
              </a:lnSpc>
              <a:buNone/>
            </a:pPr>
            <a:r>
              <a:rPr lang="en-US" sz="3600" b="1" dirty="0">
                <a:solidFill>
                  <a:srgbClr val="F2F7F4"/>
                </a:solidFill>
                <a:latin typeface="Calibri" pitchFamily="34" charset="0"/>
                <a:ea typeface="Calibri" pitchFamily="34" charset="-122"/>
                <a:cs typeface="Calibri" pitchFamily="34" charset="-120"/>
              </a:rPr>
              <a:t>African money in motion.</a:t>
            </a:r>
            <a:endParaRPr lang="en-US" sz="3600" dirty="0"/>
          </a:p>
        </p:txBody>
      </p:sp>
      <p:sp>
        <p:nvSpPr>
          <p:cNvPr id="5" name="Text 3"/>
          <p:cNvSpPr txBox="1"/>
          <p:nvPr/>
        </p:nvSpPr>
        <p:spPr>
          <a:xfrm>
            <a:off x="457200" y="2743200"/>
            <a:ext cx="5943600" cy="822960"/>
          </a:xfrm>
          <a:prstGeom prst="rect">
            <a:avLst/>
          </a:prstGeom>
          <a:noFill/>
          <a:ln/>
        </p:spPr>
        <p:txBody>
          <a:bodyPr wrap="square" lIns="0" tIns="0" rIns="0" bIns="0" rtlCol="0" anchor="t"/>
          <a:lstStyle/>
          <a:p>
            <a:pPr algn="l" indent="0" marL="0">
              <a:lnSpc>
                <a:spcPct val="115000"/>
              </a:lnSpc>
              <a:buNone/>
            </a:pPr>
            <a:r>
              <a:rPr lang="en-US" sz="1400" dirty="0">
                <a:solidFill>
                  <a:srgbClr val="9FB8B2"/>
                </a:solidFill>
                <a:latin typeface="Calibri" pitchFamily="34" charset="0"/>
                <a:ea typeface="Calibri" pitchFamily="34" charset="-122"/>
                <a:cs typeface="Calibri" pitchFamily="34" charset="-120"/>
              </a:rPr>
              <a:t>Meridian moves a business's money as fast as its goods. Pay the factory today. Get paid by the buyer today. Know the cost before you press send.</a:t>
            </a:r>
            <a:endParaRPr lang="en-US" sz="1400" dirty="0"/>
          </a:p>
        </p:txBody>
      </p:sp>
      <p:sp>
        <p:nvSpPr>
          <p:cNvPr id="6" name="Text 4"/>
          <p:cNvSpPr txBox="1"/>
          <p:nvPr/>
        </p:nvSpPr>
        <p:spPr>
          <a:xfrm>
            <a:off x="457200" y="3794760"/>
            <a:ext cx="6400800" cy="274320"/>
          </a:xfrm>
          <a:prstGeom prst="rect">
            <a:avLst/>
          </a:prstGeom>
          <a:noFill/>
          <a:ln/>
        </p:spPr>
        <p:txBody>
          <a:bodyPr wrap="square" lIns="0" tIns="0" rIns="0" bIns="0" rtlCol="0" anchor="t"/>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Brian Waweru  ·  Founder, Appify Softwares Limited</a:t>
            </a:r>
            <a:endParaRPr lang="en-US" sz="1200" dirty="0"/>
          </a:p>
        </p:txBody>
      </p:sp>
      <p:sp>
        <p:nvSpPr>
          <p:cNvPr id="7" name="Text 5"/>
          <p:cNvSpPr txBox="1"/>
          <p:nvPr/>
        </p:nvSpPr>
        <p:spPr>
          <a:xfrm>
            <a:off x="457200" y="4069080"/>
            <a:ext cx="6400800" cy="274320"/>
          </a:xfrm>
          <a:prstGeom prst="rect">
            <a:avLst/>
          </a:prstGeom>
          <a:noFill/>
          <a:ln/>
        </p:spPr>
        <p:txBody>
          <a:bodyPr wrap="square" lIns="0" tIns="0" rIns="0" bIns="0" rtlCol="0" anchor="t"/>
          <a:lstStyle/>
          <a:p>
            <a:pPr algn="l" indent="0" marL="0">
              <a:lnSpc>
                <a:spcPct val="105000"/>
              </a:lnSpc>
              <a:buNone/>
            </a:pPr>
            <a:r>
              <a:rPr lang="en-US" sz="1100" dirty="0">
                <a:solidFill>
                  <a:srgbClr val="3ECFA0"/>
                </a:solidFill>
                <a:latin typeface="Calibri" pitchFamily="34" charset="0"/>
                <a:ea typeface="Calibri" pitchFamily="34" charset="-122"/>
                <a:cs typeface="Calibri" pitchFamily="34" charset="-120"/>
              </a:rPr>
              <a:t>appify.co.ke  ·  Nairobi, Kenya  ·  github.com/dexterbrian/meridian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 Investor Pitch</dc:title>
  <dc:subject>PptxGenJS Presentation</dc:subject>
  <dc:creator>Appify Softwares Limited</dc:creator>
  <cp:lastModifiedBy>Appify Softwares Limited</cp:lastModifiedBy>
  <cp:revision>1</cp:revision>
  <dcterms:created xsi:type="dcterms:W3CDTF">2026-09-23T04:29:47Z</dcterms:created>
  <dcterms:modified xsi:type="dcterms:W3CDTF">2026-09-23T04:29:47Z</dcterms:modified>
</cp:coreProperties>
</file>